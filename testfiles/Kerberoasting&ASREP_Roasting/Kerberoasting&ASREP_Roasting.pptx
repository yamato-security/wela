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6" r:id="rId15"/>
    <p:sldId id="277" r:id="rId16"/>
    <p:sldId id="278" r:id="rId17"/>
    <p:sldId id="279" r:id="rId18"/>
    <p:sldId id="280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300" r:id="rId30"/>
    <p:sldId id="301" r:id="rId3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90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45F2-8938-45A9-8928-889E2340A3BC}" type="datetimeFigureOut">
              <a:rPr kumimoji="1" lang="ja-JP" altLang="en-US" smtClean="0"/>
              <a:t>2021/4/29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F8B4E-084D-4345-999B-EE2E50C9A4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401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45F2-8938-45A9-8928-889E2340A3BC}" type="datetimeFigureOut">
              <a:rPr kumimoji="1" lang="ja-JP" altLang="en-US" smtClean="0"/>
              <a:t>2021/4/29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F8B4E-084D-4345-999B-EE2E50C9A4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4436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45F2-8938-45A9-8928-889E2340A3BC}" type="datetimeFigureOut">
              <a:rPr kumimoji="1" lang="ja-JP" altLang="en-US" smtClean="0"/>
              <a:t>2021/4/29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F8B4E-084D-4345-999B-EE2E50C9A4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6101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45F2-8938-45A9-8928-889E2340A3BC}" type="datetimeFigureOut">
              <a:rPr kumimoji="1" lang="ja-JP" altLang="en-US" smtClean="0"/>
              <a:t>2021/4/29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F8B4E-084D-4345-999B-EE2E50C9A4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9725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45F2-8938-45A9-8928-889E2340A3BC}" type="datetimeFigureOut">
              <a:rPr kumimoji="1" lang="ja-JP" altLang="en-US" smtClean="0"/>
              <a:t>2021/4/29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F8B4E-084D-4345-999B-EE2E50C9A4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6192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45F2-8938-45A9-8928-889E2340A3BC}" type="datetimeFigureOut">
              <a:rPr kumimoji="1" lang="ja-JP" altLang="en-US" smtClean="0"/>
              <a:t>2021/4/29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F8B4E-084D-4345-999B-EE2E50C9A4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706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45F2-8938-45A9-8928-889E2340A3BC}" type="datetimeFigureOut">
              <a:rPr kumimoji="1" lang="ja-JP" altLang="en-US" smtClean="0"/>
              <a:t>2021/4/29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F8B4E-084D-4345-999B-EE2E50C9A4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6024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45F2-8938-45A9-8928-889E2340A3BC}" type="datetimeFigureOut">
              <a:rPr kumimoji="1" lang="ja-JP" altLang="en-US" smtClean="0"/>
              <a:t>2021/4/29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F8B4E-084D-4345-999B-EE2E50C9A4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1105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45F2-8938-45A9-8928-889E2340A3BC}" type="datetimeFigureOut">
              <a:rPr kumimoji="1" lang="ja-JP" altLang="en-US" smtClean="0"/>
              <a:t>2021/4/29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F8B4E-084D-4345-999B-EE2E50C9A4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1644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45F2-8938-45A9-8928-889E2340A3BC}" type="datetimeFigureOut">
              <a:rPr kumimoji="1" lang="ja-JP" altLang="en-US" smtClean="0"/>
              <a:t>2021/4/29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F8B4E-084D-4345-999B-EE2E50C9A4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7639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45F2-8938-45A9-8928-889E2340A3BC}" type="datetimeFigureOut">
              <a:rPr kumimoji="1" lang="ja-JP" altLang="en-US" smtClean="0"/>
              <a:t>2021/4/29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F8B4E-084D-4345-999B-EE2E50C9A4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12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8C45F2-8938-45A9-8928-889E2340A3BC}" type="datetimeFigureOut">
              <a:rPr kumimoji="1" lang="ja-JP" altLang="en-US" smtClean="0"/>
              <a:t>2021/4/29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F8B4E-084D-4345-999B-EE2E50C9A4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0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43930" y="187234"/>
            <a:ext cx="10725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en-US" altLang="ja-JP" sz="3600" dirty="0" err="1" smtClean="0"/>
              <a:t>Kerberoasting</a:t>
            </a:r>
            <a:r>
              <a:rPr kumimoji="1" lang="ja-JP" altLang="en-US" sz="3600" dirty="0" smtClean="0"/>
              <a:t>検知ルール</a:t>
            </a:r>
            <a:endParaRPr kumimoji="1" lang="ja-JP" altLang="en-US" sz="3600" dirty="0"/>
          </a:p>
        </p:txBody>
      </p:sp>
      <p:sp>
        <p:nvSpPr>
          <p:cNvPr id="5" name="正方形/長方形 4"/>
          <p:cNvSpPr/>
          <p:nvPr/>
        </p:nvSpPr>
        <p:spPr>
          <a:xfrm>
            <a:off x="557290" y="987751"/>
            <a:ext cx="10944556" cy="19389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 err="1" smtClean="0"/>
              <a:t>SecurityLog</a:t>
            </a:r>
            <a:r>
              <a:rPr lang="ja-JP" altLang="en-US" sz="2400" dirty="0" smtClean="0"/>
              <a:t> </a:t>
            </a:r>
            <a:r>
              <a:rPr lang="en-US" altLang="ja-JP" sz="2400" dirty="0" err="1" smtClean="0"/>
              <a:t>EventID</a:t>
            </a:r>
            <a:r>
              <a:rPr lang="ja-JP" altLang="en-US" sz="2400" dirty="0" smtClean="0"/>
              <a:t> </a:t>
            </a:r>
            <a:r>
              <a:rPr lang="en-US" altLang="ja-JP" sz="2400" dirty="0" smtClean="0"/>
              <a:t>4768</a:t>
            </a:r>
          </a:p>
          <a:p>
            <a:endParaRPr lang="en-US" altLang="ja-JP" sz="2400" dirty="0" smtClean="0"/>
          </a:p>
          <a:p>
            <a:pPr marL="0" lvl="1"/>
            <a:r>
              <a:rPr lang="en-US" altLang="ja-JP" sz="2400" dirty="0" err="1" smtClean="0"/>
              <a:t>EventData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TicketEncryptionType</a:t>
            </a:r>
            <a:r>
              <a:rPr lang="en-US" altLang="ja-JP" sz="2400" dirty="0" smtClean="0"/>
              <a:t> 0x17</a:t>
            </a:r>
            <a:endParaRPr lang="ja-JP" altLang="en-US" sz="2400" dirty="0" smtClean="0"/>
          </a:p>
          <a:p>
            <a:r>
              <a:rPr lang="en-US" altLang="ja-JP" sz="2400" dirty="0" smtClean="0"/>
              <a:t>AND</a:t>
            </a:r>
            <a:endParaRPr lang="en-US" altLang="ja-JP" sz="2400" dirty="0"/>
          </a:p>
          <a:p>
            <a:r>
              <a:rPr lang="en-US" altLang="ja-JP" sz="2400" dirty="0" err="1" smtClean="0"/>
              <a:t>EventData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PreAuthType</a:t>
            </a:r>
            <a:r>
              <a:rPr lang="en-US" altLang="ja-JP" sz="2400" dirty="0" smtClean="0"/>
              <a:t> 2</a:t>
            </a:r>
            <a:endParaRPr lang="ja-JP" altLang="en-US" sz="24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43930" y="3418114"/>
            <a:ext cx="10725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en-US" altLang="ja-JP" sz="3600" dirty="0" smtClean="0"/>
              <a:t>AS-REP Roasting</a:t>
            </a:r>
            <a:r>
              <a:rPr kumimoji="1" lang="ja-JP" altLang="en-US" sz="3600" dirty="0" smtClean="0"/>
              <a:t>検知ルール</a:t>
            </a:r>
            <a:endParaRPr kumimoji="1" lang="ja-JP" altLang="en-US" sz="3600" dirty="0"/>
          </a:p>
        </p:txBody>
      </p:sp>
      <p:sp>
        <p:nvSpPr>
          <p:cNvPr id="8" name="正方形/長方形 7"/>
          <p:cNvSpPr/>
          <p:nvPr/>
        </p:nvSpPr>
        <p:spPr>
          <a:xfrm>
            <a:off x="557290" y="4218631"/>
            <a:ext cx="10944556" cy="19389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 err="1" smtClean="0"/>
              <a:t>SecurityLog</a:t>
            </a:r>
            <a:r>
              <a:rPr lang="ja-JP" altLang="en-US" sz="2400" dirty="0" smtClean="0"/>
              <a:t> </a:t>
            </a:r>
            <a:r>
              <a:rPr lang="en-US" altLang="ja-JP" sz="2400" dirty="0" err="1" smtClean="0"/>
              <a:t>EventID</a:t>
            </a:r>
            <a:r>
              <a:rPr lang="ja-JP" altLang="en-US" sz="2400" dirty="0" smtClean="0"/>
              <a:t> </a:t>
            </a:r>
            <a:r>
              <a:rPr lang="en-US" altLang="ja-JP" sz="2400" dirty="0" smtClean="0"/>
              <a:t>4768</a:t>
            </a:r>
          </a:p>
          <a:p>
            <a:endParaRPr lang="en-US" altLang="ja-JP" sz="2400" dirty="0" smtClean="0"/>
          </a:p>
          <a:p>
            <a:pPr marL="0" lvl="1"/>
            <a:r>
              <a:rPr lang="en-US" altLang="ja-JP" sz="2400" dirty="0" err="1" smtClean="0"/>
              <a:t>EventData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TicketEncryptionType</a:t>
            </a:r>
            <a:r>
              <a:rPr lang="en-US" altLang="ja-JP" sz="2400" dirty="0" smtClean="0"/>
              <a:t> 0x17</a:t>
            </a:r>
            <a:endParaRPr lang="ja-JP" altLang="en-US" sz="2400" dirty="0" smtClean="0"/>
          </a:p>
          <a:p>
            <a:r>
              <a:rPr lang="en-US" altLang="ja-JP" sz="2400" dirty="0" smtClean="0"/>
              <a:t>AND</a:t>
            </a:r>
            <a:endParaRPr lang="en-US" altLang="ja-JP" sz="2400" dirty="0"/>
          </a:p>
          <a:p>
            <a:r>
              <a:rPr lang="en-US" altLang="ja-JP" sz="2400" dirty="0" err="1" smtClean="0"/>
              <a:t>EventData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PreAuthType</a:t>
            </a:r>
            <a:r>
              <a:rPr lang="en-US" altLang="ja-JP" sz="2400" dirty="0" smtClean="0"/>
              <a:t> 0</a:t>
            </a:r>
            <a:endParaRPr lang="ja-JP" altLang="en-US" sz="24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0027920" y="187234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2021.04.29 </a:t>
            </a:r>
            <a:r>
              <a:rPr kumimoji="1" lang="ja-JP" altLang="en-US" dirty="0" smtClean="0"/>
              <a:t>松井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17878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2072640" y="2758440"/>
            <a:ext cx="8001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 smtClean="0"/>
              <a:t>以下補足資料</a:t>
            </a:r>
            <a:endParaRPr kumimoji="1" lang="ja-JP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508905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1152793" y="2946954"/>
            <a:ext cx="101954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3600" dirty="0" smtClean="0"/>
              <a:t>Steal </a:t>
            </a:r>
            <a:r>
              <a:rPr lang="en-US" altLang="ja-JP" sz="3600" dirty="0"/>
              <a:t>or Forge Kerberos Tickets: Kerberoasting</a:t>
            </a:r>
            <a:endParaRPr lang="en-US" altLang="ja-JP" sz="3600" b="0" i="0" dirty="0">
              <a:effectLst/>
            </a:endParaRPr>
          </a:p>
        </p:txBody>
      </p:sp>
      <p:graphicFrame>
        <p:nvGraphicFramePr>
          <p:cNvPr id="3" name="表 2"/>
          <p:cNvGraphicFramePr>
            <a:graphicFrameLocks noGrp="1"/>
          </p:cNvGraphicFramePr>
          <p:nvPr>
            <p:extLst/>
          </p:nvPr>
        </p:nvGraphicFramePr>
        <p:xfrm>
          <a:off x="7633596" y="140690"/>
          <a:ext cx="4274279" cy="12371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0457">
                  <a:extLst>
                    <a:ext uri="{9D8B030D-6E8A-4147-A177-3AD203B41FA5}">
                      <a16:colId xmlns:a16="http://schemas.microsoft.com/office/drawing/2014/main" val="1219822650"/>
                    </a:ext>
                  </a:extLst>
                </a:gridCol>
                <a:gridCol w="2793822">
                  <a:extLst>
                    <a:ext uri="{9D8B030D-6E8A-4147-A177-3AD203B41FA5}">
                      <a16:colId xmlns:a16="http://schemas.microsoft.com/office/drawing/2014/main" val="157075404"/>
                    </a:ext>
                  </a:extLst>
                </a:gridCol>
              </a:tblGrid>
              <a:tr h="221021">
                <a:tc>
                  <a:txBody>
                    <a:bodyPr/>
                    <a:lstStyle/>
                    <a:p>
                      <a:r>
                        <a:rPr lang="en-US" altLang="ja-JP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</a:t>
                      </a:r>
                      <a:endParaRPr kumimoji="1" lang="ja-JP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T1558.003</a:t>
                      </a:r>
                      <a:endParaRPr lang="ja-JP" altLang="en-US" sz="1400" b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4530879"/>
                  </a:ext>
                </a:extLst>
              </a:tr>
              <a:tr h="221021">
                <a:tc>
                  <a:txBody>
                    <a:bodyPr/>
                    <a:lstStyle/>
                    <a:p>
                      <a:r>
                        <a:rPr lang="en-US" altLang="ja-JP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Tactic</a:t>
                      </a:r>
                      <a:endParaRPr kumimoji="1" lang="ja-JP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Credential Access</a:t>
                      </a:r>
                      <a:endParaRPr kumimoji="1" lang="en-US" altLang="ja-JP" sz="1400" b="0" i="0" kern="1200" dirty="0" smtClean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099282"/>
                  </a:ext>
                </a:extLst>
              </a:tr>
              <a:tr h="221021">
                <a:tc>
                  <a:txBody>
                    <a:bodyPr/>
                    <a:lstStyle/>
                    <a:p>
                      <a:r>
                        <a:rPr lang="en-US" altLang="ja-JP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Techniques</a:t>
                      </a:r>
                      <a:endParaRPr kumimoji="1" lang="ja-JP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Steal or Forge Kerberos Ticket</a:t>
                      </a:r>
                      <a:endParaRPr kumimoji="1" lang="en-US" altLang="ja-JP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4952819"/>
                  </a:ext>
                </a:extLst>
              </a:tr>
              <a:tr h="322718">
                <a:tc>
                  <a:txBody>
                    <a:bodyPr/>
                    <a:lstStyle/>
                    <a:p>
                      <a:r>
                        <a:rPr lang="en-US" altLang="ja-JP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Sub-techniques</a:t>
                      </a:r>
                      <a:endParaRPr kumimoji="1" lang="ja-JP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Kerberoasting</a:t>
                      </a:r>
                      <a:endParaRPr kumimoji="1" lang="en-US" altLang="ja-JP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100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473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 1"/>
          <p:cNvGraphicFramePr>
            <a:graphicFrameLocks noGrp="1"/>
          </p:cNvGraphicFramePr>
          <p:nvPr>
            <p:extLst/>
          </p:nvPr>
        </p:nvGraphicFramePr>
        <p:xfrm>
          <a:off x="7390528" y="189000"/>
          <a:ext cx="4274279" cy="12371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0457">
                  <a:extLst>
                    <a:ext uri="{9D8B030D-6E8A-4147-A177-3AD203B41FA5}">
                      <a16:colId xmlns:a16="http://schemas.microsoft.com/office/drawing/2014/main" val="1219822650"/>
                    </a:ext>
                  </a:extLst>
                </a:gridCol>
                <a:gridCol w="2793822">
                  <a:extLst>
                    <a:ext uri="{9D8B030D-6E8A-4147-A177-3AD203B41FA5}">
                      <a16:colId xmlns:a16="http://schemas.microsoft.com/office/drawing/2014/main" val="157075404"/>
                    </a:ext>
                  </a:extLst>
                </a:gridCol>
              </a:tblGrid>
              <a:tr h="221021">
                <a:tc>
                  <a:txBody>
                    <a:bodyPr/>
                    <a:lstStyle/>
                    <a:p>
                      <a:r>
                        <a:rPr lang="en-US" altLang="ja-JP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</a:t>
                      </a:r>
                      <a:endParaRPr kumimoji="1" lang="ja-JP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T1558.003</a:t>
                      </a:r>
                      <a:endParaRPr lang="ja-JP" altLang="en-US" sz="1400" b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4530879"/>
                  </a:ext>
                </a:extLst>
              </a:tr>
              <a:tr h="221021">
                <a:tc>
                  <a:txBody>
                    <a:bodyPr/>
                    <a:lstStyle/>
                    <a:p>
                      <a:r>
                        <a:rPr lang="en-US" altLang="ja-JP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Tactic</a:t>
                      </a:r>
                      <a:endParaRPr kumimoji="1" lang="ja-JP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Credential Access</a:t>
                      </a:r>
                      <a:endParaRPr kumimoji="1" lang="en-US" altLang="ja-JP" sz="1400" b="0" i="0" kern="1200" dirty="0" smtClean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099282"/>
                  </a:ext>
                </a:extLst>
              </a:tr>
              <a:tr h="221021">
                <a:tc>
                  <a:txBody>
                    <a:bodyPr/>
                    <a:lstStyle/>
                    <a:p>
                      <a:r>
                        <a:rPr lang="en-US" altLang="ja-JP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Techniques</a:t>
                      </a:r>
                      <a:endParaRPr kumimoji="1" lang="ja-JP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Steal or Forge Kerberos Ticket</a:t>
                      </a:r>
                      <a:endParaRPr kumimoji="1" lang="en-US" altLang="ja-JP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4952819"/>
                  </a:ext>
                </a:extLst>
              </a:tr>
              <a:tr h="322718">
                <a:tc>
                  <a:txBody>
                    <a:bodyPr/>
                    <a:lstStyle/>
                    <a:p>
                      <a:r>
                        <a:rPr lang="en-US" altLang="ja-JP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Sub-techniques</a:t>
                      </a:r>
                      <a:endParaRPr kumimoji="1" lang="ja-JP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Kerberoasting</a:t>
                      </a:r>
                      <a:endParaRPr kumimoji="1" lang="en-US" altLang="ja-JP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100698"/>
                  </a:ext>
                </a:extLst>
              </a:tr>
            </a:tbl>
          </a:graphicData>
        </a:graphic>
      </p:graphicFrame>
      <p:sp>
        <p:nvSpPr>
          <p:cNvPr id="3" name="テキスト ボックス 2"/>
          <p:cNvSpPr txBox="1"/>
          <p:nvPr/>
        </p:nvSpPr>
        <p:spPr>
          <a:xfrm>
            <a:off x="262736" y="1633925"/>
            <a:ext cx="1104693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ja-JP" altLang="en-US" sz="1600" b="1" dirty="0" smtClean="0"/>
              <a:t>目的</a:t>
            </a:r>
            <a:endParaRPr lang="en-US" altLang="ja-JP" sz="1600" b="1" dirty="0" smtClean="0"/>
          </a:p>
          <a:p>
            <a:r>
              <a:rPr lang="ja-JP" altLang="en-US" dirty="0"/>
              <a:t>有効</a:t>
            </a:r>
            <a:r>
              <a:rPr lang="ja-JP" altLang="en-US" dirty="0" smtClean="0"/>
              <a:t>な</a:t>
            </a:r>
            <a:r>
              <a:rPr lang="en-US" altLang="ja-JP" dirty="0"/>
              <a:t>Ticket Granting </a:t>
            </a:r>
            <a:r>
              <a:rPr lang="en-US" altLang="ja-JP" dirty="0" smtClean="0"/>
              <a:t>Ticket</a:t>
            </a:r>
            <a:r>
              <a:rPr lang="ja-JP" altLang="en-US" dirty="0"/>
              <a:t> </a:t>
            </a:r>
            <a:r>
              <a:rPr lang="en-US" altLang="ja-JP" dirty="0" smtClean="0"/>
              <a:t>(TGT) </a:t>
            </a:r>
            <a:r>
              <a:rPr lang="ja-JP" altLang="en-US" dirty="0" smtClean="0"/>
              <a:t>を悪用し、ドメインコントローラに対してサービスプリンシパル名 </a:t>
            </a:r>
            <a:r>
              <a:rPr lang="en-US" altLang="ja-JP" dirty="0" smtClean="0"/>
              <a:t>(SPN) </a:t>
            </a:r>
            <a:r>
              <a:rPr lang="ja-JP" altLang="en-US" dirty="0" smtClean="0"/>
              <a:t>に関連付けられたサービスアカウントの</a:t>
            </a:r>
            <a:r>
              <a:rPr lang="en-US" altLang="ja-JP" dirty="0"/>
              <a:t>S</a:t>
            </a:r>
            <a:r>
              <a:rPr lang="en-US" altLang="ja-JP" dirty="0" smtClean="0"/>
              <a:t>ervice Ticket (ST)</a:t>
            </a:r>
            <a:r>
              <a:rPr lang="ja-JP" altLang="en-US" dirty="0"/>
              <a:t> </a:t>
            </a:r>
            <a:r>
              <a:rPr lang="ja-JP" altLang="en-US" dirty="0" smtClean="0"/>
              <a:t>を</a:t>
            </a:r>
            <a:r>
              <a:rPr lang="en-US" altLang="ja-JP" dirty="0" smtClean="0"/>
              <a:t>RC4</a:t>
            </a:r>
            <a:r>
              <a:rPr lang="ja-JP" altLang="en-US" dirty="0" smtClean="0"/>
              <a:t>暗号化形式で要求することで、ローカルでのブルートフォースによりクレデンシャルを取得する。</a:t>
            </a:r>
            <a:endParaRPr lang="en-US" altLang="ja-JP" dirty="0" smtClean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62736" y="3706786"/>
            <a:ext cx="11929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ja-JP" altLang="en-US" sz="1600" b="1" dirty="0" smtClean="0"/>
              <a:t>ポイント</a:t>
            </a:r>
            <a:endParaRPr lang="en-US" altLang="ja-JP" sz="16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dirty="0" smtClean="0"/>
              <a:t>SPN</a:t>
            </a:r>
            <a:r>
              <a:rPr lang="ja-JP" altLang="en-US" sz="1600" dirty="0" smtClean="0"/>
              <a:t>に関連付けられたコンピュータアカウントは</a:t>
            </a:r>
            <a:r>
              <a:rPr lang="en-US" altLang="ja-JP" sz="1600" dirty="0"/>
              <a:t>240</a:t>
            </a:r>
            <a:r>
              <a:rPr lang="ja-JP" altLang="en-US" sz="1600" dirty="0"/>
              <a:t>バイトの長さの</a:t>
            </a:r>
            <a:r>
              <a:rPr lang="ja-JP" altLang="en-US" sz="1600" dirty="0" smtClean="0"/>
              <a:t>パスワードが設定されておりブルートフォースが不可能</a:t>
            </a:r>
            <a:endParaRPr lang="en-US" altLang="ja-JP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600" dirty="0" smtClean="0"/>
              <a:t>SPN</a:t>
            </a:r>
            <a:r>
              <a:rPr kumimoji="1" lang="ja-JP" altLang="en-US" sz="1600" dirty="0" smtClean="0"/>
              <a:t>に関連付けられたサービスログオンアカウントを列挙する必要がある</a:t>
            </a:r>
            <a:endParaRPr kumimoji="1" lang="en-US" altLang="ja-JP" sz="16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62736" y="2883426"/>
            <a:ext cx="1104693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ja-JP" altLang="en-US" sz="1600" b="1" dirty="0" smtClean="0"/>
              <a:t>環境</a:t>
            </a:r>
            <a:endParaRPr lang="en-US" altLang="ja-JP" sz="16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dirty="0" smtClean="0"/>
              <a:t>SPN</a:t>
            </a:r>
            <a:r>
              <a:rPr lang="ja-JP" altLang="en-US" dirty="0" smtClean="0"/>
              <a:t>に関連付けられたサービスログオンアカウントが存在</a:t>
            </a:r>
            <a:endParaRPr lang="en-US" altLang="ja-JP" sz="1600" dirty="0" smtClean="0"/>
          </a:p>
        </p:txBody>
      </p:sp>
      <p:sp>
        <p:nvSpPr>
          <p:cNvPr id="7" name="正方形/長方形 6"/>
          <p:cNvSpPr/>
          <p:nvPr/>
        </p:nvSpPr>
        <p:spPr>
          <a:xfrm>
            <a:off x="513520" y="116468"/>
            <a:ext cx="6413935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3200" dirty="0" smtClean="0"/>
              <a:t>Steal </a:t>
            </a:r>
            <a:r>
              <a:rPr lang="en-US" altLang="ja-JP" sz="3200" dirty="0"/>
              <a:t>or Forge Kerberos Tickets: </a:t>
            </a:r>
            <a:endParaRPr lang="en-US" altLang="ja-JP" sz="3200" dirty="0" smtClean="0"/>
          </a:p>
          <a:p>
            <a:r>
              <a:rPr lang="en-US" altLang="ja-JP" sz="3200" dirty="0" smtClean="0"/>
              <a:t>Kerberoasting</a:t>
            </a:r>
            <a:endParaRPr lang="en-US" altLang="ja-JP" sz="3200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81193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381964" y="1271364"/>
            <a:ext cx="11424212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1600" dirty="0" smtClean="0"/>
              <a:t>PS &gt; New-</a:t>
            </a:r>
            <a:r>
              <a:rPr lang="en-US" altLang="ja-JP" sz="1600" dirty="0" err="1" smtClean="0"/>
              <a:t>ADUser</a:t>
            </a:r>
            <a:r>
              <a:rPr lang="en-US" altLang="ja-JP" sz="1600" dirty="0" smtClean="0"/>
              <a:t> </a:t>
            </a:r>
            <a:r>
              <a:rPr lang="en-US" altLang="ja-JP" sz="1600" dirty="0"/>
              <a:t>-Name "sql101" -</a:t>
            </a:r>
            <a:r>
              <a:rPr lang="en-US" altLang="ja-JP" sz="1600" dirty="0" err="1"/>
              <a:t>DisplayName</a:t>
            </a:r>
            <a:r>
              <a:rPr lang="en-US" altLang="ja-JP" sz="1600" dirty="0"/>
              <a:t> "sql101" -Description "sql101" -Enabled $true -</a:t>
            </a:r>
            <a:r>
              <a:rPr lang="en-US" altLang="ja-JP" sz="1600" dirty="0" err="1"/>
              <a:t>PasswordNeverExpires</a:t>
            </a:r>
            <a:r>
              <a:rPr lang="en-US" altLang="ja-JP" sz="1600" dirty="0"/>
              <a:t> $true -</a:t>
            </a:r>
            <a:r>
              <a:rPr lang="en-US" altLang="ja-JP" sz="1600" dirty="0" err="1"/>
              <a:t>AccountPassword</a:t>
            </a:r>
            <a:r>
              <a:rPr lang="en-US" altLang="ja-JP" sz="1600" dirty="0"/>
              <a:t> (</a:t>
            </a:r>
            <a:r>
              <a:rPr lang="en-US" altLang="ja-JP" sz="1600" dirty="0" err="1"/>
              <a:t>ConvertTo-SecureString</a:t>
            </a:r>
            <a:r>
              <a:rPr lang="en-US" altLang="ja-JP" sz="1600" dirty="0"/>
              <a:t> -String "MYpassword123#" -</a:t>
            </a:r>
            <a:r>
              <a:rPr lang="en-US" altLang="ja-JP" sz="1600" dirty="0" err="1"/>
              <a:t>AsPlainText</a:t>
            </a:r>
            <a:r>
              <a:rPr lang="en-US" altLang="ja-JP" sz="1600" dirty="0"/>
              <a:t> -Force)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381964" y="625033"/>
            <a:ext cx="11424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ドメインコントローラで以下の </a:t>
            </a:r>
            <a:r>
              <a:rPr kumimoji="1" lang="en-US" altLang="ja-JP" dirty="0" smtClean="0"/>
              <a:t>PowerShell </a:t>
            </a:r>
            <a:r>
              <a:rPr kumimoji="1" lang="ja-JP" altLang="en-US" dirty="0" smtClean="0"/>
              <a:t>コマンドを実行し、</a:t>
            </a:r>
            <a:r>
              <a:rPr lang="ja-JP" altLang="en-US" dirty="0" smtClean="0"/>
              <a:t>サービスログオンアカウントを作成します。ここでは、アカウント名に</a:t>
            </a:r>
            <a:r>
              <a:rPr lang="en-US" altLang="ja-JP" dirty="0" smtClean="0"/>
              <a:t> sql101</a:t>
            </a:r>
            <a:r>
              <a:rPr lang="ja-JP" altLang="en-US" dirty="0" smtClean="0"/>
              <a:t> 、パスワードに </a:t>
            </a:r>
            <a:r>
              <a:rPr lang="en-US" altLang="ja-JP" dirty="0" smtClean="0"/>
              <a:t>MYpassword123#</a:t>
            </a:r>
            <a:r>
              <a:rPr lang="ja-JP" altLang="en-US" dirty="0"/>
              <a:t> </a:t>
            </a:r>
            <a:r>
              <a:rPr lang="ja-JP" altLang="en-US" dirty="0" smtClean="0"/>
              <a:t>を設定しています。</a:t>
            </a:r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96" y="2338086"/>
            <a:ext cx="6186378" cy="41431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661" y="2338086"/>
            <a:ext cx="3175916" cy="4085232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249562" y="98131"/>
            <a:ext cx="88024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800" dirty="0" smtClean="0"/>
              <a:t>前提の環境準備：サービスログオンアカウントの作成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467136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249562" y="844952"/>
            <a:ext cx="11424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次に、作成した</a:t>
            </a:r>
            <a:r>
              <a:rPr lang="ja-JP" altLang="en-US" dirty="0" smtClean="0"/>
              <a:t>サービスログオンアカウント</a:t>
            </a:r>
            <a:r>
              <a:rPr lang="en-US" altLang="ja-JP" dirty="0" smtClean="0"/>
              <a:t> sql101</a:t>
            </a:r>
            <a:r>
              <a:rPr lang="ja-JP" altLang="en-US" dirty="0" smtClean="0"/>
              <a:t> に</a:t>
            </a:r>
            <a:r>
              <a:rPr lang="en-US" altLang="ja-JP" dirty="0" smtClean="0"/>
              <a:t>SPN</a:t>
            </a:r>
            <a:r>
              <a:rPr lang="ja-JP" altLang="en-US" dirty="0" smtClean="0"/>
              <a:t>を関連付けます。</a:t>
            </a:r>
            <a:endParaRPr lang="en-US" altLang="ja-JP" dirty="0" smtClean="0"/>
          </a:p>
          <a:p>
            <a:r>
              <a:rPr lang="en-US" altLang="ja-JP" dirty="0" smtClean="0"/>
              <a:t>SPN </a:t>
            </a:r>
            <a:r>
              <a:rPr lang="ja-JP" altLang="en-US" dirty="0" smtClean="0"/>
              <a:t>の </a:t>
            </a:r>
            <a:r>
              <a:rPr lang="en-US" altLang="ja-JP" dirty="0" smtClean="0"/>
              <a:t>Service Type </a:t>
            </a:r>
            <a:r>
              <a:rPr lang="ja-JP" altLang="en-US" dirty="0" smtClean="0"/>
              <a:t>は </a:t>
            </a:r>
            <a:r>
              <a:rPr lang="en-US" altLang="ja-JP" dirty="0" err="1" smtClean="0"/>
              <a:t>MSSQLSvc</a:t>
            </a:r>
            <a:r>
              <a:rPr lang="en-US" altLang="ja-JP" dirty="0" smtClean="0"/>
              <a:t> </a:t>
            </a:r>
            <a:r>
              <a:rPr lang="ja-JP" altLang="en-US" dirty="0" smtClean="0"/>
              <a:t>とし、サービスが利用するポート番号は </a:t>
            </a:r>
            <a:r>
              <a:rPr lang="en-US" altLang="ja-JP" dirty="0" smtClean="0"/>
              <a:t>1433 </a:t>
            </a:r>
            <a:r>
              <a:rPr lang="ja-JP" altLang="en-US" dirty="0" smtClean="0"/>
              <a:t>とします。</a:t>
            </a:r>
            <a:endParaRPr kumimoji="1" lang="en-US" altLang="ja-JP" dirty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62" y="2841944"/>
            <a:ext cx="9796405" cy="2200902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>
          <a:xfrm>
            <a:off x="249562" y="1681392"/>
            <a:ext cx="11424212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1600" dirty="0" smtClean="0"/>
              <a:t>PS </a:t>
            </a:r>
            <a:r>
              <a:rPr lang="en-US" altLang="ja-JP" sz="1600" dirty="0"/>
              <a:t>&gt; net </a:t>
            </a:r>
            <a:r>
              <a:rPr lang="en-US" altLang="ja-JP" sz="1600" dirty="0" err="1"/>
              <a:t>localgroup</a:t>
            </a:r>
            <a:r>
              <a:rPr lang="en-US" altLang="ja-JP" sz="1600" dirty="0"/>
              <a:t> Administrators LABCORP\sql101 /</a:t>
            </a:r>
            <a:r>
              <a:rPr lang="en-US" altLang="ja-JP" sz="1600" dirty="0" smtClean="0"/>
              <a:t>add</a:t>
            </a:r>
          </a:p>
          <a:p>
            <a:r>
              <a:rPr lang="en-US" altLang="ja-JP" sz="1600" dirty="0"/>
              <a:t>PS &gt; </a:t>
            </a:r>
            <a:r>
              <a:rPr lang="en-US" altLang="ja-JP" sz="1600" dirty="0" err="1" smtClean="0"/>
              <a:t>setspn</a:t>
            </a:r>
            <a:r>
              <a:rPr lang="en-US" altLang="ja-JP" sz="1600" dirty="0" smtClean="0"/>
              <a:t> </a:t>
            </a:r>
            <a:r>
              <a:rPr lang="en-US" altLang="ja-JP" sz="1600" dirty="0"/>
              <a:t>-s </a:t>
            </a:r>
            <a:r>
              <a:rPr lang="en-US" altLang="ja-JP" sz="1600" dirty="0" err="1"/>
              <a:t>MSSQLSvc</a:t>
            </a:r>
            <a:r>
              <a:rPr lang="en-US" altLang="ja-JP" sz="1600" dirty="0"/>
              <a:t>/labcorp.local:1433 sql101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249562" y="98131"/>
            <a:ext cx="56877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800" dirty="0" smtClean="0"/>
              <a:t>前提の環境準備：</a:t>
            </a:r>
            <a:r>
              <a:rPr lang="en-US" altLang="ja-JP" sz="2800" dirty="0" smtClean="0"/>
              <a:t>SPN</a:t>
            </a:r>
            <a:r>
              <a:rPr lang="ja-JP" altLang="en-US" sz="2800" dirty="0"/>
              <a:t> </a:t>
            </a:r>
            <a:r>
              <a:rPr lang="ja-JP" altLang="en-US" sz="2800" dirty="0" smtClean="0"/>
              <a:t>の関連付け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2077361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/>
          <p:cNvSpPr/>
          <p:nvPr/>
        </p:nvSpPr>
        <p:spPr>
          <a:xfrm>
            <a:off x="249562" y="760516"/>
            <a:ext cx="7836387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ja-JP" dirty="0"/>
              <a:t>get-</a:t>
            </a:r>
            <a:r>
              <a:rPr lang="en-US" altLang="ja-JP" dirty="0" err="1"/>
              <a:t>aduser</a:t>
            </a:r>
            <a:r>
              <a:rPr lang="en-US" altLang="ja-JP" dirty="0"/>
              <a:t> </a:t>
            </a:r>
            <a:r>
              <a:rPr lang="en-US" altLang="ja-JP" dirty="0" smtClean="0"/>
              <a:t>sql101 -prop </a:t>
            </a:r>
            <a:r>
              <a:rPr lang="en-US" altLang="ja-JP" dirty="0" err="1" smtClean="0"/>
              <a:t>serviceprincipalname</a:t>
            </a:r>
            <a:endParaRPr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63" y="1244908"/>
            <a:ext cx="7836386" cy="3043360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64" y="4844867"/>
            <a:ext cx="11308790" cy="1875514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249562" y="4403328"/>
            <a:ext cx="11706187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ja-JP" sz="1600" dirty="0"/>
              <a:t>New-Object </a:t>
            </a:r>
            <a:r>
              <a:rPr lang="en-US" altLang="ja-JP" sz="1600" dirty="0" err="1"/>
              <a:t>System.IdentityModel.Tokens.KerberosRequestorSecurityToken</a:t>
            </a:r>
            <a:r>
              <a:rPr lang="en-US" altLang="ja-JP" sz="1600" dirty="0"/>
              <a:t> -</a:t>
            </a:r>
            <a:r>
              <a:rPr lang="en-US" altLang="ja-JP" sz="1600" dirty="0" err="1"/>
              <a:t>ArgumentList</a:t>
            </a:r>
            <a:r>
              <a:rPr lang="en-US" altLang="ja-JP" sz="1600" dirty="0"/>
              <a:t> </a:t>
            </a:r>
            <a:r>
              <a:rPr lang="en-US" altLang="ja-JP" sz="1600" dirty="0" err="1"/>
              <a:t>MSSQLSvc</a:t>
            </a:r>
            <a:r>
              <a:rPr lang="en-US" altLang="ja-JP" sz="1600" dirty="0"/>
              <a:t>/labcorp.local:1433</a:t>
            </a:r>
            <a:endParaRPr lang="ja-JP" altLang="en-US" sz="1600" dirty="0"/>
          </a:p>
        </p:txBody>
      </p:sp>
      <p:sp>
        <p:nvSpPr>
          <p:cNvPr id="7" name="正方形/長方形 6"/>
          <p:cNvSpPr/>
          <p:nvPr/>
        </p:nvSpPr>
        <p:spPr>
          <a:xfrm>
            <a:off x="249562" y="98131"/>
            <a:ext cx="110738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800" dirty="0" smtClean="0"/>
              <a:t>前提の環境準備：</a:t>
            </a:r>
            <a:r>
              <a:rPr lang="en-US" altLang="ja-JP" sz="2800" dirty="0" smtClean="0"/>
              <a:t>SPN</a:t>
            </a:r>
            <a:r>
              <a:rPr lang="ja-JP" altLang="en-US" sz="2800" dirty="0"/>
              <a:t> </a:t>
            </a:r>
            <a:r>
              <a:rPr lang="ja-JP" altLang="en-US" sz="2800" dirty="0" smtClean="0"/>
              <a:t>に関連付けられたサービスアカウントの確認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1970559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191688" y="145534"/>
            <a:ext cx="108943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3200" dirty="0" err="1" smtClean="0"/>
              <a:t>Kerberoasting</a:t>
            </a:r>
            <a:r>
              <a:rPr lang="ja-JP" altLang="en-US" sz="3200" dirty="0" smtClean="0"/>
              <a:t>：</a:t>
            </a:r>
            <a:r>
              <a:rPr lang="en-US" altLang="ja-JP" sz="3200" dirty="0"/>
              <a:t> SPN </a:t>
            </a:r>
            <a:r>
              <a:rPr lang="ja-JP" altLang="en-US" sz="3200" dirty="0"/>
              <a:t>に関連付けられた</a:t>
            </a:r>
            <a:r>
              <a:rPr lang="ja-JP" altLang="en-US" sz="3200" dirty="0" smtClean="0"/>
              <a:t>アカウントの確認</a:t>
            </a:r>
            <a:endParaRPr lang="en-US" altLang="ja-JP" sz="3200" dirty="0" smtClean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84286" y="730309"/>
            <a:ext cx="114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/>
              <a:t>SPN </a:t>
            </a:r>
            <a:r>
              <a:rPr lang="ja-JP" altLang="en-US" dirty="0" smtClean="0"/>
              <a:t>に関連付けられたアカウントは、</a:t>
            </a:r>
            <a:r>
              <a:rPr lang="en-US" altLang="ja-JP" dirty="0" smtClean="0"/>
              <a:t>Built-in Tool</a:t>
            </a:r>
            <a:r>
              <a:rPr lang="ja-JP" altLang="en-US" dirty="0"/>
              <a:t> で</a:t>
            </a:r>
            <a:r>
              <a:rPr lang="ja-JP" altLang="en-US" dirty="0" smtClean="0"/>
              <a:t>ある </a:t>
            </a:r>
            <a:r>
              <a:rPr lang="en-US" altLang="ja-JP" dirty="0" smtClean="0"/>
              <a:t>setspn.exe </a:t>
            </a:r>
            <a:r>
              <a:rPr lang="ja-JP" altLang="en-US" dirty="0" smtClean="0"/>
              <a:t>で列挙することができます。</a:t>
            </a:r>
            <a:endParaRPr lang="en-US" altLang="ja-JP" dirty="0" smtClean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 rotWithShape="1">
          <a:blip r:embed="rId2"/>
          <a:srcRect b="27094"/>
          <a:stretch/>
        </p:blipFill>
        <p:spPr>
          <a:xfrm>
            <a:off x="284286" y="2125575"/>
            <a:ext cx="11652530" cy="3820312"/>
          </a:xfrm>
          <a:prstGeom prst="rect">
            <a:avLst/>
          </a:prstGeom>
        </p:spPr>
      </p:pic>
      <p:sp>
        <p:nvSpPr>
          <p:cNvPr id="5" name="正方形/長方形 4"/>
          <p:cNvSpPr/>
          <p:nvPr/>
        </p:nvSpPr>
        <p:spPr>
          <a:xfrm>
            <a:off x="284286" y="1211950"/>
            <a:ext cx="11652530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ja-JP" sz="1600" dirty="0"/>
              <a:t>PS&gt; Add-Type -</a:t>
            </a:r>
            <a:r>
              <a:rPr lang="en-US" altLang="ja-JP" sz="1600" dirty="0" err="1"/>
              <a:t>AssemblyName</a:t>
            </a:r>
            <a:r>
              <a:rPr lang="en-US" altLang="ja-JP" sz="1600" dirty="0"/>
              <a:t> </a:t>
            </a:r>
            <a:r>
              <a:rPr lang="en-US" altLang="ja-JP" sz="1600" dirty="0" err="1"/>
              <a:t>System.IdentityModel</a:t>
            </a:r>
            <a:endParaRPr lang="en-US" altLang="ja-JP" sz="1600" dirty="0"/>
          </a:p>
          <a:p>
            <a:r>
              <a:rPr lang="en-US" altLang="ja-JP" sz="1600" dirty="0"/>
              <a:t>PS&gt; setspn.exe -T </a:t>
            </a:r>
            <a:r>
              <a:rPr lang="en-US" altLang="ja-JP" sz="1600" dirty="0" err="1"/>
              <a:t>labcorp.local</a:t>
            </a:r>
            <a:r>
              <a:rPr lang="en-US" altLang="ja-JP" sz="1600" dirty="0"/>
              <a:t> -Q */* | Select-String '^CN' -Context 0,1 | % { New-Object </a:t>
            </a:r>
            <a:r>
              <a:rPr lang="en-US" altLang="ja-JP" sz="1600" dirty="0" err="1"/>
              <a:t>System.IdentityModel.Tokens.KerberosRequestorSecurityToken</a:t>
            </a:r>
            <a:r>
              <a:rPr lang="en-US" altLang="ja-JP" sz="1600" dirty="0"/>
              <a:t> -</a:t>
            </a:r>
            <a:r>
              <a:rPr lang="en-US" altLang="ja-JP" sz="1600" dirty="0" err="1"/>
              <a:t>ArgumentList</a:t>
            </a:r>
            <a:r>
              <a:rPr lang="en-US" altLang="ja-JP" sz="1600" dirty="0"/>
              <a:t> $_.</a:t>
            </a:r>
            <a:r>
              <a:rPr lang="en-US" altLang="ja-JP" sz="1600" dirty="0" err="1"/>
              <a:t>Context.PostContext</a:t>
            </a:r>
            <a:r>
              <a:rPr lang="en-US" altLang="ja-JP" sz="1600" dirty="0"/>
              <a:t>[0].Trim() }</a:t>
            </a:r>
            <a:endParaRPr lang="ja-JP" altLang="en-US" sz="1600" dirty="0"/>
          </a:p>
        </p:txBody>
      </p:sp>
      <p:sp>
        <p:nvSpPr>
          <p:cNvPr id="6" name="正方形/長方形 5"/>
          <p:cNvSpPr/>
          <p:nvPr/>
        </p:nvSpPr>
        <p:spPr>
          <a:xfrm>
            <a:off x="191688" y="5987201"/>
            <a:ext cx="117451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600" dirty="0"/>
              <a:t>コンピュータアカウントには </a:t>
            </a:r>
            <a:r>
              <a:rPr lang="en-US" altLang="ja-JP" sz="1600" dirty="0"/>
              <a:t>SPN </a:t>
            </a:r>
            <a:r>
              <a:rPr lang="ja-JP" altLang="en-US" sz="1600" dirty="0"/>
              <a:t>に関連付けられたアカウントが多数ありますが、コンピュータアカウントには</a:t>
            </a:r>
            <a:r>
              <a:rPr lang="en-US" altLang="ja-JP" sz="1600" dirty="0"/>
              <a:t>240</a:t>
            </a:r>
            <a:r>
              <a:rPr lang="ja-JP" altLang="en-US" sz="1600" dirty="0"/>
              <a:t>バイトの長さのパスワードがあるため、それらのサービスチケット </a:t>
            </a:r>
            <a:r>
              <a:rPr lang="en-US" altLang="ja-JP" sz="1600" dirty="0"/>
              <a:t>(ST) </a:t>
            </a:r>
            <a:r>
              <a:rPr lang="ja-JP" altLang="en-US" sz="1600" dirty="0"/>
              <a:t>はブルートフォースの対象ではありません。</a:t>
            </a:r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2011628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376" y="2158744"/>
            <a:ext cx="8592145" cy="4195633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191688" y="145534"/>
            <a:ext cx="114970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3200" dirty="0" err="1" smtClean="0"/>
              <a:t>Kerberoasting</a:t>
            </a:r>
            <a:r>
              <a:rPr lang="ja-JP" altLang="en-US" sz="3200" dirty="0"/>
              <a:t>：サービスアカウント</a:t>
            </a:r>
            <a:r>
              <a:rPr lang="ja-JP" altLang="en-US" sz="3200" dirty="0" smtClean="0"/>
              <a:t>の </a:t>
            </a:r>
            <a:r>
              <a:rPr lang="en-US" altLang="ja-JP" sz="3200" dirty="0" smtClean="0"/>
              <a:t>Service Ticket </a:t>
            </a:r>
            <a:r>
              <a:rPr lang="ja-JP" altLang="en-US" sz="3200" dirty="0" smtClean="0"/>
              <a:t>を要求</a:t>
            </a:r>
            <a:endParaRPr lang="en-US" altLang="ja-JP" sz="3200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390805" y="804020"/>
            <a:ext cx="1109882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dirty="0" err="1" smtClean="0"/>
              <a:t>Kerberoasting</a:t>
            </a:r>
            <a:r>
              <a:rPr lang="en-US" altLang="ja-JP" dirty="0" smtClean="0"/>
              <a:t> </a:t>
            </a:r>
            <a:r>
              <a:rPr lang="ja-JP" altLang="en-US" dirty="0" smtClean="0"/>
              <a:t>では、有効</a:t>
            </a:r>
            <a:r>
              <a:rPr lang="ja-JP" altLang="en-US" dirty="0"/>
              <a:t>な</a:t>
            </a:r>
            <a:r>
              <a:rPr lang="en-US" altLang="ja-JP" dirty="0"/>
              <a:t>Ticket Granting Ticket (TGT) </a:t>
            </a:r>
            <a:r>
              <a:rPr lang="ja-JP" altLang="en-US" dirty="0"/>
              <a:t>を悪用し、ドメインコントローラに対してサービスプリンシパル名 </a:t>
            </a:r>
            <a:r>
              <a:rPr lang="en-US" altLang="ja-JP" dirty="0"/>
              <a:t>(SPN) </a:t>
            </a:r>
            <a:r>
              <a:rPr lang="ja-JP" altLang="en-US" dirty="0"/>
              <a:t>に関連付けられたサービスアカウントの</a:t>
            </a:r>
            <a:r>
              <a:rPr lang="en-US" altLang="ja-JP" dirty="0"/>
              <a:t>Service Ticket (ST) </a:t>
            </a:r>
            <a:r>
              <a:rPr lang="ja-JP" altLang="en-US" dirty="0"/>
              <a:t>を</a:t>
            </a:r>
            <a:r>
              <a:rPr lang="en-US" altLang="ja-JP" dirty="0"/>
              <a:t>RC4</a:t>
            </a:r>
            <a:r>
              <a:rPr lang="ja-JP" altLang="en-US" dirty="0"/>
              <a:t>暗号化形式で</a:t>
            </a:r>
            <a:r>
              <a:rPr lang="ja-JP" altLang="en-US" dirty="0" smtClean="0"/>
              <a:t>要求</a:t>
            </a:r>
            <a:r>
              <a:rPr lang="ja-JP" altLang="en-US" dirty="0"/>
              <a:t>します</a:t>
            </a:r>
            <a:r>
              <a:rPr lang="ja-JP" altLang="en-US" dirty="0" smtClean="0"/>
              <a:t>。以下に示すシーケンスでは、脅威アクター相当のユーザは、</a:t>
            </a:r>
            <a:r>
              <a:rPr lang="en-US" altLang="ja-JP" dirty="0" smtClean="0"/>
              <a:t>Authentication Server</a:t>
            </a:r>
            <a:r>
              <a:rPr lang="ja-JP" altLang="en-US" dirty="0"/>
              <a:t> </a:t>
            </a:r>
            <a:r>
              <a:rPr lang="en-US" altLang="ja-JP" dirty="0" smtClean="0"/>
              <a:t>(AS) </a:t>
            </a:r>
            <a:r>
              <a:rPr lang="ja-JP" altLang="en-US" dirty="0" smtClean="0"/>
              <a:t>に対して </a:t>
            </a:r>
            <a:r>
              <a:rPr lang="en-US" altLang="ja-JP" dirty="0" smtClean="0"/>
              <a:t>TGT </a:t>
            </a:r>
            <a:r>
              <a:rPr lang="ja-JP" altLang="en-US" dirty="0" smtClean="0"/>
              <a:t>を要求している様子を示しています。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42527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850" y="1902069"/>
            <a:ext cx="8409709" cy="4410751"/>
          </a:xfrm>
          <a:prstGeom prst="rect">
            <a:avLst/>
          </a:prstGeom>
        </p:spPr>
      </p:pic>
      <p:sp>
        <p:nvSpPr>
          <p:cNvPr id="5" name="正方形/長方形 4"/>
          <p:cNvSpPr/>
          <p:nvPr/>
        </p:nvSpPr>
        <p:spPr>
          <a:xfrm>
            <a:off x="237922" y="918320"/>
            <a:ext cx="116229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dirty="0" smtClean="0"/>
              <a:t>有効な </a:t>
            </a:r>
            <a:r>
              <a:rPr lang="en-US" altLang="ja-JP" dirty="0" smtClean="0"/>
              <a:t>TGT </a:t>
            </a:r>
            <a:r>
              <a:rPr lang="ja-JP" altLang="en-US" dirty="0" smtClean="0"/>
              <a:t>を利用して、対象のサービスアカウントの</a:t>
            </a:r>
            <a:r>
              <a:rPr lang="en-US" altLang="ja-JP" dirty="0"/>
              <a:t> </a:t>
            </a:r>
            <a:r>
              <a:rPr lang="en-US" altLang="ja-JP" dirty="0" smtClean="0"/>
              <a:t>NTLM </a:t>
            </a:r>
            <a:r>
              <a:rPr lang="ja-JP" altLang="en-US" dirty="0" smtClean="0"/>
              <a:t>ハッシュで一部が暗号化された </a:t>
            </a:r>
            <a:r>
              <a:rPr lang="en-US" altLang="ja-JP" dirty="0" smtClean="0"/>
              <a:t>ST </a:t>
            </a:r>
            <a:r>
              <a:rPr lang="ja-JP" altLang="en-US" dirty="0" smtClean="0"/>
              <a:t>を取得します。</a:t>
            </a:r>
            <a:r>
              <a:rPr lang="en-US" altLang="ja-JP" dirty="0" err="1" smtClean="0"/>
              <a:t>Kerberoasting</a:t>
            </a:r>
            <a:r>
              <a:rPr lang="en-US" altLang="ja-JP" dirty="0" smtClean="0"/>
              <a:t> </a:t>
            </a:r>
            <a:r>
              <a:rPr lang="ja-JP" altLang="en-US" dirty="0" smtClean="0"/>
              <a:t>では、取得したこの </a:t>
            </a:r>
            <a:r>
              <a:rPr lang="en-US" altLang="ja-JP" dirty="0" smtClean="0"/>
              <a:t>ST </a:t>
            </a:r>
            <a:r>
              <a:rPr lang="ja-JP" altLang="en-US" dirty="0" smtClean="0"/>
              <a:t>をローカルでブルートフォースしクレデンシャルを窃取しま</a:t>
            </a:r>
            <a:r>
              <a:rPr lang="ja-JP" altLang="en-US" dirty="0"/>
              <a:t>す</a:t>
            </a:r>
            <a:r>
              <a:rPr lang="ja-JP" altLang="en-US" dirty="0" smtClean="0"/>
              <a:t>。</a:t>
            </a:r>
            <a:endParaRPr lang="ja-JP" altLang="en-US" dirty="0"/>
          </a:p>
        </p:txBody>
      </p:sp>
      <p:sp>
        <p:nvSpPr>
          <p:cNvPr id="6" name="正方形/長方形 5"/>
          <p:cNvSpPr/>
          <p:nvPr/>
        </p:nvSpPr>
        <p:spPr>
          <a:xfrm>
            <a:off x="191688" y="145534"/>
            <a:ext cx="114970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3200" dirty="0" err="1" smtClean="0"/>
              <a:t>Kerberoasting</a:t>
            </a:r>
            <a:r>
              <a:rPr lang="ja-JP" altLang="en-US" sz="3200" dirty="0"/>
              <a:t>：サービスアカウント</a:t>
            </a:r>
            <a:r>
              <a:rPr lang="ja-JP" altLang="en-US" sz="3200" dirty="0" smtClean="0"/>
              <a:t>の </a:t>
            </a:r>
            <a:r>
              <a:rPr lang="en-US" altLang="ja-JP" sz="3200" dirty="0" smtClean="0"/>
              <a:t>Service Ticket </a:t>
            </a:r>
            <a:r>
              <a:rPr lang="ja-JP" altLang="en-US" sz="3200" dirty="0" smtClean="0"/>
              <a:t>を要求</a:t>
            </a:r>
            <a:endParaRPr lang="en-US" altLang="ja-JP" sz="3200" dirty="0" smtClean="0"/>
          </a:p>
        </p:txBody>
      </p:sp>
    </p:spTree>
    <p:extLst>
      <p:ext uri="{BB962C8B-B14F-4D97-AF65-F5344CB8AC3E}">
        <p14:creationId xmlns:p14="http://schemas.microsoft.com/office/powerpoint/2010/main" val="3705363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75795"/>
            <a:ext cx="9083040" cy="5712604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 bwMode="auto">
          <a:xfrm>
            <a:off x="129880" y="2919728"/>
            <a:ext cx="9492710" cy="2810512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  <a:ex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2400" b="1" dirty="0">
              <a:latin typeface="+mj-ea"/>
              <a:ea typeface="+mj-ea"/>
            </a:endParaRPr>
          </a:p>
        </p:txBody>
      </p:sp>
      <p:grpSp>
        <p:nvGrpSpPr>
          <p:cNvPr id="5" name="グループ化 4"/>
          <p:cNvGrpSpPr/>
          <p:nvPr/>
        </p:nvGrpSpPr>
        <p:grpSpPr>
          <a:xfrm rot="20340906">
            <a:off x="9496779" y="2994465"/>
            <a:ext cx="1255363" cy="533544"/>
            <a:chOff x="1506400" y="3049911"/>
            <a:chExt cx="941522" cy="400158"/>
          </a:xfrm>
        </p:grpSpPr>
        <p:sp>
          <p:nvSpPr>
            <p:cNvPr id="6" name="正方形/長方形 5"/>
            <p:cNvSpPr/>
            <p:nvPr/>
          </p:nvSpPr>
          <p:spPr bwMode="auto">
            <a:xfrm rot="5400000">
              <a:off x="1763512" y="2798278"/>
              <a:ext cx="389199" cy="903423"/>
            </a:xfrm>
            <a:prstGeom prst="rect">
              <a:avLst/>
            </a:prstGeom>
            <a:solidFill>
              <a:schemeClr val="accent2">
                <a:lumMod val="10000"/>
                <a:lumOff val="90000"/>
              </a:schemeClr>
            </a:solidFill>
            <a:ln w="19050">
              <a:solidFill>
                <a:schemeClr val="accent6">
                  <a:lumMod val="90000"/>
                  <a:lumOff val="10000"/>
                </a:schemeClr>
              </a:solidFill>
            </a:ln>
            <a:effectLst/>
            <a:ex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400" b="1" dirty="0">
                <a:latin typeface="+mj-ea"/>
                <a:ea typeface="+mj-ea"/>
              </a:endParaRPr>
            </a:p>
          </p:txBody>
        </p:sp>
        <p:sp>
          <p:nvSpPr>
            <p:cNvPr id="7" name="テキスト ボックス 6"/>
            <p:cNvSpPr txBox="1"/>
            <p:nvPr/>
          </p:nvSpPr>
          <p:spPr>
            <a:xfrm>
              <a:off x="1693560" y="3049911"/>
              <a:ext cx="754362" cy="4001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467" b="1" dirty="0">
                  <a:solidFill>
                    <a:schemeClr val="accent6">
                      <a:lumMod val="90000"/>
                      <a:lumOff val="10000"/>
                    </a:schemeClr>
                  </a:solidFill>
                  <a:latin typeface="Arial Rounded MT Bold" panose="020F0704030504030204" pitchFamily="34" charset="0"/>
                </a:rPr>
                <a:t>TICKET</a:t>
              </a:r>
            </a:p>
            <a:p>
              <a:r>
                <a:rPr lang="en-US" altLang="ja-JP" sz="1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ST(TGS)</a:t>
              </a:r>
              <a:endParaRPr lang="ja-JP" altLang="en-US" sz="1400" b="1" dirty="0">
                <a:solidFill>
                  <a:srgbClr val="FF0000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8" name="正方形/長方形 7"/>
            <p:cNvSpPr/>
            <p:nvPr/>
          </p:nvSpPr>
          <p:spPr bwMode="auto">
            <a:xfrm>
              <a:off x="1506401" y="3055390"/>
              <a:ext cx="224664" cy="389199"/>
            </a:xfrm>
            <a:prstGeom prst="rect">
              <a:avLst/>
            </a:prstGeom>
            <a:solidFill>
              <a:schemeClr val="accent6">
                <a:lumMod val="90000"/>
                <a:lumOff val="10000"/>
              </a:schemeClr>
            </a:solidFill>
            <a:ln>
              <a:noFill/>
            </a:ln>
            <a:effectLst/>
            <a:ex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400" b="1" dirty="0">
                <a:latin typeface="+mj-ea"/>
                <a:ea typeface="+mj-ea"/>
              </a:endParaRPr>
            </a:p>
          </p:txBody>
        </p:sp>
        <p:cxnSp>
          <p:nvCxnSpPr>
            <p:cNvPr id="9" name="直線コネクタ 8"/>
            <p:cNvCxnSpPr/>
            <p:nvPr/>
          </p:nvCxnSpPr>
          <p:spPr bwMode="auto">
            <a:xfrm>
              <a:off x="1731065" y="3055390"/>
              <a:ext cx="7730" cy="389199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bg1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>
                        <a:alpha val="50000"/>
                      </a:schemeClr>
                    </a:outerShdw>
                  </a:effectLst>
                </a14:hiddenEffects>
              </a:ext>
            </a:extLst>
          </p:spPr>
        </p:cxnSp>
      </p:grpSp>
      <p:sp>
        <p:nvSpPr>
          <p:cNvPr id="10" name="テキスト ボックス 9"/>
          <p:cNvSpPr txBox="1"/>
          <p:nvPr/>
        </p:nvSpPr>
        <p:spPr>
          <a:xfrm>
            <a:off x="3550565" y="4285919"/>
            <a:ext cx="3071907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67" dirty="0"/>
              <a:t>Service</a:t>
            </a:r>
            <a:r>
              <a:rPr lang="ja-JP" altLang="en-US" sz="1467" dirty="0"/>
              <a:t> </a:t>
            </a:r>
            <a:r>
              <a:rPr lang="en-US" altLang="ja-JP" sz="1467" dirty="0"/>
              <a:t>Principal</a:t>
            </a:r>
            <a:r>
              <a:rPr lang="ja-JP" altLang="en-US" sz="1467" dirty="0"/>
              <a:t> </a:t>
            </a:r>
            <a:r>
              <a:rPr lang="en-US" altLang="ja-JP" sz="1467" dirty="0"/>
              <a:t>Name</a:t>
            </a:r>
            <a:endParaRPr lang="ja-JP" altLang="en-US" sz="1467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2915437" y="2547002"/>
            <a:ext cx="3071907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67" dirty="0"/>
              <a:t>Client</a:t>
            </a:r>
            <a:r>
              <a:rPr lang="ja-JP" altLang="en-US" sz="1467" dirty="0"/>
              <a:t> </a:t>
            </a:r>
            <a:r>
              <a:rPr lang="en-US" altLang="ja-JP" sz="1467" dirty="0"/>
              <a:t>Principal</a:t>
            </a:r>
            <a:r>
              <a:rPr lang="ja-JP" altLang="en-US" sz="1467" dirty="0"/>
              <a:t> </a:t>
            </a:r>
            <a:r>
              <a:rPr lang="en-US" altLang="ja-JP" sz="1467" dirty="0"/>
              <a:t>Name</a:t>
            </a:r>
            <a:endParaRPr lang="ja-JP" altLang="en-US" sz="1467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4315381" y="1727722"/>
            <a:ext cx="3415540" cy="4205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sz="2133" b="1" dirty="0">
                <a:solidFill>
                  <a:srgbClr val="002060"/>
                </a:solidFill>
              </a:rPr>
              <a:t>Client</a:t>
            </a:r>
            <a:r>
              <a:rPr lang="ja-JP" altLang="en-US" sz="2133" b="1" dirty="0">
                <a:solidFill>
                  <a:srgbClr val="002060"/>
                </a:solidFill>
              </a:rPr>
              <a:t> </a:t>
            </a:r>
            <a:r>
              <a:rPr lang="en-US" altLang="ja-JP" sz="2133" b="1" dirty="0">
                <a:solidFill>
                  <a:srgbClr val="002060"/>
                </a:solidFill>
              </a:rPr>
              <a:t>Principal</a:t>
            </a:r>
            <a:r>
              <a:rPr lang="ja-JP" altLang="en-US" sz="2133" b="1" dirty="0">
                <a:solidFill>
                  <a:srgbClr val="002060"/>
                </a:solidFill>
              </a:rPr>
              <a:t> </a:t>
            </a:r>
            <a:r>
              <a:rPr lang="en-US" altLang="ja-JP" sz="2133" b="1" dirty="0">
                <a:solidFill>
                  <a:srgbClr val="002060"/>
                </a:solidFill>
              </a:rPr>
              <a:t>Name</a:t>
            </a:r>
            <a:endParaRPr lang="ja-JP" altLang="en-US" sz="2133" b="1" dirty="0">
              <a:solidFill>
                <a:srgbClr val="002060"/>
              </a:solidFill>
            </a:endParaRPr>
          </a:p>
        </p:txBody>
      </p:sp>
      <p:cxnSp>
        <p:nvCxnSpPr>
          <p:cNvPr id="13" name="直線コネクタ 12"/>
          <p:cNvCxnSpPr/>
          <p:nvPr/>
        </p:nvCxnSpPr>
        <p:spPr bwMode="auto">
          <a:xfrm flipH="1">
            <a:off x="2811773" y="1979139"/>
            <a:ext cx="1524891" cy="675219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sp>
        <p:nvSpPr>
          <p:cNvPr id="14" name="テキスト ボックス 13"/>
          <p:cNvSpPr txBox="1"/>
          <p:nvPr/>
        </p:nvSpPr>
        <p:spPr>
          <a:xfrm>
            <a:off x="4743642" y="3541713"/>
            <a:ext cx="3653401" cy="4205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sz="2133" b="1" dirty="0">
                <a:solidFill>
                  <a:srgbClr val="002060"/>
                </a:solidFill>
              </a:rPr>
              <a:t>Service</a:t>
            </a:r>
            <a:r>
              <a:rPr lang="ja-JP" altLang="en-US" sz="2133" b="1" dirty="0">
                <a:solidFill>
                  <a:srgbClr val="002060"/>
                </a:solidFill>
              </a:rPr>
              <a:t> </a:t>
            </a:r>
            <a:r>
              <a:rPr lang="en-US" altLang="ja-JP" sz="2133" b="1" dirty="0">
                <a:solidFill>
                  <a:srgbClr val="002060"/>
                </a:solidFill>
              </a:rPr>
              <a:t>Principal</a:t>
            </a:r>
            <a:r>
              <a:rPr lang="ja-JP" altLang="en-US" sz="2133" b="1" dirty="0">
                <a:solidFill>
                  <a:srgbClr val="002060"/>
                </a:solidFill>
              </a:rPr>
              <a:t> </a:t>
            </a:r>
            <a:r>
              <a:rPr lang="en-US" altLang="ja-JP" sz="2133" b="1" dirty="0">
                <a:solidFill>
                  <a:srgbClr val="002060"/>
                </a:solidFill>
              </a:rPr>
              <a:t>Name</a:t>
            </a:r>
            <a:endParaRPr lang="ja-JP" altLang="en-US" sz="2133" b="1" dirty="0">
              <a:solidFill>
                <a:srgbClr val="002060"/>
              </a:solidFill>
            </a:endParaRPr>
          </a:p>
        </p:txBody>
      </p:sp>
      <p:cxnSp>
        <p:nvCxnSpPr>
          <p:cNvPr id="15" name="直線コネクタ 14"/>
          <p:cNvCxnSpPr/>
          <p:nvPr/>
        </p:nvCxnSpPr>
        <p:spPr bwMode="auto">
          <a:xfrm flipH="1">
            <a:off x="3135731" y="3811782"/>
            <a:ext cx="1607911" cy="579785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sp>
        <p:nvSpPr>
          <p:cNvPr id="16" name="テキスト ボックス 15"/>
          <p:cNvSpPr txBox="1"/>
          <p:nvPr/>
        </p:nvSpPr>
        <p:spPr>
          <a:xfrm>
            <a:off x="9844887" y="2520353"/>
            <a:ext cx="947404" cy="4205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sz="2133" b="1" dirty="0">
                <a:solidFill>
                  <a:srgbClr val="002060"/>
                </a:solidFill>
              </a:rPr>
              <a:t>ST</a:t>
            </a:r>
            <a:endParaRPr lang="ja-JP" altLang="en-US" sz="2133" b="1" dirty="0">
              <a:solidFill>
                <a:srgbClr val="002060"/>
              </a:solidFill>
            </a:endParaRPr>
          </a:p>
        </p:txBody>
      </p:sp>
      <p:cxnSp>
        <p:nvCxnSpPr>
          <p:cNvPr id="17" name="直線コネクタ 16"/>
          <p:cNvCxnSpPr/>
          <p:nvPr/>
        </p:nvCxnSpPr>
        <p:spPr bwMode="auto">
          <a:xfrm flipH="1">
            <a:off x="9305338" y="2716076"/>
            <a:ext cx="509877" cy="184493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sp>
        <p:nvSpPr>
          <p:cNvPr id="18" name="テキスト ボックス 17"/>
          <p:cNvSpPr txBox="1"/>
          <p:nvPr/>
        </p:nvSpPr>
        <p:spPr>
          <a:xfrm>
            <a:off x="5529643" y="4569635"/>
            <a:ext cx="4092947" cy="6669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1867" b="1" dirty="0">
                <a:solidFill>
                  <a:srgbClr val="002060"/>
                </a:solidFill>
                <a:latin typeface="+mj-ea"/>
              </a:rPr>
              <a:t>サービス</a:t>
            </a:r>
            <a:r>
              <a:rPr lang="ja-JP" altLang="en-US" sz="1867" b="1" dirty="0" smtClean="0">
                <a:solidFill>
                  <a:srgbClr val="002060"/>
                </a:solidFill>
                <a:latin typeface="+mj-ea"/>
              </a:rPr>
              <a:t>の</a:t>
            </a:r>
            <a:r>
              <a:rPr lang="en-US" altLang="ja-JP" sz="1867" b="1" dirty="0">
                <a:solidFill>
                  <a:srgbClr val="002060"/>
                </a:solidFill>
                <a:latin typeface="+mj-ea"/>
              </a:rPr>
              <a:t>NTLM</a:t>
            </a:r>
            <a:r>
              <a:rPr lang="ja-JP" altLang="en-US" sz="1867" b="1" dirty="0" smtClean="0">
                <a:solidFill>
                  <a:srgbClr val="002060"/>
                </a:solidFill>
                <a:latin typeface="+mj-ea"/>
              </a:rPr>
              <a:t>ハッシュ</a:t>
            </a:r>
            <a:r>
              <a:rPr lang="ja-JP" altLang="en-US" sz="1867" b="1" dirty="0">
                <a:solidFill>
                  <a:srgbClr val="002060"/>
                </a:solidFill>
                <a:latin typeface="+mj-ea"/>
              </a:rPr>
              <a:t>で</a:t>
            </a:r>
            <a:endParaRPr lang="en-US" altLang="ja-JP" sz="1867" b="1" dirty="0">
              <a:solidFill>
                <a:srgbClr val="002060"/>
              </a:solidFill>
              <a:latin typeface="+mj-ea"/>
            </a:endParaRPr>
          </a:p>
          <a:p>
            <a:r>
              <a:rPr lang="ja-JP" altLang="en-US" sz="1867" b="1" dirty="0">
                <a:solidFill>
                  <a:srgbClr val="002060"/>
                </a:solidFill>
              </a:rPr>
              <a:t>暗号化されたタイムスタンプ等情報</a:t>
            </a:r>
          </a:p>
        </p:txBody>
      </p:sp>
      <p:cxnSp>
        <p:nvCxnSpPr>
          <p:cNvPr id="19" name="直線コネクタ 18"/>
          <p:cNvCxnSpPr/>
          <p:nvPr/>
        </p:nvCxnSpPr>
        <p:spPr bwMode="auto">
          <a:xfrm flipH="1">
            <a:off x="4105128" y="4873557"/>
            <a:ext cx="1424515" cy="517223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sp>
        <p:nvSpPr>
          <p:cNvPr id="20" name="テキスト ボックス 19"/>
          <p:cNvSpPr txBox="1"/>
          <p:nvPr/>
        </p:nvSpPr>
        <p:spPr>
          <a:xfrm>
            <a:off x="8076315" y="5763883"/>
            <a:ext cx="4092947" cy="6669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sz="1867" b="1" dirty="0">
                <a:solidFill>
                  <a:srgbClr val="002060"/>
                </a:solidFill>
                <a:latin typeface="+mj-ea"/>
              </a:rPr>
              <a:t>TGT</a:t>
            </a:r>
            <a:r>
              <a:rPr lang="ja-JP" altLang="en-US" sz="1867" b="1" dirty="0">
                <a:solidFill>
                  <a:srgbClr val="002060"/>
                </a:solidFill>
                <a:latin typeface="+mj-ea"/>
              </a:rPr>
              <a:t> </a:t>
            </a:r>
            <a:r>
              <a:rPr lang="en-US" altLang="ja-JP" sz="1867" b="1" dirty="0">
                <a:solidFill>
                  <a:srgbClr val="002060"/>
                </a:solidFill>
                <a:latin typeface="+mj-ea"/>
              </a:rPr>
              <a:t>Session Key</a:t>
            </a:r>
            <a:r>
              <a:rPr lang="ja-JP" altLang="en-US" sz="1867" b="1" dirty="0">
                <a:solidFill>
                  <a:srgbClr val="002060"/>
                </a:solidFill>
                <a:latin typeface="+mj-ea"/>
              </a:rPr>
              <a:t>で</a:t>
            </a:r>
            <a:endParaRPr lang="en-US" altLang="ja-JP" sz="1867" b="1" dirty="0">
              <a:solidFill>
                <a:srgbClr val="002060"/>
              </a:solidFill>
              <a:latin typeface="+mj-ea"/>
            </a:endParaRPr>
          </a:p>
          <a:p>
            <a:r>
              <a:rPr lang="ja-JP" altLang="en-US" sz="1867" b="1" dirty="0">
                <a:solidFill>
                  <a:srgbClr val="002060"/>
                </a:solidFill>
              </a:rPr>
              <a:t>暗号化されたタイムスタンプ等情報</a:t>
            </a:r>
          </a:p>
        </p:txBody>
      </p:sp>
      <p:cxnSp>
        <p:nvCxnSpPr>
          <p:cNvPr id="21" name="直線コネクタ 20"/>
          <p:cNvCxnSpPr/>
          <p:nvPr/>
        </p:nvCxnSpPr>
        <p:spPr bwMode="auto">
          <a:xfrm flipH="1">
            <a:off x="7679219" y="5922327"/>
            <a:ext cx="397096" cy="224283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sp>
        <p:nvSpPr>
          <p:cNvPr id="22" name="正方形/長方形 21"/>
          <p:cNvSpPr/>
          <p:nvPr/>
        </p:nvSpPr>
        <p:spPr>
          <a:xfrm>
            <a:off x="191688" y="145534"/>
            <a:ext cx="959589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3200" dirty="0" err="1" smtClean="0"/>
              <a:t>Kerberoasting</a:t>
            </a:r>
            <a:r>
              <a:rPr lang="ja-JP" altLang="en-US" sz="3200" dirty="0" smtClean="0"/>
              <a:t>：</a:t>
            </a:r>
            <a:r>
              <a:rPr lang="en-US" altLang="ja-JP" sz="3200" dirty="0" smtClean="0"/>
              <a:t>TGS-REP </a:t>
            </a:r>
            <a:r>
              <a:rPr lang="ja-JP" altLang="en-US" sz="3200" dirty="0" smtClean="0"/>
              <a:t>における </a:t>
            </a:r>
            <a:r>
              <a:rPr lang="en-US" altLang="ja-JP" sz="3200" dirty="0"/>
              <a:t>Service Ticket</a:t>
            </a:r>
            <a:endParaRPr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671625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89" y="2608940"/>
            <a:ext cx="11650701" cy="3515216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191688" y="1775935"/>
            <a:ext cx="11650701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ja-JP" sz="1600" dirty="0"/>
              <a:t>$ python3 /usr/share/doc/python3-impacket/examples/GetUserSPNs.py -request </a:t>
            </a:r>
            <a:r>
              <a:rPr lang="en-US" altLang="ja-JP" sz="1600" dirty="0" err="1"/>
              <a:t>labcorp.local</a:t>
            </a:r>
            <a:r>
              <a:rPr lang="en-US" altLang="ja-JP" sz="1600" dirty="0"/>
              <a:t>/Alice:p@ssw0rd -dc-</a:t>
            </a:r>
            <a:r>
              <a:rPr lang="en-US" altLang="ja-JP" sz="1600" dirty="0" err="1"/>
              <a:t>ip</a:t>
            </a:r>
            <a:r>
              <a:rPr lang="en-US" altLang="ja-JP" sz="1600" dirty="0"/>
              <a:t> </a:t>
            </a:r>
            <a:r>
              <a:rPr lang="en-US" altLang="ja-JP" sz="1600" dirty="0" smtClean="0"/>
              <a:t>192.168.1.100</a:t>
            </a:r>
            <a:endParaRPr lang="en-US" altLang="ja-JP" sz="1600" dirty="0"/>
          </a:p>
        </p:txBody>
      </p:sp>
      <p:sp>
        <p:nvSpPr>
          <p:cNvPr id="4" name="正方形/長方形 3"/>
          <p:cNvSpPr/>
          <p:nvPr/>
        </p:nvSpPr>
        <p:spPr>
          <a:xfrm>
            <a:off x="191688" y="984805"/>
            <a:ext cx="113824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dirty="0" err="1" smtClean="0"/>
              <a:t>Impacket</a:t>
            </a:r>
            <a:r>
              <a:rPr lang="en-US" altLang="ja-JP" dirty="0" smtClean="0"/>
              <a:t> </a:t>
            </a:r>
            <a:r>
              <a:rPr lang="ja-JP" altLang="en-US" dirty="0" smtClean="0"/>
              <a:t>の </a:t>
            </a:r>
            <a:r>
              <a:rPr lang="en-US" altLang="ja-JP" dirty="0" err="1" smtClean="0"/>
              <a:t>GetUserSPNs</a:t>
            </a:r>
            <a:r>
              <a:rPr lang="ja-JP" altLang="en-US" dirty="0"/>
              <a:t> </a:t>
            </a:r>
            <a:r>
              <a:rPr lang="ja-JP" altLang="en-US" dirty="0" smtClean="0"/>
              <a:t>スクリプトを利用すること</a:t>
            </a:r>
            <a:r>
              <a:rPr lang="ja-JP" altLang="en-US" dirty="0"/>
              <a:t>で、サービスアカウントの </a:t>
            </a:r>
            <a:r>
              <a:rPr lang="en-US" altLang="ja-JP" dirty="0"/>
              <a:t>NTLM </a:t>
            </a:r>
            <a:r>
              <a:rPr lang="ja-JP" altLang="en-US" dirty="0"/>
              <a:t>ハッシュ</a:t>
            </a:r>
            <a:r>
              <a:rPr lang="ja-JP" altLang="en-US" dirty="0" smtClean="0"/>
              <a:t>で暗号化</a:t>
            </a:r>
            <a:r>
              <a:rPr lang="ja-JP" altLang="en-US" dirty="0"/>
              <a:t>された </a:t>
            </a:r>
            <a:r>
              <a:rPr lang="en-US" altLang="ja-JP" dirty="0"/>
              <a:t>ST </a:t>
            </a:r>
            <a:r>
              <a:rPr lang="ja-JP" altLang="en-US" dirty="0" smtClean="0"/>
              <a:t>を取得することができます。</a:t>
            </a:r>
            <a:endParaRPr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191688" y="145534"/>
            <a:ext cx="727635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3200" dirty="0" err="1" smtClean="0"/>
              <a:t>Kerberoasting</a:t>
            </a:r>
            <a:r>
              <a:rPr lang="ja-JP" altLang="en-US" sz="3200" dirty="0" smtClean="0"/>
              <a:t>：</a:t>
            </a:r>
            <a:r>
              <a:rPr lang="en-US" altLang="ja-JP" sz="3200" dirty="0" smtClean="0"/>
              <a:t>Service Ticket </a:t>
            </a:r>
            <a:r>
              <a:rPr lang="ja-JP" altLang="en-US" sz="3200" dirty="0" smtClean="0"/>
              <a:t>の取得</a:t>
            </a:r>
            <a:endParaRPr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54878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145389" y="695963"/>
            <a:ext cx="1103839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dirty="0" err="1" smtClean="0"/>
              <a:t>GetUserSPNs</a:t>
            </a:r>
            <a:r>
              <a:rPr lang="en-US" altLang="ja-JP" dirty="0" smtClean="0"/>
              <a:t> </a:t>
            </a:r>
            <a:r>
              <a:rPr lang="ja-JP" altLang="en-US" dirty="0" smtClean="0"/>
              <a:t>スクリプト</a:t>
            </a:r>
            <a:r>
              <a:rPr lang="ja-JP" altLang="en-US" dirty="0"/>
              <a:t>によって収集</a:t>
            </a:r>
            <a:r>
              <a:rPr lang="ja-JP" altLang="en-US" dirty="0" smtClean="0"/>
              <a:t>された </a:t>
            </a:r>
            <a:r>
              <a:rPr lang="en-US" altLang="ja-JP" dirty="0" smtClean="0"/>
              <a:t>ST </a:t>
            </a:r>
            <a:r>
              <a:rPr lang="ja-JP" altLang="en-US" dirty="0" smtClean="0"/>
              <a:t>は、</a:t>
            </a:r>
            <a:r>
              <a:rPr lang="en-US" altLang="ja-JP" dirty="0" err="1" smtClean="0"/>
              <a:t>Hashcat</a:t>
            </a:r>
            <a:r>
              <a:rPr lang="en-US" altLang="ja-JP" dirty="0" smtClean="0"/>
              <a:t> </a:t>
            </a:r>
            <a:r>
              <a:rPr lang="ja-JP" altLang="en-US" dirty="0" smtClean="0"/>
              <a:t>で</a:t>
            </a:r>
            <a:r>
              <a:rPr lang="ja-JP" altLang="en-US" dirty="0"/>
              <a:t>直接クラック可能</a:t>
            </a:r>
            <a:r>
              <a:rPr lang="ja-JP" altLang="en-US" dirty="0" smtClean="0"/>
              <a:t>です。</a:t>
            </a:r>
            <a:endParaRPr lang="en-US" altLang="ja-JP" dirty="0" smtClean="0"/>
          </a:p>
          <a:p>
            <a:r>
              <a:rPr lang="en-US" altLang="ja-JP" dirty="0" err="1" smtClean="0"/>
              <a:t>Rockyou</a:t>
            </a:r>
            <a:r>
              <a:rPr lang="en-US" altLang="ja-JP" dirty="0" smtClean="0"/>
              <a:t> </a:t>
            </a:r>
            <a:r>
              <a:rPr lang="ja-JP" altLang="en-US" dirty="0" smtClean="0"/>
              <a:t>のワードリスト</a:t>
            </a:r>
            <a:r>
              <a:rPr lang="ja-JP" altLang="en-US" dirty="0"/>
              <a:t>を使用してサービスアカウントのパスワード</a:t>
            </a:r>
            <a:r>
              <a:rPr lang="ja-JP" altLang="en-US" dirty="0" smtClean="0"/>
              <a:t>が</a:t>
            </a:r>
            <a:r>
              <a:rPr lang="en-US" altLang="ja-JP" dirty="0"/>
              <a:t>1</a:t>
            </a:r>
            <a:r>
              <a:rPr lang="ja-JP" altLang="en-US" dirty="0" smtClean="0"/>
              <a:t>分ほどで</a:t>
            </a:r>
            <a:r>
              <a:rPr lang="ja-JP" altLang="en-US" dirty="0"/>
              <a:t>解読されました。</a:t>
            </a:r>
          </a:p>
        </p:txBody>
      </p:sp>
      <p:sp>
        <p:nvSpPr>
          <p:cNvPr id="3" name="正方形/長方形 2"/>
          <p:cNvSpPr/>
          <p:nvPr/>
        </p:nvSpPr>
        <p:spPr>
          <a:xfrm>
            <a:off x="270075" y="1427506"/>
            <a:ext cx="8769751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ja-JP" dirty="0"/>
              <a:t>$ </a:t>
            </a:r>
            <a:r>
              <a:rPr lang="en-US" altLang="ja-JP" dirty="0" err="1"/>
              <a:t>hashcat</a:t>
            </a:r>
            <a:r>
              <a:rPr lang="en-US" altLang="ja-JP" dirty="0"/>
              <a:t> -m 13100 -a 0 st.txt /</a:t>
            </a:r>
            <a:r>
              <a:rPr lang="en-US" altLang="ja-JP" dirty="0" err="1"/>
              <a:t>usr</a:t>
            </a:r>
            <a:r>
              <a:rPr lang="en-US" altLang="ja-JP" dirty="0"/>
              <a:t>/share/wordlists/rockyou.txt</a:t>
            </a:r>
            <a:endParaRPr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22" y="1817253"/>
            <a:ext cx="10413357" cy="2800834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23" y="4671597"/>
            <a:ext cx="10413357" cy="2084379"/>
          </a:xfrm>
          <a:prstGeom prst="rect">
            <a:avLst/>
          </a:prstGeom>
        </p:spPr>
      </p:pic>
      <p:sp>
        <p:nvSpPr>
          <p:cNvPr id="7" name="正方形/長方形 6"/>
          <p:cNvSpPr/>
          <p:nvPr/>
        </p:nvSpPr>
        <p:spPr>
          <a:xfrm>
            <a:off x="145389" y="90773"/>
            <a:ext cx="809708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3200" dirty="0" err="1" smtClean="0"/>
              <a:t>Kerberoasting</a:t>
            </a:r>
            <a:r>
              <a:rPr lang="ja-JP" altLang="en-US" sz="3200" dirty="0" smtClean="0"/>
              <a:t>：</a:t>
            </a:r>
            <a:r>
              <a:rPr lang="en-US" altLang="ja-JP" sz="3200" dirty="0" smtClean="0"/>
              <a:t>Service Ticket </a:t>
            </a:r>
            <a:r>
              <a:rPr lang="ja-JP" altLang="en-US" sz="3200" dirty="0" smtClean="0"/>
              <a:t>の</a:t>
            </a:r>
            <a:r>
              <a:rPr lang="ja-JP" altLang="en-US" sz="3200" dirty="0"/>
              <a:t>クラック</a:t>
            </a:r>
            <a:endParaRPr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3570433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/>
          </p:cNvSpPr>
          <p:nvPr/>
        </p:nvSpPr>
        <p:spPr>
          <a:xfrm>
            <a:off x="239351" y="38400"/>
            <a:ext cx="11712000" cy="624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smtClean="0"/>
              <a:t>AS-REQ</a:t>
            </a:r>
            <a:endParaRPr lang="ja-JP" altLang="en-US" dirty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42" y="662401"/>
            <a:ext cx="8908676" cy="5901743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/>
        </p:nvSpPr>
        <p:spPr>
          <a:xfrm>
            <a:off x="7266429" y="1286400"/>
            <a:ext cx="4092947" cy="6669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1867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クライアントの</a:t>
            </a:r>
            <a:r>
              <a:rPr lang="en-US" altLang="ja-JP" sz="1867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NTLM</a:t>
            </a:r>
            <a:r>
              <a:rPr lang="ja-JP" altLang="en-US" sz="1867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ハッシュで</a:t>
            </a:r>
            <a:endParaRPr lang="en-US" altLang="ja-JP" sz="1867" b="1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  <a:p>
            <a:r>
              <a:rPr lang="ja-JP" altLang="en-US" sz="1867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暗号化されたタイムスタンプ等情報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5439729" y="5366612"/>
            <a:ext cx="3653401" cy="4205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sz="2133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Service</a:t>
            </a:r>
            <a:r>
              <a:rPr lang="ja-JP" altLang="en-US" sz="2133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ja-JP" sz="2133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Principal</a:t>
            </a:r>
            <a:r>
              <a:rPr lang="ja-JP" altLang="en-US" sz="2133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ja-JP" sz="2133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Name</a:t>
            </a:r>
            <a:endParaRPr lang="ja-JP" altLang="en-US" sz="2133" b="1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6" name="直線コネクタ 5"/>
          <p:cNvCxnSpPr/>
          <p:nvPr/>
        </p:nvCxnSpPr>
        <p:spPr bwMode="auto">
          <a:xfrm flipH="1">
            <a:off x="6779293" y="1671214"/>
            <a:ext cx="487137" cy="594188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chemeClr val="accent6">
                <a:lumMod val="90000"/>
                <a:lumOff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sp>
        <p:nvSpPr>
          <p:cNvPr id="7" name="テキスト ボックス 6"/>
          <p:cNvSpPr txBox="1"/>
          <p:nvPr/>
        </p:nvSpPr>
        <p:spPr>
          <a:xfrm>
            <a:off x="5114374" y="4036732"/>
            <a:ext cx="3415540" cy="4205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sz="2133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Client</a:t>
            </a:r>
            <a:r>
              <a:rPr lang="ja-JP" altLang="en-US" sz="2133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ja-JP" sz="2133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Principal</a:t>
            </a:r>
            <a:r>
              <a:rPr lang="ja-JP" altLang="en-US" sz="2133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ja-JP" sz="2133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Name</a:t>
            </a:r>
            <a:endParaRPr lang="ja-JP" altLang="en-US" sz="2133" b="1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8" name="直線コネクタ 7"/>
          <p:cNvCxnSpPr/>
          <p:nvPr/>
        </p:nvCxnSpPr>
        <p:spPr bwMode="auto">
          <a:xfrm flipH="1">
            <a:off x="3523785" y="4195841"/>
            <a:ext cx="1524891" cy="675219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chemeClr val="accent6">
                <a:lumMod val="90000"/>
                <a:lumOff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cxnSp>
        <p:nvCxnSpPr>
          <p:cNvPr id="9" name="直線コネクタ 8"/>
          <p:cNvCxnSpPr/>
          <p:nvPr/>
        </p:nvCxnSpPr>
        <p:spPr bwMode="auto">
          <a:xfrm flipH="1">
            <a:off x="3589483" y="5570193"/>
            <a:ext cx="1792839" cy="512847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chemeClr val="accent6">
                <a:lumMod val="90000"/>
                <a:lumOff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cxnSp>
        <p:nvCxnSpPr>
          <p:cNvPr id="10" name="直線コネクタ 9"/>
          <p:cNvCxnSpPr/>
          <p:nvPr/>
        </p:nvCxnSpPr>
        <p:spPr bwMode="auto">
          <a:xfrm flipH="1">
            <a:off x="1870818" y="5112136"/>
            <a:ext cx="1520177" cy="0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cxnSp>
        <p:nvCxnSpPr>
          <p:cNvPr id="11" name="直線コネクタ 10"/>
          <p:cNvCxnSpPr/>
          <p:nvPr/>
        </p:nvCxnSpPr>
        <p:spPr bwMode="auto">
          <a:xfrm flipH="1">
            <a:off x="1885686" y="6127643"/>
            <a:ext cx="1520177" cy="0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cxnSp>
        <p:nvCxnSpPr>
          <p:cNvPr id="12" name="直線コネクタ 11"/>
          <p:cNvCxnSpPr/>
          <p:nvPr/>
        </p:nvCxnSpPr>
        <p:spPr bwMode="auto">
          <a:xfrm flipH="1">
            <a:off x="1885685" y="2479955"/>
            <a:ext cx="7065027" cy="0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630632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/>
          </p:cNvSpPr>
          <p:nvPr/>
        </p:nvSpPr>
        <p:spPr>
          <a:xfrm>
            <a:off x="239351" y="38400"/>
            <a:ext cx="11712000" cy="624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smtClean="0"/>
              <a:t>AS-REP</a:t>
            </a:r>
            <a:endParaRPr lang="ja-JP" altLang="en-US" dirty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2930"/>
            <a:ext cx="7940040" cy="5891303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 bwMode="auto">
          <a:xfrm>
            <a:off x="239350" y="3535680"/>
            <a:ext cx="8471413" cy="228600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  <a:ex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2400" b="1" dirty="0">
              <a:latin typeface="+mj-ea"/>
              <a:ea typeface="+mj-ea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053841" y="2547426"/>
            <a:ext cx="3415540" cy="4205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sz="2133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Client</a:t>
            </a:r>
            <a:r>
              <a:rPr lang="ja-JP" altLang="en-US" sz="2133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ja-JP" sz="2133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Principal</a:t>
            </a:r>
            <a:r>
              <a:rPr lang="ja-JP" altLang="en-US" sz="2133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ja-JP" sz="2133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Name</a:t>
            </a:r>
            <a:endParaRPr lang="ja-JP" altLang="en-US" sz="2133" b="1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6" name="直線コネクタ 5"/>
          <p:cNvCxnSpPr/>
          <p:nvPr/>
        </p:nvCxnSpPr>
        <p:spPr bwMode="auto">
          <a:xfrm flipH="1">
            <a:off x="2463252" y="2706536"/>
            <a:ext cx="1524891" cy="675219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chemeClr val="accent6">
                <a:lumMod val="90000"/>
                <a:lumOff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sp>
        <p:nvSpPr>
          <p:cNvPr id="7" name="テキスト ボックス 6"/>
          <p:cNvSpPr txBox="1"/>
          <p:nvPr/>
        </p:nvSpPr>
        <p:spPr>
          <a:xfrm>
            <a:off x="4525989" y="4000262"/>
            <a:ext cx="3653401" cy="4205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sz="2133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Service</a:t>
            </a:r>
            <a:r>
              <a:rPr lang="ja-JP" altLang="en-US" sz="2133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ja-JP" sz="2133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Principal</a:t>
            </a:r>
            <a:r>
              <a:rPr lang="ja-JP" altLang="en-US" sz="2133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ja-JP" sz="2133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Name</a:t>
            </a:r>
            <a:endParaRPr lang="ja-JP" altLang="en-US" sz="2133" b="1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8" name="直線コネクタ 7"/>
          <p:cNvCxnSpPr/>
          <p:nvPr/>
        </p:nvCxnSpPr>
        <p:spPr bwMode="auto">
          <a:xfrm flipH="1">
            <a:off x="2860673" y="4203844"/>
            <a:ext cx="1607911" cy="579785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chemeClr val="accent6">
                <a:lumMod val="90000"/>
                <a:lumOff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sp>
        <p:nvSpPr>
          <p:cNvPr id="9" name="テキスト ボックス 8"/>
          <p:cNvSpPr txBox="1"/>
          <p:nvPr/>
        </p:nvSpPr>
        <p:spPr>
          <a:xfrm>
            <a:off x="7736670" y="3037590"/>
            <a:ext cx="947404" cy="4205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sz="2133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TGT</a:t>
            </a:r>
            <a:endParaRPr lang="ja-JP" altLang="en-US" sz="2133" b="1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10" name="直線コネクタ 9"/>
          <p:cNvCxnSpPr/>
          <p:nvPr/>
        </p:nvCxnSpPr>
        <p:spPr bwMode="auto">
          <a:xfrm flipH="1">
            <a:off x="7261704" y="3249275"/>
            <a:ext cx="509877" cy="184493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chemeClr val="accent6">
                <a:lumMod val="90000"/>
                <a:lumOff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sp>
        <p:nvSpPr>
          <p:cNvPr id="11" name="テキスト ボックス 10"/>
          <p:cNvSpPr txBox="1"/>
          <p:nvPr/>
        </p:nvSpPr>
        <p:spPr>
          <a:xfrm>
            <a:off x="4646903" y="4656552"/>
            <a:ext cx="4092947" cy="6669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sz="1867" b="1" dirty="0" err="1">
                <a:solidFill>
                  <a:schemeClr val="accent6">
                    <a:lumMod val="90000"/>
                    <a:lumOff val="10000"/>
                  </a:schemeClr>
                </a:solidFill>
              </a:rPr>
              <a:t>krbtgt</a:t>
            </a:r>
            <a:r>
              <a:rPr lang="ja-JP" altLang="en-US" sz="1867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の</a:t>
            </a:r>
            <a:r>
              <a:rPr lang="en-US" altLang="ja-JP" sz="1867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NTLM</a:t>
            </a:r>
            <a:r>
              <a:rPr lang="ja-JP" altLang="en-US" sz="1867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ハッシュで</a:t>
            </a:r>
            <a:endParaRPr lang="en-US" altLang="ja-JP" sz="1867" b="1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  <a:p>
            <a:r>
              <a:rPr lang="ja-JP" altLang="en-US" sz="1867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暗号化されたタイムスタンプ等情報</a:t>
            </a:r>
          </a:p>
        </p:txBody>
      </p:sp>
      <p:cxnSp>
        <p:nvCxnSpPr>
          <p:cNvPr id="12" name="直線コネクタ 11"/>
          <p:cNvCxnSpPr/>
          <p:nvPr/>
        </p:nvCxnSpPr>
        <p:spPr bwMode="auto">
          <a:xfrm flipH="1">
            <a:off x="3225697" y="5055317"/>
            <a:ext cx="1424515" cy="517223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chemeClr val="accent6">
                <a:lumMod val="90000"/>
                <a:lumOff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pic>
        <p:nvPicPr>
          <p:cNvPr id="13" name="図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7446" y="2953932"/>
            <a:ext cx="1951247" cy="1369296"/>
          </a:xfrm>
          <a:prstGeom prst="rect">
            <a:avLst/>
          </a:prstGeom>
        </p:spPr>
      </p:pic>
      <p:sp>
        <p:nvSpPr>
          <p:cNvPr id="14" name="テキスト ボックス 13"/>
          <p:cNvSpPr txBox="1"/>
          <p:nvPr/>
        </p:nvSpPr>
        <p:spPr>
          <a:xfrm>
            <a:off x="7469379" y="5800769"/>
            <a:ext cx="4364988" cy="6669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1867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クライアントの秘密鍵で暗号化された</a:t>
            </a:r>
            <a:r>
              <a:rPr lang="en-US" altLang="ja-JP" sz="1867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TGT Session Key</a:t>
            </a:r>
            <a:endParaRPr lang="ja-JP" altLang="en-US" sz="1867" b="1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15" name="直線コネクタ 14"/>
          <p:cNvCxnSpPr/>
          <p:nvPr/>
        </p:nvCxnSpPr>
        <p:spPr bwMode="auto">
          <a:xfrm flipH="1">
            <a:off x="6502401" y="6003390"/>
            <a:ext cx="966979" cy="279313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chemeClr val="accent6">
                <a:lumMod val="90000"/>
                <a:lumOff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648529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/>
          </p:cNvSpPr>
          <p:nvPr/>
        </p:nvSpPr>
        <p:spPr>
          <a:xfrm>
            <a:off x="239351" y="38400"/>
            <a:ext cx="11712000" cy="624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smtClean="0"/>
              <a:t>TGS-REQ</a:t>
            </a:r>
            <a:endParaRPr lang="ja-JP" altLang="en-US" dirty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62400"/>
            <a:ext cx="8374292" cy="5923280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 bwMode="auto">
          <a:xfrm>
            <a:off x="1173480" y="3535680"/>
            <a:ext cx="8229600" cy="245364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  <a:ex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2400" b="1" dirty="0">
              <a:latin typeface="+mj-ea"/>
              <a:ea typeface="+mj-ea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8538103" y="6016455"/>
            <a:ext cx="3252452" cy="543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67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TGT Session Key</a:t>
            </a:r>
            <a:r>
              <a:rPr lang="ja-JP" altLang="en-US" sz="1467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で暗号化されたタイムスタンプ情報</a:t>
            </a:r>
          </a:p>
        </p:txBody>
      </p:sp>
      <p:cxnSp>
        <p:nvCxnSpPr>
          <p:cNvPr id="6" name="直線コネクタ 5"/>
          <p:cNvCxnSpPr/>
          <p:nvPr/>
        </p:nvCxnSpPr>
        <p:spPr bwMode="auto">
          <a:xfrm flipH="1">
            <a:off x="7642304" y="6140606"/>
            <a:ext cx="895800" cy="180948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chemeClr val="accent6">
                <a:lumMod val="90000"/>
                <a:lumOff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pic>
        <p:nvPicPr>
          <p:cNvPr id="7" name="図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232" y="2787785"/>
            <a:ext cx="1954589" cy="137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6543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/>
          </p:cNvSpPr>
          <p:nvPr/>
        </p:nvSpPr>
        <p:spPr>
          <a:xfrm>
            <a:off x="239351" y="38400"/>
            <a:ext cx="11712000" cy="624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smtClean="0"/>
              <a:t>TGS-REQ</a:t>
            </a:r>
            <a:endParaRPr lang="ja-JP" altLang="en-US" dirty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10" y="1374139"/>
            <a:ext cx="7601201" cy="3761740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 bwMode="auto">
          <a:xfrm>
            <a:off x="785200" y="3270248"/>
            <a:ext cx="5508921" cy="951232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  <a:ex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2400" b="1" dirty="0">
              <a:latin typeface="+mj-ea"/>
              <a:ea typeface="+mj-ea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694509" y="3458606"/>
            <a:ext cx="3071907" cy="543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67" dirty="0"/>
              <a:t>ターゲットとなる</a:t>
            </a:r>
            <a:r>
              <a:rPr lang="en-US" altLang="ja-JP" sz="1467" dirty="0"/>
              <a:t>Service Principal Name</a:t>
            </a:r>
            <a:endParaRPr lang="ja-JP" altLang="en-US" sz="1467" dirty="0"/>
          </a:p>
        </p:txBody>
      </p:sp>
    </p:spTree>
    <p:extLst>
      <p:ext uri="{BB962C8B-B14F-4D97-AF65-F5344CB8AC3E}">
        <p14:creationId xmlns:p14="http://schemas.microsoft.com/office/powerpoint/2010/main" val="3984398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/>
          </p:cNvSpPr>
          <p:nvPr/>
        </p:nvSpPr>
        <p:spPr>
          <a:xfrm>
            <a:off x="239351" y="38400"/>
            <a:ext cx="11712000" cy="624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smtClean="0"/>
              <a:t>TGS-REP</a:t>
            </a:r>
            <a:endParaRPr lang="ja-JP" altLang="en-US" dirty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75795"/>
            <a:ext cx="9083040" cy="5712604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 bwMode="auto">
          <a:xfrm>
            <a:off x="129880" y="2919728"/>
            <a:ext cx="8785521" cy="2810512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  <a:ex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2400" b="1" dirty="0">
              <a:latin typeface="+mj-ea"/>
              <a:ea typeface="+mj-ea"/>
            </a:endParaRPr>
          </a:p>
        </p:txBody>
      </p:sp>
      <p:grpSp>
        <p:nvGrpSpPr>
          <p:cNvPr id="5" name="グループ化 4"/>
          <p:cNvGrpSpPr/>
          <p:nvPr/>
        </p:nvGrpSpPr>
        <p:grpSpPr>
          <a:xfrm rot="20340906">
            <a:off x="7730508" y="2493988"/>
            <a:ext cx="1255363" cy="533544"/>
            <a:chOff x="1506400" y="3049911"/>
            <a:chExt cx="941522" cy="400158"/>
          </a:xfrm>
        </p:grpSpPr>
        <p:sp>
          <p:nvSpPr>
            <p:cNvPr id="6" name="正方形/長方形 5"/>
            <p:cNvSpPr/>
            <p:nvPr/>
          </p:nvSpPr>
          <p:spPr bwMode="auto">
            <a:xfrm rot="5400000">
              <a:off x="1763512" y="2798278"/>
              <a:ext cx="389199" cy="903423"/>
            </a:xfrm>
            <a:prstGeom prst="rect">
              <a:avLst/>
            </a:prstGeom>
            <a:solidFill>
              <a:schemeClr val="accent2">
                <a:lumMod val="10000"/>
                <a:lumOff val="90000"/>
              </a:schemeClr>
            </a:solidFill>
            <a:ln w="19050">
              <a:solidFill>
                <a:schemeClr val="accent6">
                  <a:lumMod val="90000"/>
                  <a:lumOff val="10000"/>
                </a:schemeClr>
              </a:solidFill>
            </a:ln>
            <a:effectLst/>
            <a:ex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400" b="1" dirty="0">
                <a:latin typeface="+mj-ea"/>
                <a:ea typeface="+mj-ea"/>
              </a:endParaRPr>
            </a:p>
          </p:txBody>
        </p:sp>
        <p:sp>
          <p:nvSpPr>
            <p:cNvPr id="7" name="テキスト ボックス 6"/>
            <p:cNvSpPr txBox="1"/>
            <p:nvPr/>
          </p:nvSpPr>
          <p:spPr>
            <a:xfrm>
              <a:off x="1693560" y="3049911"/>
              <a:ext cx="754362" cy="4001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467" b="1" dirty="0">
                  <a:solidFill>
                    <a:schemeClr val="accent6">
                      <a:lumMod val="90000"/>
                      <a:lumOff val="10000"/>
                    </a:schemeClr>
                  </a:solidFill>
                  <a:latin typeface="Arial Rounded MT Bold" panose="020F0704030504030204" pitchFamily="34" charset="0"/>
                </a:rPr>
                <a:t>TICKET</a:t>
              </a:r>
            </a:p>
            <a:p>
              <a:r>
                <a:rPr lang="en-US" altLang="ja-JP" sz="1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ST(TGS)</a:t>
              </a:r>
              <a:endParaRPr lang="ja-JP" altLang="en-US" sz="1400" b="1" dirty="0">
                <a:solidFill>
                  <a:srgbClr val="FF0000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8" name="正方形/長方形 7"/>
            <p:cNvSpPr/>
            <p:nvPr/>
          </p:nvSpPr>
          <p:spPr bwMode="auto">
            <a:xfrm>
              <a:off x="1506401" y="3055390"/>
              <a:ext cx="224664" cy="389199"/>
            </a:xfrm>
            <a:prstGeom prst="rect">
              <a:avLst/>
            </a:prstGeom>
            <a:solidFill>
              <a:schemeClr val="accent6">
                <a:lumMod val="90000"/>
                <a:lumOff val="10000"/>
              </a:schemeClr>
            </a:solidFill>
            <a:ln>
              <a:noFill/>
            </a:ln>
            <a:effectLst/>
            <a:ex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400" b="1" dirty="0">
                <a:latin typeface="+mj-ea"/>
                <a:ea typeface="+mj-ea"/>
              </a:endParaRPr>
            </a:p>
          </p:txBody>
        </p:sp>
        <p:cxnSp>
          <p:nvCxnSpPr>
            <p:cNvPr id="9" name="直線コネクタ 8"/>
            <p:cNvCxnSpPr/>
            <p:nvPr/>
          </p:nvCxnSpPr>
          <p:spPr bwMode="auto">
            <a:xfrm>
              <a:off x="1731065" y="3055390"/>
              <a:ext cx="7730" cy="389199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bg1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>
                        <a:alpha val="50000"/>
                      </a:schemeClr>
                    </a:outerShdw>
                  </a:effectLst>
                </a14:hiddenEffects>
              </a:ext>
            </a:extLst>
          </p:spPr>
        </p:cxnSp>
      </p:grpSp>
      <p:sp>
        <p:nvSpPr>
          <p:cNvPr id="10" name="テキスト ボックス 9"/>
          <p:cNvSpPr txBox="1"/>
          <p:nvPr/>
        </p:nvSpPr>
        <p:spPr>
          <a:xfrm>
            <a:off x="3550565" y="4285919"/>
            <a:ext cx="3071907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67" dirty="0"/>
              <a:t>Service</a:t>
            </a:r>
            <a:r>
              <a:rPr lang="ja-JP" altLang="en-US" sz="1467" dirty="0"/>
              <a:t> </a:t>
            </a:r>
            <a:r>
              <a:rPr lang="en-US" altLang="ja-JP" sz="1467" dirty="0"/>
              <a:t>Principal</a:t>
            </a:r>
            <a:r>
              <a:rPr lang="ja-JP" altLang="en-US" sz="1467" dirty="0"/>
              <a:t> </a:t>
            </a:r>
            <a:r>
              <a:rPr lang="en-US" altLang="ja-JP" sz="1467" dirty="0"/>
              <a:t>Name</a:t>
            </a:r>
            <a:endParaRPr lang="ja-JP" altLang="en-US" sz="1467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2915437" y="2547002"/>
            <a:ext cx="3071907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67" dirty="0"/>
              <a:t>Client</a:t>
            </a:r>
            <a:r>
              <a:rPr lang="ja-JP" altLang="en-US" sz="1467" dirty="0"/>
              <a:t> </a:t>
            </a:r>
            <a:r>
              <a:rPr lang="en-US" altLang="ja-JP" sz="1467" dirty="0"/>
              <a:t>Principal</a:t>
            </a:r>
            <a:r>
              <a:rPr lang="ja-JP" altLang="en-US" sz="1467" dirty="0"/>
              <a:t> </a:t>
            </a:r>
            <a:r>
              <a:rPr lang="en-US" altLang="ja-JP" sz="1467" dirty="0"/>
              <a:t>Name</a:t>
            </a:r>
            <a:endParaRPr lang="ja-JP" altLang="en-US" sz="1467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4315381" y="1727722"/>
            <a:ext cx="3415540" cy="4205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sz="2133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Client</a:t>
            </a:r>
            <a:r>
              <a:rPr lang="ja-JP" altLang="en-US" sz="2133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ja-JP" sz="2133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Principal</a:t>
            </a:r>
            <a:r>
              <a:rPr lang="ja-JP" altLang="en-US" sz="2133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ja-JP" sz="2133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Name</a:t>
            </a:r>
            <a:endParaRPr lang="ja-JP" altLang="en-US" sz="2133" b="1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13" name="直線コネクタ 12"/>
          <p:cNvCxnSpPr/>
          <p:nvPr/>
        </p:nvCxnSpPr>
        <p:spPr bwMode="auto">
          <a:xfrm flipH="1">
            <a:off x="2811773" y="1979139"/>
            <a:ext cx="1524891" cy="675219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chemeClr val="accent6">
                <a:lumMod val="90000"/>
                <a:lumOff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sp>
        <p:nvSpPr>
          <p:cNvPr id="14" name="テキスト ボックス 13"/>
          <p:cNvSpPr txBox="1"/>
          <p:nvPr/>
        </p:nvSpPr>
        <p:spPr>
          <a:xfrm>
            <a:off x="4743642" y="3541713"/>
            <a:ext cx="3653401" cy="4205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sz="2133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Service</a:t>
            </a:r>
            <a:r>
              <a:rPr lang="ja-JP" altLang="en-US" sz="2133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ja-JP" sz="2133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Principal</a:t>
            </a:r>
            <a:r>
              <a:rPr lang="ja-JP" altLang="en-US" sz="2133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ja-JP" sz="2133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Name</a:t>
            </a:r>
            <a:endParaRPr lang="ja-JP" altLang="en-US" sz="2133" b="1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15" name="直線コネクタ 14"/>
          <p:cNvCxnSpPr/>
          <p:nvPr/>
        </p:nvCxnSpPr>
        <p:spPr bwMode="auto">
          <a:xfrm flipH="1">
            <a:off x="3135731" y="3811782"/>
            <a:ext cx="1607911" cy="579785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chemeClr val="accent6">
                <a:lumMod val="90000"/>
                <a:lumOff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sp>
        <p:nvSpPr>
          <p:cNvPr id="16" name="テキスト ボックス 15"/>
          <p:cNvSpPr txBox="1"/>
          <p:nvPr/>
        </p:nvSpPr>
        <p:spPr>
          <a:xfrm>
            <a:off x="9425278" y="3002100"/>
            <a:ext cx="947404" cy="4205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sz="2133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ST</a:t>
            </a:r>
            <a:endParaRPr lang="ja-JP" altLang="en-US" sz="2133" b="1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17" name="直線コネクタ 16"/>
          <p:cNvCxnSpPr/>
          <p:nvPr/>
        </p:nvCxnSpPr>
        <p:spPr bwMode="auto">
          <a:xfrm flipH="1">
            <a:off x="8915400" y="3204902"/>
            <a:ext cx="509877" cy="184493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chemeClr val="accent6">
                <a:lumMod val="90000"/>
                <a:lumOff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sp>
        <p:nvSpPr>
          <p:cNvPr id="18" name="テキスト ボックス 17"/>
          <p:cNvSpPr txBox="1"/>
          <p:nvPr/>
        </p:nvSpPr>
        <p:spPr>
          <a:xfrm>
            <a:off x="5529643" y="4569635"/>
            <a:ext cx="4092947" cy="6669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1867" b="1" dirty="0">
                <a:solidFill>
                  <a:schemeClr val="accent6">
                    <a:lumMod val="90000"/>
                    <a:lumOff val="10000"/>
                  </a:schemeClr>
                </a:solidFill>
                <a:latin typeface="+mj-ea"/>
              </a:rPr>
              <a:t>サービスの</a:t>
            </a:r>
            <a:r>
              <a:rPr lang="en-US" altLang="ja-JP" sz="1867" b="1" dirty="0">
                <a:solidFill>
                  <a:schemeClr val="accent6">
                    <a:lumMod val="90000"/>
                    <a:lumOff val="10000"/>
                  </a:schemeClr>
                </a:solidFill>
                <a:latin typeface="+mj-ea"/>
              </a:rPr>
              <a:t>ntlm</a:t>
            </a:r>
            <a:r>
              <a:rPr lang="ja-JP" altLang="en-US" sz="1867" b="1" dirty="0">
                <a:solidFill>
                  <a:schemeClr val="accent6">
                    <a:lumMod val="90000"/>
                    <a:lumOff val="10000"/>
                  </a:schemeClr>
                </a:solidFill>
                <a:latin typeface="+mj-ea"/>
              </a:rPr>
              <a:t>ハッシュで</a:t>
            </a:r>
            <a:endParaRPr lang="en-US" altLang="ja-JP" sz="1867" b="1" dirty="0">
              <a:solidFill>
                <a:schemeClr val="accent6">
                  <a:lumMod val="90000"/>
                  <a:lumOff val="10000"/>
                </a:schemeClr>
              </a:solidFill>
              <a:latin typeface="+mj-ea"/>
            </a:endParaRPr>
          </a:p>
          <a:p>
            <a:r>
              <a:rPr lang="ja-JP" altLang="en-US" sz="1867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暗号化されたタイムスタンプ等情報</a:t>
            </a:r>
          </a:p>
        </p:txBody>
      </p:sp>
      <p:cxnSp>
        <p:nvCxnSpPr>
          <p:cNvPr id="19" name="直線コネクタ 18"/>
          <p:cNvCxnSpPr/>
          <p:nvPr/>
        </p:nvCxnSpPr>
        <p:spPr bwMode="auto">
          <a:xfrm flipH="1">
            <a:off x="4105128" y="4873557"/>
            <a:ext cx="1424515" cy="517223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chemeClr val="accent6">
                <a:lumMod val="90000"/>
                <a:lumOff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sp>
        <p:nvSpPr>
          <p:cNvPr id="20" name="テキスト ボックス 19"/>
          <p:cNvSpPr txBox="1"/>
          <p:nvPr/>
        </p:nvSpPr>
        <p:spPr>
          <a:xfrm>
            <a:off x="8076315" y="5763883"/>
            <a:ext cx="4092947" cy="6669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sz="1867" b="1" dirty="0">
                <a:solidFill>
                  <a:schemeClr val="accent6">
                    <a:lumMod val="90000"/>
                    <a:lumOff val="10000"/>
                  </a:schemeClr>
                </a:solidFill>
                <a:latin typeface="+mj-ea"/>
              </a:rPr>
              <a:t>TGT</a:t>
            </a:r>
            <a:r>
              <a:rPr lang="ja-JP" altLang="en-US" sz="1867" b="1" dirty="0">
                <a:solidFill>
                  <a:schemeClr val="accent6">
                    <a:lumMod val="90000"/>
                    <a:lumOff val="10000"/>
                  </a:schemeClr>
                </a:solidFill>
                <a:latin typeface="+mj-ea"/>
              </a:rPr>
              <a:t> </a:t>
            </a:r>
            <a:r>
              <a:rPr lang="en-US" altLang="ja-JP" sz="1867" b="1" dirty="0">
                <a:solidFill>
                  <a:schemeClr val="accent6">
                    <a:lumMod val="90000"/>
                    <a:lumOff val="10000"/>
                  </a:schemeClr>
                </a:solidFill>
                <a:latin typeface="+mj-ea"/>
              </a:rPr>
              <a:t>Session Key</a:t>
            </a:r>
            <a:r>
              <a:rPr lang="ja-JP" altLang="en-US" sz="1867" b="1" dirty="0">
                <a:solidFill>
                  <a:schemeClr val="accent6">
                    <a:lumMod val="90000"/>
                    <a:lumOff val="10000"/>
                  </a:schemeClr>
                </a:solidFill>
                <a:latin typeface="+mj-ea"/>
              </a:rPr>
              <a:t>で</a:t>
            </a:r>
            <a:endParaRPr lang="en-US" altLang="ja-JP" sz="1867" b="1" dirty="0">
              <a:solidFill>
                <a:schemeClr val="accent6">
                  <a:lumMod val="90000"/>
                  <a:lumOff val="10000"/>
                </a:schemeClr>
              </a:solidFill>
              <a:latin typeface="+mj-ea"/>
            </a:endParaRPr>
          </a:p>
          <a:p>
            <a:r>
              <a:rPr lang="ja-JP" altLang="en-US" sz="1867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暗号化されたタイムスタンプ等情報</a:t>
            </a:r>
          </a:p>
        </p:txBody>
      </p:sp>
      <p:cxnSp>
        <p:nvCxnSpPr>
          <p:cNvPr id="21" name="直線コネクタ 20"/>
          <p:cNvCxnSpPr/>
          <p:nvPr/>
        </p:nvCxnSpPr>
        <p:spPr bwMode="auto">
          <a:xfrm flipH="1">
            <a:off x="7679219" y="5922327"/>
            <a:ext cx="397096" cy="224283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chemeClr val="accent6">
                <a:lumMod val="90000"/>
                <a:lumOff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856237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3603"/>
            <a:ext cx="12192000" cy="501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267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/>
          <p:cNvSpPr/>
          <p:nvPr/>
        </p:nvSpPr>
        <p:spPr>
          <a:xfrm>
            <a:off x="637299" y="2731061"/>
            <a:ext cx="1840230" cy="6629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4776</a:t>
            </a:r>
          </a:p>
          <a:p>
            <a:pPr algn="ctr"/>
            <a:r>
              <a:rPr lang="en-US" altLang="ja-JP" dirty="0" smtClean="0">
                <a:solidFill>
                  <a:schemeClr val="tx1"/>
                </a:solidFill>
              </a:rPr>
              <a:t>NTLM</a:t>
            </a:r>
            <a:r>
              <a:rPr lang="ja-JP" altLang="en-US" dirty="0" smtClean="0">
                <a:solidFill>
                  <a:schemeClr val="tx1"/>
                </a:solidFill>
              </a:rPr>
              <a:t>認証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2772701" y="2731061"/>
            <a:ext cx="1840230" cy="6629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4624</a:t>
            </a:r>
          </a:p>
          <a:p>
            <a:pPr algn="ctr"/>
            <a:r>
              <a:rPr lang="ja-JP" altLang="en-US" dirty="0">
                <a:solidFill>
                  <a:schemeClr val="tx1"/>
                </a:solidFill>
              </a:rPr>
              <a:t>ログイン</a:t>
            </a:r>
            <a:r>
              <a:rPr lang="ja-JP" altLang="en-US" dirty="0" smtClean="0">
                <a:solidFill>
                  <a:schemeClr val="tx1"/>
                </a:solidFill>
              </a:rPr>
              <a:t>の成功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4908103" y="2731061"/>
            <a:ext cx="1840230" cy="6629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>
                <a:solidFill>
                  <a:schemeClr val="tx1"/>
                </a:solidFill>
              </a:rPr>
              <a:t>4768</a:t>
            </a:r>
            <a:endParaRPr kumimoji="1" lang="en-US" altLang="ja-JP" dirty="0" smtClean="0">
              <a:solidFill>
                <a:schemeClr val="tx1"/>
              </a:solidFill>
            </a:endParaRPr>
          </a:p>
          <a:p>
            <a:pPr algn="ctr"/>
            <a:r>
              <a:rPr lang="en-US" altLang="ja-JP" dirty="0">
                <a:solidFill>
                  <a:schemeClr val="tx1"/>
                </a:solidFill>
              </a:rPr>
              <a:t>TGT</a:t>
            </a:r>
            <a:r>
              <a:rPr lang="ja-JP" altLang="en-US" dirty="0">
                <a:solidFill>
                  <a:schemeClr val="tx1"/>
                </a:solidFill>
              </a:rPr>
              <a:t>要求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7043505" y="2731061"/>
            <a:ext cx="1840230" cy="6629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>
                <a:solidFill>
                  <a:schemeClr val="tx1"/>
                </a:solidFill>
              </a:rPr>
              <a:t>4769</a:t>
            </a:r>
            <a:endParaRPr kumimoji="1" lang="en-US" altLang="ja-JP" dirty="0" smtClean="0">
              <a:solidFill>
                <a:schemeClr val="tx1"/>
              </a:solidFill>
            </a:endParaRPr>
          </a:p>
          <a:p>
            <a:pPr algn="ctr"/>
            <a:r>
              <a:rPr lang="en-US" altLang="ja-JP" dirty="0" smtClean="0">
                <a:solidFill>
                  <a:schemeClr val="tx1"/>
                </a:solidFill>
              </a:rPr>
              <a:t>ST</a:t>
            </a:r>
            <a:r>
              <a:rPr lang="ja-JP" altLang="en-US" dirty="0" smtClean="0">
                <a:solidFill>
                  <a:schemeClr val="tx1"/>
                </a:solidFill>
              </a:rPr>
              <a:t>要求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9178907" y="2731061"/>
            <a:ext cx="1840230" cy="6629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>
                <a:solidFill>
                  <a:schemeClr val="tx1"/>
                </a:solidFill>
              </a:rPr>
              <a:t>4634</a:t>
            </a:r>
            <a:endParaRPr kumimoji="1" lang="en-US" altLang="ja-JP" dirty="0" smtClean="0">
              <a:solidFill>
                <a:schemeClr val="tx1"/>
              </a:solidFill>
            </a:endParaRPr>
          </a:p>
          <a:p>
            <a:pPr algn="ctr"/>
            <a:r>
              <a:rPr lang="ja-JP" altLang="en-US" dirty="0">
                <a:solidFill>
                  <a:schemeClr val="tx1"/>
                </a:solidFill>
              </a:rPr>
              <a:t>ログオフ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45" y="656260"/>
            <a:ext cx="10424396" cy="1605026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/>
        </p:nvPicPr>
        <p:blipFill rotWithShape="1">
          <a:blip r:embed="rId3"/>
          <a:srcRect r="12161"/>
          <a:stretch/>
        </p:blipFill>
        <p:spPr>
          <a:xfrm>
            <a:off x="287383" y="3835784"/>
            <a:ext cx="5838925" cy="22157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図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4190" y="4807734"/>
            <a:ext cx="6459089" cy="17664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正方形/長方形 11"/>
          <p:cNvSpPr/>
          <p:nvPr/>
        </p:nvSpPr>
        <p:spPr>
          <a:xfrm>
            <a:off x="1631831" y="6051531"/>
            <a:ext cx="13389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>
                <a:latin typeface="Segoe UI" panose="020B0502040204020203" pitchFamily="34" charset="0"/>
              </a:rPr>
              <a:t>RC4-HMAC</a:t>
            </a:r>
            <a:endParaRPr lang="ja-JP" altLang="en-US" dirty="0"/>
          </a:p>
        </p:txBody>
      </p:sp>
      <p:cxnSp>
        <p:nvCxnSpPr>
          <p:cNvPr id="14" name="直線矢印コネクタ 13"/>
          <p:cNvCxnSpPr>
            <a:stCxn id="3" idx="3"/>
            <a:endCxn id="4" idx="1"/>
          </p:cNvCxnSpPr>
          <p:nvPr/>
        </p:nvCxnSpPr>
        <p:spPr>
          <a:xfrm>
            <a:off x="2477529" y="3062531"/>
            <a:ext cx="2951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/>
          <p:cNvCxnSpPr>
            <a:stCxn id="4" idx="3"/>
            <a:endCxn id="5" idx="1"/>
          </p:cNvCxnSpPr>
          <p:nvPr/>
        </p:nvCxnSpPr>
        <p:spPr>
          <a:xfrm>
            <a:off x="4612931" y="3062531"/>
            <a:ext cx="2951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/>
          <p:cNvCxnSpPr>
            <a:stCxn id="5" idx="3"/>
            <a:endCxn id="6" idx="1"/>
          </p:cNvCxnSpPr>
          <p:nvPr/>
        </p:nvCxnSpPr>
        <p:spPr>
          <a:xfrm>
            <a:off x="6748333" y="3062531"/>
            <a:ext cx="2951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/>
          <p:cNvCxnSpPr>
            <a:stCxn id="6" idx="3"/>
            <a:endCxn id="7" idx="1"/>
          </p:cNvCxnSpPr>
          <p:nvPr/>
        </p:nvCxnSpPr>
        <p:spPr>
          <a:xfrm>
            <a:off x="8883735" y="3062531"/>
            <a:ext cx="2951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カギ線コネクタ 27"/>
          <p:cNvCxnSpPr>
            <a:stCxn id="5" idx="2"/>
            <a:endCxn id="10" idx="0"/>
          </p:cNvCxnSpPr>
          <p:nvPr/>
        </p:nvCxnSpPr>
        <p:spPr>
          <a:xfrm rot="5400000">
            <a:off x="4296641" y="2304206"/>
            <a:ext cx="441783" cy="2621372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カギ線コネクタ 29"/>
          <p:cNvCxnSpPr>
            <a:stCxn id="6" idx="2"/>
            <a:endCxn id="11" idx="0"/>
          </p:cNvCxnSpPr>
          <p:nvPr/>
        </p:nvCxnSpPr>
        <p:spPr>
          <a:xfrm rot="16200000" flipH="1">
            <a:off x="7716811" y="3640809"/>
            <a:ext cx="1413733" cy="92011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69618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777240" y="3001176"/>
            <a:ext cx="108863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3600" dirty="0" smtClean="0"/>
              <a:t>Steal or </a:t>
            </a:r>
            <a:r>
              <a:rPr lang="en-US" altLang="ja-JP" sz="3600" dirty="0"/>
              <a:t>Forge Kerberos Tickets: AS-REP Roasting</a:t>
            </a:r>
            <a:endParaRPr lang="ja-JP" altLang="en-US" sz="3600" dirty="0"/>
          </a:p>
        </p:txBody>
      </p:sp>
      <p:graphicFrame>
        <p:nvGraphicFramePr>
          <p:cNvPr id="3" name="表 2"/>
          <p:cNvGraphicFramePr>
            <a:graphicFrameLocks noGrp="1"/>
          </p:cNvGraphicFramePr>
          <p:nvPr>
            <p:extLst/>
          </p:nvPr>
        </p:nvGraphicFramePr>
        <p:xfrm>
          <a:off x="7633596" y="140690"/>
          <a:ext cx="4274279" cy="12371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0457">
                  <a:extLst>
                    <a:ext uri="{9D8B030D-6E8A-4147-A177-3AD203B41FA5}">
                      <a16:colId xmlns:a16="http://schemas.microsoft.com/office/drawing/2014/main" val="1219822650"/>
                    </a:ext>
                  </a:extLst>
                </a:gridCol>
                <a:gridCol w="2793822">
                  <a:extLst>
                    <a:ext uri="{9D8B030D-6E8A-4147-A177-3AD203B41FA5}">
                      <a16:colId xmlns:a16="http://schemas.microsoft.com/office/drawing/2014/main" val="157075404"/>
                    </a:ext>
                  </a:extLst>
                </a:gridCol>
              </a:tblGrid>
              <a:tr h="221021">
                <a:tc>
                  <a:txBody>
                    <a:bodyPr/>
                    <a:lstStyle/>
                    <a:p>
                      <a:r>
                        <a:rPr lang="en-US" altLang="ja-JP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</a:t>
                      </a:r>
                      <a:endParaRPr kumimoji="1" lang="ja-JP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T1558.004</a:t>
                      </a:r>
                      <a:endParaRPr lang="ja-JP" altLang="en-US" sz="1400" b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4530879"/>
                  </a:ext>
                </a:extLst>
              </a:tr>
              <a:tr h="221021">
                <a:tc>
                  <a:txBody>
                    <a:bodyPr/>
                    <a:lstStyle/>
                    <a:p>
                      <a:r>
                        <a:rPr lang="en-US" altLang="ja-JP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Tactic</a:t>
                      </a:r>
                      <a:endParaRPr kumimoji="1" lang="ja-JP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Credential Access</a:t>
                      </a:r>
                      <a:endParaRPr kumimoji="1" lang="en-US" altLang="ja-JP" sz="1400" b="0" i="0" kern="1200" dirty="0" smtClean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099282"/>
                  </a:ext>
                </a:extLst>
              </a:tr>
              <a:tr h="221021">
                <a:tc>
                  <a:txBody>
                    <a:bodyPr/>
                    <a:lstStyle/>
                    <a:p>
                      <a:r>
                        <a:rPr lang="en-US" altLang="ja-JP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Techniques</a:t>
                      </a:r>
                      <a:endParaRPr kumimoji="1" lang="ja-JP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Steal or Forge Kerberos Ticket</a:t>
                      </a:r>
                      <a:endParaRPr kumimoji="1" lang="en-US" altLang="ja-JP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4952819"/>
                  </a:ext>
                </a:extLst>
              </a:tr>
              <a:tr h="322718">
                <a:tc>
                  <a:txBody>
                    <a:bodyPr/>
                    <a:lstStyle/>
                    <a:p>
                      <a:r>
                        <a:rPr lang="en-US" altLang="ja-JP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Sub-techniques</a:t>
                      </a:r>
                      <a:endParaRPr kumimoji="1" lang="ja-JP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AS-REP Roasting</a:t>
                      </a:r>
                      <a:endParaRPr kumimoji="1" lang="en-US" altLang="ja-JP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100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9615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/>
          </p:cNvSpPr>
          <p:nvPr/>
        </p:nvSpPr>
        <p:spPr>
          <a:xfrm>
            <a:off x="239351" y="38400"/>
            <a:ext cx="11712000" cy="62400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 smtClean="0"/>
              <a:t>AS-REQ / AS-REP</a:t>
            </a:r>
            <a:endParaRPr lang="ja-JP" altLang="en-US" dirty="0"/>
          </a:p>
        </p:txBody>
      </p:sp>
      <p:grpSp>
        <p:nvGrpSpPr>
          <p:cNvPr id="3" name="グループ化 2"/>
          <p:cNvGrpSpPr/>
          <p:nvPr/>
        </p:nvGrpSpPr>
        <p:grpSpPr>
          <a:xfrm>
            <a:off x="4094278" y="937167"/>
            <a:ext cx="622300" cy="844551"/>
            <a:chOff x="1123950" y="2674938"/>
            <a:chExt cx="466725" cy="633413"/>
          </a:xfrm>
        </p:grpSpPr>
        <p:sp>
          <p:nvSpPr>
            <p:cNvPr id="4" name="Freeform 152"/>
            <p:cNvSpPr>
              <a:spLocks/>
            </p:cNvSpPr>
            <p:nvPr/>
          </p:nvSpPr>
          <p:spPr bwMode="auto">
            <a:xfrm>
              <a:off x="1123950" y="2674938"/>
              <a:ext cx="307975" cy="633413"/>
            </a:xfrm>
            <a:custGeom>
              <a:avLst/>
              <a:gdLst>
                <a:gd name="T0" fmla="*/ 54 w 119"/>
                <a:gd name="T1" fmla="*/ 245 h 245"/>
                <a:gd name="T2" fmla="*/ 62 w 119"/>
                <a:gd name="T3" fmla="*/ 221 h 245"/>
                <a:gd name="T4" fmla="*/ 18 w 119"/>
                <a:gd name="T5" fmla="*/ 221 h 245"/>
                <a:gd name="T6" fmla="*/ 18 w 119"/>
                <a:gd name="T7" fmla="*/ 212 h 245"/>
                <a:gd name="T8" fmla="*/ 21 w 119"/>
                <a:gd name="T9" fmla="*/ 209 h 245"/>
                <a:gd name="T10" fmla="*/ 67 w 119"/>
                <a:gd name="T11" fmla="*/ 209 h 245"/>
                <a:gd name="T12" fmla="*/ 70 w 119"/>
                <a:gd name="T13" fmla="*/ 209 h 245"/>
                <a:gd name="T14" fmla="*/ 76 w 119"/>
                <a:gd name="T15" fmla="*/ 197 h 245"/>
                <a:gd name="T16" fmla="*/ 73 w 119"/>
                <a:gd name="T17" fmla="*/ 197 h 245"/>
                <a:gd name="T18" fmla="*/ 21 w 119"/>
                <a:gd name="T19" fmla="*/ 197 h 245"/>
                <a:gd name="T20" fmla="*/ 19 w 119"/>
                <a:gd name="T21" fmla="*/ 197 h 245"/>
                <a:gd name="T22" fmla="*/ 18 w 119"/>
                <a:gd name="T23" fmla="*/ 196 h 245"/>
                <a:gd name="T24" fmla="*/ 18 w 119"/>
                <a:gd name="T25" fmla="*/ 185 h 245"/>
                <a:gd name="T26" fmla="*/ 21 w 119"/>
                <a:gd name="T27" fmla="*/ 185 h 245"/>
                <a:gd name="T28" fmla="*/ 81 w 119"/>
                <a:gd name="T29" fmla="*/ 185 h 245"/>
                <a:gd name="T30" fmla="*/ 85 w 119"/>
                <a:gd name="T31" fmla="*/ 183 h 245"/>
                <a:gd name="T32" fmla="*/ 104 w 119"/>
                <a:gd name="T33" fmla="*/ 149 h 245"/>
                <a:gd name="T34" fmla="*/ 119 w 119"/>
                <a:gd name="T35" fmla="*/ 137 h 245"/>
                <a:gd name="T36" fmla="*/ 119 w 119"/>
                <a:gd name="T37" fmla="*/ 135 h 245"/>
                <a:gd name="T38" fmla="*/ 119 w 119"/>
                <a:gd name="T39" fmla="*/ 13 h 245"/>
                <a:gd name="T40" fmla="*/ 119 w 119"/>
                <a:gd name="T41" fmla="*/ 9 h 245"/>
                <a:gd name="T42" fmla="*/ 106 w 119"/>
                <a:gd name="T43" fmla="*/ 0 h 245"/>
                <a:gd name="T44" fmla="*/ 14 w 119"/>
                <a:gd name="T45" fmla="*/ 0 h 245"/>
                <a:gd name="T46" fmla="*/ 0 w 119"/>
                <a:gd name="T47" fmla="*/ 14 h 245"/>
                <a:gd name="T48" fmla="*/ 0 w 119"/>
                <a:gd name="T49" fmla="*/ 242 h 245"/>
                <a:gd name="T50" fmla="*/ 0 w 119"/>
                <a:gd name="T51" fmla="*/ 245 h 245"/>
                <a:gd name="T52" fmla="*/ 54 w 119"/>
                <a:gd name="T53" fmla="*/ 245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9" h="245">
                  <a:moveTo>
                    <a:pt x="54" y="245"/>
                  </a:moveTo>
                  <a:cubicBezTo>
                    <a:pt x="52" y="235"/>
                    <a:pt x="59" y="229"/>
                    <a:pt x="62" y="221"/>
                  </a:cubicBezTo>
                  <a:cubicBezTo>
                    <a:pt x="47" y="221"/>
                    <a:pt x="33" y="221"/>
                    <a:pt x="18" y="221"/>
                  </a:cubicBezTo>
                  <a:cubicBezTo>
                    <a:pt x="18" y="218"/>
                    <a:pt x="18" y="215"/>
                    <a:pt x="18" y="212"/>
                  </a:cubicBezTo>
                  <a:cubicBezTo>
                    <a:pt x="18" y="210"/>
                    <a:pt x="18" y="209"/>
                    <a:pt x="21" y="209"/>
                  </a:cubicBezTo>
                  <a:cubicBezTo>
                    <a:pt x="36" y="209"/>
                    <a:pt x="52" y="209"/>
                    <a:pt x="67" y="209"/>
                  </a:cubicBezTo>
                  <a:cubicBezTo>
                    <a:pt x="68" y="209"/>
                    <a:pt x="70" y="209"/>
                    <a:pt x="70" y="209"/>
                  </a:cubicBezTo>
                  <a:cubicBezTo>
                    <a:pt x="72" y="205"/>
                    <a:pt x="74" y="202"/>
                    <a:pt x="76" y="197"/>
                  </a:cubicBezTo>
                  <a:cubicBezTo>
                    <a:pt x="75" y="197"/>
                    <a:pt x="74" y="197"/>
                    <a:pt x="73" y="197"/>
                  </a:cubicBezTo>
                  <a:cubicBezTo>
                    <a:pt x="56" y="197"/>
                    <a:pt x="38" y="197"/>
                    <a:pt x="21" y="197"/>
                  </a:cubicBezTo>
                  <a:cubicBezTo>
                    <a:pt x="20" y="197"/>
                    <a:pt x="20" y="198"/>
                    <a:pt x="19" y="197"/>
                  </a:cubicBezTo>
                  <a:cubicBezTo>
                    <a:pt x="19" y="197"/>
                    <a:pt x="18" y="197"/>
                    <a:pt x="18" y="196"/>
                  </a:cubicBezTo>
                  <a:cubicBezTo>
                    <a:pt x="18" y="193"/>
                    <a:pt x="18" y="189"/>
                    <a:pt x="18" y="185"/>
                  </a:cubicBezTo>
                  <a:cubicBezTo>
                    <a:pt x="19" y="185"/>
                    <a:pt x="20" y="185"/>
                    <a:pt x="21" y="185"/>
                  </a:cubicBezTo>
                  <a:cubicBezTo>
                    <a:pt x="41" y="185"/>
                    <a:pt x="61" y="185"/>
                    <a:pt x="81" y="185"/>
                  </a:cubicBezTo>
                  <a:cubicBezTo>
                    <a:pt x="83" y="185"/>
                    <a:pt x="84" y="185"/>
                    <a:pt x="85" y="183"/>
                  </a:cubicBezTo>
                  <a:cubicBezTo>
                    <a:pt x="91" y="172"/>
                    <a:pt x="98" y="161"/>
                    <a:pt x="104" y="149"/>
                  </a:cubicBezTo>
                  <a:cubicBezTo>
                    <a:pt x="108" y="143"/>
                    <a:pt x="112" y="138"/>
                    <a:pt x="119" y="137"/>
                  </a:cubicBezTo>
                  <a:cubicBezTo>
                    <a:pt x="119" y="137"/>
                    <a:pt x="119" y="136"/>
                    <a:pt x="119" y="135"/>
                  </a:cubicBezTo>
                  <a:cubicBezTo>
                    <a:pt x="119" y="95"/>
                    <a:pt x="119" y="54"/>
                    <a:pt x="119" y="13"/>
                  </a:cubicBezTo>
                  <a:cubicBezTo>
                    <a:pt x="119" y="11"/>
                    <a:pt x="119" y="10"/>
                    <a:pt x="119" y="9"/>
                  </a:cubicBezTo>
                  <a:cubicBezTo>
                    <a:pt x="117" y="3"/>
                    <a:pt x="113" y="0"/>
                    <a:pt x="106" y="0"/>
                  </a:cubicBezTo>
                  <a:cubicBezTo>
                    <a:pt x="75" y="0"/>
                    <a:pt x="44" y="0"/>
                    <a:pt x="14" y="0"/>
                  </a:cubicBezTo>
                  <a:cubicBezTo>
                    <a:pt x="6" y="0"/>
                    <a:pt x="0" y="5"/>
                    <a:pt x="0" y="14"/>
                  </a:cubicBezTo>
                  <a:cubicBezTo>
                    <a:pt x="0" y="90"/>
                    <a:pt x="0" y="166"/>
                    <a:pt x="0" y="242"/>
                  </a:cubicBezTo>
                  <a:cubicBezTo>
                    <a:pt x="0" y="243"/>
                    <a:pt x="0" y="244"/>
                    <a:pt x="0" y="245"/>
                  </a:cubicBezTo>
                  <a:cubicBezTo>
                    <a:pt x="18" y="245"/>
                    <a:pt x="36" y="245"/>
                    <a:pt x="54" y="2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5" name="Freeform 153"/>
            <p:cNvSpPr>
              <a:spLocks/>
            </p:cNvSpPr>
            <p:nvPr/>
          </p:nvSpPr>
          <p:spPr bwMode="auto">
            <a:xfrm>
              <a:off x="1292225" y="3059113"/>
              <a:ext cx="298450" cy="249238"/>
            </a:xfrm>
            <a:custGeom>
              <a:avLst/>
              <a:gdLst>
                <a:gd name="T0" fmla="*/ 57 w 115"/>
                <a:gd name="T1" fmla="*/ 96 h 96"/>
                <a:gd name="T2" fmla="*/ 107 w 115"/>
                <a:gd name="T3" fmla="*/ 96 h 96"/>
                <a:gd name="T4" fmla="*/ 113 w 115"/>
                <a:gd name="T5" fmla="*/ 94 h 96"/>
                <a:gd name="T6" fmla="*/ 112 w 115"/>
                <a:gd name="T7" fmla="*/ 88 h 96"/>
                <a:gd name="T8" fmla="*/ 67 w 115"/>
                <a:gd name="T9" fmla="*/ 12 h 96"/>
                <a:gd name="T10" fmla="*/ 61 w 115"/>
                <a:gd name="T11" fmla="*/ 3 h 96"/>
                <a:gd name="T12" fmla="*/ 54 w 115"/>
                <a:gd name="T13" fmla="*/ 3 h 96"/>
                <a:gd name="T14" fmla="*/ 53 w 115"/>
                <a:gd name="T15" fmla="*/ 5 h 96"/>
                <a:gd name="T16" fmla="*/ 2 w 115"/>
                <a:gd name="T17" fmla="*/ 89 h 96"/>
                <a:gd name="T18" fmla="*/ 1 w 115"/>
                <a:gd name="T19" fmla="*/ 94 h 96"/>
                <a:gd name="T20" fmla="*/ 6 w 115"/>
                <a:gd name="T21" fmla="*/ 96 h 96"/>
                <a:gd name="T22" fmla="*/ 57 w 115"/>
                <a:gd name="T23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5" h="96">
                  <a:moveTo>
                    <a:pt x="57" y="96"/>
                  </a:moveTo>
                  <a:cubicBezTo>
                    <a:pt x="74" y="96"/>
                    <a:pt x="91" y="96"/>
                    <a:pt x="107" y="96"/>
                  </a:cubicBezTo>
                  <a:cubicBezTo>
                    <a:pt x="110" y="96"/>
                    <a:pt x="112" y="96"/>
                    <a:pt x="113" y="94"/>
                  </a:cubicBezTo>
                  <a:cubicBezTo>
                    <a:pt x="115" y="92"/>
                    <a:pt x="113" y="90"/>
                    <a:pt x="112" y="88"/>
                  </a:cubicBezTo>
                  <a:cubicBezTo>
                    <a:pt x="97" y="63"/>
                    <a:pt x="82" y="37"/>
                    <a:pt x="67" y="12"/>
                  </a:cubicBezTo>
                  <a:cubicBezTo>
                    <a:pt x="65" y="9"/>
                    <a:pt x="63" y="6"/>
                    <a:pt x="61" y="3"/>
                  </a:cubicBezTo>
                  <a:cubicBezTo>
                    <a:pt x="59" y="0"/>
                    <a:pt x="56" y="0"/>
                    <a:pt x="54" y="3"/>
                  </a:cubicBezTo>
                  <a:cubicBezTo>
                    <a:pt x="53" y="3"/>
                    <a:pt x="53" y="4"/>
                    <a:pt x="53" y="5"/>
                  </a:cubicBezTo>
                  <a:cubicBezTo>
                    <a:pt x="36" y="33"/>
                    <a:pt x="19" y="61"/>
                    <a:pt x="2" y="89"/>
                  </a:cubicBezTo>
                  <a:cubicBezTo>
                    <a:pt x="1" y="91"/>
                    <a:pt x="0" y="93"/>
                    <a:pt x="1" y="94"/>
                  </a:cubicBezTo>
                  <a:cubicBezTo>
                    <a:pt x="2" y="95"/>
                    <a:pt x="5" y="96"/>
                    <a:pt x="6" y="96"/>
                  </a:cubicBezTo>
                  <a:cubicBezTo>
                    <a:pt x="23" y="96"/>
                    <a:pt x="40" y="96"/>
                    <a:pt x="57" y="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6" name="Freeform 154"/>
            <p:cNvSpPr>
              <a:spLocks/>
            </p:cNvSpPr>
            <p:nvPr/>
          </p:nvSpPr>
          <p:spPr bwMode="auto">
            <a:xfrm>
              <a:off x="1123950" y="2674938"/>
              <a:ext cx="307975" cy="633413"/>
            </a:xfrm>
            <a:custGeom>
              <a:avLst/>
              <a:gdLst>
                <a:gd name="T0" fmla="*/ 54 w 119"/>
                <a:gd name="T1" fmla="*/ 245 h 245"/>
                <a:gd name="T2" fmla="*/ 0 w 119"/>
                <a:gd name="T3" fmla="*/ 245 h 245"/>
                <a:gd name="T4" fmla="*/ 0 w 119"/>
                <a:gd name="T5" fmla="*/ 242 h 245"/>
                <a:gd name="T6" fmla="*/ 0 w 119"/>
                <a:gd name="T7" fmla="*/ 14 h 245"/>
                <a:gd name="T8" fmla="*/ 14 w 119"/>
                <a:gd name="T9" fmla="*/ 0 h 245"/>
                <a:gd name="T10" fmla="*/ 106 w 119"/>
                <a:gd name="T11" fmla="*/ 0 h 245"/>
                <a:gd name="T12" fmla="*/ 119 w 119"/>
                <a:gd name="T13" fmla="*/ 9 h 245"/>
                <a:gd name="T14" fmla="*/ 119 w 119"/>
                <a:gd name="T15" fmla="*/ 13 h 245"/>
                <a:gd name="T16" fmla="*/ 119 w 119"/>
                <a:gd name="T17" fmla="*/ 135 h 245"/>
                <a:gd name="T18" fmla="*/ 119 w 119"/>
                <a:gd name="T19" fmla="*/ 137 h 245"/>
                <a:gd name="T20" fmla="*/ 104 w 119"/>
                <a:gd name="T21" fmla="*/ 149 h 245"/>
                <a:gd name="T22" fmla="*/ 85 w 119"/>
                <a:gd name="T23" fmla="*/ 183 h 245"/>
                <a:gd name="T24" fmla="*/ 81 w 119"/>
                <a:gd name="T25" fmla="*/ 185 h 245"/>
                <a:gd name="T26" fmla="*/ 21 w 119"/>
                <a:gd name="T27" fmla="*/ 185 h 245"/>
                <a:gd name="T28" fmla="*/ 18 w 119"/>
                <a:gd name="T29" fmla="*/ 185 h 245"/>
                <a:gd name="T30" fmla="*/ 18 w 119"/>
                <a:gd name="T31" fmla="*/ 196 h 245"/>
                <a:gd name="T32" fmla="*/ 19 w 119"/>
                <a:gd name="T33" fmla="*/ 197 h 245"/>
                <a:gd name="T34" fmla="*/ 21 w 119"/>
                <a:gd name="T35" fmla="*/ 197 h 245"/>
                <a:gd name="T36" fmla="*/ 73 w 119"/>
                <a:gd name="T37" fmla="*/ 197 h 245"/>
                <a:gd name="T38" fmla="*/ 76 w 119"/>
                <a:gd name="T39" fmla="*/ 197 h 245"/>
                <a:gd name="T40" fmla="*/ 70 w 119"/>
                <a:gd name="T41" fmla="*/ 209 h 245"/>
                <a:gd name="T42" fmla="*/ 67 w 119"/>
                <a:gd name="T43" fmla="*/ 209 h 245"/>
                <a:gd name="T44" fmla="*/ 21 w 119"/>
                <a:gd name="T45" fmla="*/ 209 h 245"/>
                <a:gd name="T46" fmla="*/ 18 w 119"/>
                <a:gd name="T47" fmla="*/ 212 h 245"/>
                <a:gd name="T48" fmla="*/ 18 w 119"/>
                <a:gd name="T49" fmla="*/ 221 h 245"/>
                <a:gd name="T50" fmla="*/ 62 w 119"/>
                <a:gd name="T51" fmla="*/ 221 h 245"/>
                <a:gd name="T52" fmla="*/ 54 w 119"/>
                <a:gd name="T53" fmla="*/ 245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9" h="245">
                  <a:moveTo>
                    <a:pt x="54" y="245"/>
                  </a:moveTo>
                  <a:cubicBezTo>
                    <a:pt x="36" y="245"/>
                    <a:pt x="18" y="245"/>
                    <a:pt x="0" y="245"/>
                  </a:cubicBezTo>
                  <a:cubicBezTo>
                    <a:pt x="0" y="244"/>
                    <a:pt x="0" y="243"/>
                    <a:pt x="0" y="242"/>
                  </a:cubicBezTo>
                  <a:cubicBezTo>
                    <a:pt x="0" y="166"/>
                    <a:pt x="0" y="90"/>
                    <a:pt x="0" y="14"/>
                  </a:cubicBezTo>
                  <a:cubicBezTo>
                    <a:pt x="0" y="5"/>
                    <a:pt x="6" y="0"/>
                    <a:pt x="14" y="0"/>
                  </a:cubicBezTo>
                  <a:cubicBezTo>
                    <a:pt x="44" y="0"/>
                    <a:pt x="75" y="0"/>
                    <a:pt x="106" y="0"/>
                  </a:cubicBezTo>
                  <a:cubicBezTo>
                    <a:pt x="113" y="0"/>
                    <a:pt x="117" y="3"/>
                    <a:pt x="119" y="9"/>
                  </a:cubicBezTo>
                  <a:cubicBezTo>
                    <a:pt x="119" y="10"/>
                    <a:pt x="119" y="11"/>
                    <a:pt x="119" y="13"/>
                  </a:cubicBezTo>
                  <a:cubicBezTo>
                    <a:pt x="119" y="54"/>
                    <a:pt x="119" y="95"/>
                    <a:pt x="119" y="135"/>
                  </a:cubicBezTo>
                  <a:cubicBezTo>
                    <a:pt x="119" y="136"/>
                    <a:pt x="119" y="137"/>
                    <a:pt x="119" y="137"/>
                  </a:cubicBezTo>
                  <a:cubicBezTo>
                    <a:pt x="112" y="138"/>
                    <a:pt x="108" y="143"/>
                    <a:pt x="104" y="149"/>
                  </a:cubicBezTo>
                  <a:cubicBezTo>
                    <a:pt x="98" y="161"/>
                    <a:pt x="91" y="172"/>
                    <a:pt x="85" y="183"/>
                  </a:cubicBezTo>
                  <a:cubicBezTo>
                    <a:pt x="84" y="185"/>
                    <a:pt x="83" y="185"/>
                    <a:pt x="81" y="185"/>
                  </a:cubicBezTo>
                  <a:cubicBezTo>
                    <a:pt x="61" y="185"/>
                    <a:pt x="41" y="185"/>
                    <a:pt x="21" y="185"/>
                  </a:cubicBezTo>
                  <a:cubicBezTo>
                    <a:pt x="20" y="185"/>
                    <a:pt x="19" y="185"/>
                    <a:pt x="18" y="185"/>
                  </a:cubicBezTo>
                  <a:cubicBezTo>
                    <a:pt x="18" y="189"/>
                    <a:pt x="18" y="193"/>
                    <a:pt x="18" y="196"/>
                  </a:cubicBezTo>
                  <a:cubicBezTo>
                    <a:pt x="18" y="197"/>
                    <a:pt x="19" y="197"/>
                    <a:pt x="19" y="197"/>
                  </a:cubicBezTo>
                  <a:cubicBezTo>
                    <a:pt x="20" y="198"/>
                    <a:pt x="20" y="197"/>
                    <a:pt x="21" y="197"/>
                  </a:cubicBezTo>
                  <a:cubicBezTo>
                    <a:pt x="38" y="197"/>
                    <a:pt x="56" y="197"/>
                    <a:pt x="73" y="197"/>
                  </a:cubicBezTo>
                  <a:cubicBezTo>
                    <a:pt x="74" y="197"/>
                    <a:pt x="75" y="197"/>
                    <a:pt x="76" y="197"/>
                  </a:cubicBezTo>
                  <a:cubicBezTo>
                    <a:pt x="74" y="202"/>
                    <a:pt x="72" y="205"/>
                    <a:pt x="70" y="209"/>
                  </a:cubicBezTo>
                  <a:cubicBezTo>
                    <a:pt x="70" y="209"/>
                    <a:pt x="68" y="209"/>
                    <a:pt x="67" y="209"/>
                  </a:cubicBezTo>
                  <a:cubicBezTo>
                    <a:pt x="52" y="209"/>
                    <a:pt x="36" y="209"/>
                    <a:pt x="21" y="209"/>
                  </a:cubicBezTo>
                  <a:cubicBezTo>
                    <a:pt x="18" y="209"/>
                    <a:pt x="18" y="210"/>
                    <a:pt x="18" y="212"/>
                  </a:cubicBezTo>
                  <a:cubicBezTo>
                    <a:pt x="18" y="215"/>
                    <a:pt x="18" y="218"/>
                    <a:pt x="18" y="221"/>
                  </a:cubicBezTo>
                  <a:cubicBezTo>
                    <a:pt x="33" y="221"/>
                    <a:pt x="47" y="221"/>
                    <a:pt x="62" y="221"/>
                  </a:cubicBezTo>
                  <a:cubicBezTo>
                    <a:pt x="59" y="229"/>
                    <a:pt x="52" y="235"/>
                    <a:pt x="54" y="245"/>
                  </a:cubicBezTo>
                  <a:close/>
                </a:path>
              </a:pathLst>
            </a:custGeom>
            <a:solidFill>
              <a:srgbClr val="0018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7" name="Freeform 155"/>
            <p:cNvSpPr>
              <a:spLocks/>
            </p:cNvSpPr>
            <p:nvPr/>
          </p:nvSpPr>
          <p:spPr bwMode="auto">
            <a:xfrm>
              <a:off x="1171575" y="2767013"/>
              <a:ext cx="214313" cy="31750"/>
            </a:xfrm>
            <a:custGeom>
              <a:avLst/>
              <a:gdLst>
                <a:gd name="T0" fmla="*/ 83 w 83"/>
                <a:gd name="T1" fmla="*/ 0 h 12"/>
                <a:gd name="T2" fmla="*/ 0 w 83"/>
                <a:gd name="T3" fmla="*/ 0 h 12"/>
                <a:gd name="T4" fmla="*/ 0 w 83"/>
                <a:gd name="T5" fmla="*/ 10 h 12"/>
                <a:gd name="T6" fmla="*/ 0 w 83"/>
                <a:gd name="T7" fmla="*/ 12 h 12"/>
                <a:gd name="T8" fmla="*/ 83 w 83"/>
                <a:gd name="T9" fmla="*/ 12 h 12"/>
                <a:gd name="T10" fmla="*/ 83 w 83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12">
                  <a:moveTo>
                    <a:pt x="83" y="0"/>
                  </a:moveTo>
                  <a:cubicBezTo>
                    <a:pt x="55" y="0"/>
                    <a:pt x="28" y="0"/>
                    <a:pt x="0" y="0"/>
                  </a:cubicBezTo>
                  <a:cubicBezTo>
                    <a:pt x="0" y="4"/>
                    <a:pt x="0" y="7"/>
                    <a:pt x="0" y="10"/>
                  </a:cubicBezTo>
                  <a:cubicBezTo>
                    <a:pt x="0" y="10"/>
                    <a:pt x="0" y="11"/>
                    <a:pt x="0" y="12"/>
                  </a:cubicBezTo>
                  <a:cubicBezTo>
                    <a:pt x="28" y="12"/>
                    <a:pt x="56" y="12"/>
                    <a:pt x="83" y="12"/>
                  </a:cubicBezTo>
                  <a:cubicBezTo>
                    <a:pt x="83" y="8"/>
                    <a:pt x="83" y="4"/>
                    <a:pt x="83" y="0"/>
                  </a:cubicBezTo>
                  <a:close/>
                </a:path>
              </a:pathLst>
            </a:custGeom>
            <a:solidFill>
              <a:srgbClr val="0018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8" name="Freeform 156"/>
            <p:cNvSpPr>
              <a:spLocks/>
            </p:cNvSpPr>
            <p:nvPr/>
          </p:nvSpPr>
          <p:spPr bwMode="auto">
            <a:xfrm>
              <a:off x="1292225" y="3059113"/>
              <a:ext cx="298450" cy="249238"/>
            </a:xfrm>
            <a:custGeom>
              <a:avLst/>
              <a:gdLst>
                <a:gd name="T0" fmla="*/ 57 w 115"/>
                <a:gd name="T1" fmla="*/ 96 h 96"/>
                <a:gd name="T2" fmla="*/ 6 w 115"/>
                <a:gd name="T3" fmla="*/ 96 h 96"/>
                <a:gd name="T4" fmla="*/ 1 w 115"/>
                <a:gd name="T5" fmla="*/ 94 h 96"/>
                <a:gd name="T6" fmla="*/ 2 w 115"/>
                <a:gd name="T7" fmla="*/ 89 h 96"/>
                <a:gd name="T8" fmla="*/ 53 w 115"/>
                <a:gd name="T9" fmla="*/ 5 h 96"/>
                <a:gd name="T10" fmla="*/ 54 w 115"/>
                <a:gd name="T11" fmla="*/ 3 h 96"/>
                <a:gd name="T12" fmla="*/ 61 w 115"/>
                <a:gd name="T13" fmla="*/ 3 h 96"/>
                <a:gd name="T14" fmla="*/ 67 w 115"/>
                <a:gd name="T15" fmla="*/ 12 h 96"/>
                <a:gd name="T16" fmla="*/ 112 w 115"/>
                <a:gd name="T17" fmla="*/ 88 h 96"/>
                <a:gd name="T18" fmla="*/ 113 w 115"/>
                <a:gd name="T19" fmla="*/ 94 h 96"/>
                <a:gd name="T20" fmla="*/ 107 w 115"/>
                <a:gd name="T21" fmla="*/ 96 h 96"/>
                <a:gd name="T22" fmla="*/ 57 w 115"/>
                <a:gd name="T23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5" h="96">
                  <a:moveTo>
                    <a:pt x="57" y="96"/>
                  </a:moveTo>
                  <a:cubicBezTo>
                    <a:pt x="40" y="96"/>
                    <a:pt x="23" y="96"/>
                    <a:pt x="6" y="96"/>
                  </a:cubicBezTo>
                  <a:cubicBezTo>
                    <a:pt x="5" y="96"/>
                    <a:pt x="2" y="95"/>
                    <a:pt x="1" y="94"/>
                  </a:cubicBezTo>
                  <a:cubicBezTo>
                    <a:pt x="0" y="93"/>
                    <a:pt x="1" y="91"/>
                    <a:pt x="2" y="89"/>
                  </a:cubicBezTo>
                  <a:cubicBezTo>
                    <a:pt x="19" y="61"/>
                    <a:pt x="36" y="33"/>
                    <a:pt x="53" y="5"/>
                  </a:cubicBezTo>
                  <a:cubicBezTo>
                    <a:pt x="53" y="4"/>
                    <a:pt x="53" y="3"/>
                    <a:pt x="54" y="3"/>
                  </a:cubicBezTo>
                  <a:cubicBezTo>
                    <a:pt x="56" y="0"/>
                    <a:pt x="59" y="0"/>
                    <a:pt x="61" y="3"/>
                  </a:cubicBezTo>
                  <a:cubicBezTo>
                    <a:pt x="63" y="6"/>
                    <a:pt x="65" y="9"/>
                    <a:pt x="67" y="12"/>
                  </a:cubicBezTo>
                  <a:cubicBezTo>
                    <a:pt x="82" y="37"/>
                    <a:pt x="97" y="63"/>
                    <a:pt x="112" y="88"/>
                  </a:cubicBezTo>
                  <a:cubicBezTo>
                    <a:pt x="113" y="90"/>
                    <a:pt x="115" y="92"/>
                    <a:pt x="113" y="94"/>
                  </a:cubicBezTo>
                  <a:cubicBezTo>
                    <a:pt x="112" y="96"/>
                    <a:pt x="110" y="96"/>
                    <a:pt x="107" y="96"/>
                  </a:cubicBezTo>
                  <a:cubicBezTo>
                    <a:pt x="91" y="96"/>
                    <a:pt x="74" y="96"/>
                    <a:pt x="57" y="96"/>
                  </a:cubicBezTo>
                  <a:close/>
                </a:path>
              </a:pathLst>
            </a:custGeom>
            <a:solidFill>
              <a:srgbClr val="0018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9" name="Freeform 157"/>
            <p:cNvSpPr>
              <a:spLocks/>
            </p:cNvSpPr>
            <p:nvPr/>
          </p:nvSpPr>
          <p:spPr bwMode="auto">
            <a:xfrm>
              <a:off x="1171575" y="2767013"/>
              <a:ext cx="214313" cy="31750"/>
            </a:xfrm>
            <a:custGeom>
              <a:avLst/>
              <a:gdLst>
                <a:gd name="T0" fmla="*/ 83 w 83"/>
                <a:gd name="T1" fmla="*/ 0 h 12"/>
                <a:gd name="T2" fmla="*/ 83 w 83"/>
                <a:gd name="T3" fmla="*/ 12 h 12"/>
                <a:gd name="T4" fmla="*/ 0 w 83"/>
                <a:gd name="T5" fmla="*/ 12 h 12"/>
                <a:gd name="T6" fmla="*/ 0 w 83"/>
                <a:gd name="T7" fmla="*/ 10 h 12"/>
                <a:gd name="T8" fmla="*/ 0 w 83"/>
                <a:gd name="T9" fmla="*/ 0 h 12"/>
                <a:gd name="T10" fmla="*/ 83 w 83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12">
                  <a:moveTo>
                    <a:pt x="83" y="0"/>
                  </a:moveTo>
                  <a:cubicBezTo>
                    <a:pt x="83" y="4"/>
                    <a:pt x="83" y="8"/>
                    <a:pt x="83" y="12"/>
                  </a:cubicBezTo>
                  <a:cubicBezTo>
                    <a:pt x="56" y="12"/>
                    <a:pt x="28" y="12"/>
                    <a:pt x="0" y="12"/>
                  </a:cubicBezTo>
                  <a:cubicBezTo>
                    <a:pt x="0" y="11"/>
                    <a:pt x="0" y="10"/>
                    <a:pt x="0" y="10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28" y="0"/>
                    <a:pt x="55" y="0"/>
                    <a:pt x="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</p:grpSp>
      <p:sp>
        <p:nvSpPr>
          <p:cNvPr id="10" name="Freeform 152"/>
          <p:cNvSpPr>
            <a:spLocks/>
          </p:cNvSpPr>
          <p:nvPr/>
        </p:nvSpPr>
        <p:spPr bwMode="auto">
          <a:xfrm>
            <a:off x="7332452" y="941378"/>
            <a:ext cx="410633" cy="844551"/>
          </a:xfrm>
          <a:custGeom>
            <a:avLst/>
            <a:gdLst>
              <a:gd name="T0" fmla="*/ 54 w 119"/>
              <a:gd name="T1" fmla="*/ 245 h 245"/>
              <a:gd name="T2" fmla="*/ 62 w 119"/>
              <a:gd name="T3" fmla="*/ 221 h 245"/>
              <a:gd name="T4" fmla="*/ 18 w 119"/>
              <a:gd name="T5" fmla="*/ 221 h 245"/>
              <a:gd name="T6" fmla="*/ 18 w 119"/>
              <a:gd name="T7" fmla="*/ 212 h 245"/>
              <a:gd name="T8" fmla="*/ 21 w 119"/>
              <a:gd name="T9" fmla="*/ 209 h 245"/>
              <a:gd name="T10" fmla="*/ 67 w 119"/>
              <a:gd name="T11" fmla="*/ 209 h 245"/>
              <a:gd name="T12" fmla="*/ 70 w 119"/>
              <a:gd name="T13" fmla="*/ 209 h 245"/>
              <a:gd name="T14" fmla="*/ 76 w 119"/>
              <a:gd name="T15" fmla="*/ 197 h 245"/>
              <a:gd name="T16" fmla="*/ 73 w 119"/>
              <a:gd name="T17" fmla="*/ 197 h 245"/>
              <a:gd name="T18" fmla="*/ 21 w 119"/>
              <a:gd name="T19" fmla="*/ 197 h 245"/>
              <a:gd name="T20" fmla="*/ 19 w 119"/>
              <a:gd name="T21" fmla="*/ 197 h 245"/>
              <a:gd name="T22" fmla="*/ 18 w 119"/>
              <a:gd name="T23" fmla="*/ 196 h 245"/>
              <a:gd name="T24" fmla="*/ 18 w 119"/>
              <a:gd name="T25" fmla="*/ 185 h 245"/>
              <a:gd name="T26" fmla="*/ 21 w 119"/>
              <a:gd name="T27" fmla="*/ 185 h 245"/>
              <a:gd name="T28" fmla="*/ 81 w 119"/>
              <a:gd name="T29" fmla="*/ 185 h 245"/>
              <a:gd name="T30" fmla="*/ 85 w 119"/>
              <a:gd name="T31" fmla="*/ 183 h 245"/>
              <a:gd name="T32" fmla="*/ 104 w 119"/>
              <a:gd name="T33" fmla="*/ 149 h 245"/>
              <a:gd name="T34" fmla="*/ 119 w 119"/>
              <a:gd name="T35" fmla="*/ 137 h 245"/>
              <a:gd name="T36" fmla="*/ 119 w 119"/>
              <a:gd name="T37" fmla="*/ 135 h 245"/>
              <a:gd name="T38" fmla="*/ 119 w 119"/>
              <a:gd name="T39" fmla="*/ 13 h 245"/>
              <a:gd name="T40" fmla="*/ 119 w 119"/>
              <a:gd name="T41" fmla="*/ 9 h 245"/>
              <a:gd name="T42" fmla="*/ 106 w 119"/>
              <a:gd name="T43" fmla="*/ 0 h 245"/>
              <a:gd name="T44" fmla="*/ 14 w 119"/>
              <a:gd name="T45" fmla="*/ 0 h 245"/>
              <a:gd name="T46" fmla="*/ 0 w 119"/>
              <a:gd name="T47" fmla="*/ 14 h 245"/>
              <a:gd name="T48" fmla="*/ 0 w 119"/>
              <a:gd name="T49" fmla="*/ 242 h 245"/>
              <a:gd name="T50" fmla="*/ 0 w 119"/>
              <a:gd name="T51" fmla="*/ 245 h 245"/>
              <a:gd name="T52" fmla="*/ 54 w 119"/>
              <a:gd name="T53" fmla="*/ 245 h 2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19" h="245">
                <a:moveTo>
                  <a:pt x="54" y="245"/>
                </a:moveTo>
                <a:cubicBezTo>
                  <a:pt x="52" y="235"/>
                  <a:pt x="59" y="229"/>
                  <a:pt x="62" y="221"/>
                </a:cubicBezTo>
                <a:cubicBezTo>
                  <a:pt x="47" y="221"/>
                  <a:pt x="33" y="221"/>
                  <a:pt x="18" y="221"/>
                </a:cubicBezTo>
                <a:cubicBezTo>
                  <a:pt x="18" y="218"/>
                  <a:pt x="18" y="215"/>
                  <a:pt x="18" y="212"/>
                </a:cubicBezTo>
                <a:cubicBezTo>
                  <a:pt x="18" y="210"/>
                  <a:pt x="18" y="209"/>
                  <a:pt x="21" y="209"/>
                </a:cubicBezTo>
                <a:cubicBezTo>
                  <a:pt x="36" y="209"/>
                  <a:pt x="52" y="209"/>
                  <a:pt x="67" y="209"/>
                </a:cubicBezTo>
                <a:cubicBezTo>
                  <a:pt x="68" y="209"/>
                  <a:pt x="70" y="209"/>
                  <a:pt x="70" y="209"/>
                </a:cubicBezTo>
                <a:cubicBezTo>
                  <a:pt x="72" y="205"/>
                  <a:pt x="74" y="202"/>
                  <a:pt x="76" y="197"/>
                </a:cubicBezTo>
                <a:cubicBezTo>
                  <a:pt x="75" y="197"/>
                  <a:pt x="74" y="197"/>
                  <a:pt x="73" y="197"/>
                </a:cubicBezTo>
                <a:cubicBezTo>
                  <a:pt x="56" y="197"/>
                  <a:pt x="38" y="197"/>
                  <a:pt x="21" y="197"/>
                </a:cubicBezTo>
                <a:cubicBezTo>
                  <a:pt x="20" y="197"/>
                  <a:pt x="20" y="198"/>
                  <a:pt x="19" y="197"/>
                </a:cubicBezTo>
                <a:cubicBezTo>
                  <a:pt x="19" y="197"/>
                  <a:pt x="18" y="197"/>
                  <a:pt x="18" y="196"/>
                </a:cubicBezTo>
                <a:cubicBezTo>
                  <a:pt x="18" y="193"/>
                  <a:pt x="18" y="189"/>
                  <a:pt x="18" y="185"/>
                </a:cubicBezTo>
                <a:cubicBezTo>
                  <a:pt x="19" y="185"/>
                  <a:pt x="20" y="185"/>
                  <a:pt x="21" y="185"/>
                </a:cubicBezTo>
                <a:cubicBezTo>
                  <a:pt x="41" y="185"/>
                  <a:pt x="61" y="185"/>
                  <a:pt x="81" y="185"/>
                </a:cubicBezTo>
                <a:cubicBezTo>
                  <a:pt x="83" y="185"/>
                  <a:pt x="84" y="185"/>
                  <a:pt x="85" y="183"/>
                </a:cubicBezTo>
                <a:cubicBezTo>
                  <a:pt x="91" y="172"/>
                  <a:pt x="98" y="161"/>
                  <a:pt x="104" y="149"/>
                </a:cubicBezTo>
                <a:cubicBezTo>
                  <a:pt x="108" y="143"/>
                  <a:pt x="112" y="138"/>
                  <a:pt x="119" y="137"/>
                </a:cubicBezTo>
                <a:cubicBezTo>
                  <a:pt x="119" y="137"/>
                  <a:pt x="119" y="136"/>
                  <a:pt x="119" y="135"/>
                </a:cubicBezTo>
                <a:cubicBezTo>
                  <a:pt x="119" y="95"/>
                  <a:pt x="119" y="54"/>
                  <a:pt x="119" y="13"/>
                </a:cubicBezTo>
                <a:cubicBezTo>
                  <a:pt x="119" y="11"/>
                  <a:pt x="119" y="10"/>
                  <a:pt x="119" y="9"/>
                </a:cubicBezTo>
                <a:cubicBezTo>
                  <a:pt x="117" y="3"/>
                  <a:pt x="113" y="0"/>
                  <a:pt x="106" y="0"/>
                </a:cubicBezTo>
                <a:cubicBezTo>
                  <a:pt x="75" y="0"/>
                  <a:pt x="44" y="0"/>
                  <a:pt x="14" y="0"/>
                </a:cubicBezTo>
                <a:cubicBezTo>
                  <a:pt x="6" y="0"/>
                  <a:pt x="0" y="5"/>
                  <a:pt x="0" y="14"/>
                </a:cubicBezTo>
                <a:cubicBezTo>
                  <a:pt x="0" y="90"/>
                  <a:pt x="0" y="166"/>
                  <a:pt x="0" y="242"/>
                </a:cubicBezTo>
                <a:cubicBezTo>
                  <a:pt x="0" y="243"/>
                  <a:pt x="0" y="244"/>
                  <a:pt x="0" y="245"/>
                </a:cubicBezTo>
                <a:cubicBezTo>
                  <a:pt x="18" y="245"/>
                  <a:pt x="36" y="245"/>
                  <a:pt x="54" y="24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ja-JP" altLang="en-US" sz="2400"/>
          </a:p>
        </p:txBody>
      </p:sp>
      <p:sp>
        <p:nvSpPr>
          <p:cNvPr id="11" name="Freeform 153"/>
          <p:cNvSpPr>
            <a:spLocks/>
          </p:cNvSpPr>
          <p:nvPr/>
        </p:nvSpPr>
        <p:spPr bwMode="auto">
          <a:xfrm>
            <a:off x="7556818" y="1453611"/>
            <a:ext cx="397933" cy="332317"/>
          </a:xfrm>
          <a:custGeom>
            <a:avLst/>
            <a:gdLst>
              <a:gd name="T0" fmla="*/ 57 w 115"/>
              <a:gd name="T1" fmla="*/ 96 h 96"/>
              <a:gd name="T2" fmla="*/ 107 w 115"/>
              <a:gd name="T3" fmla="*/ 96 h 96"/>
              <a:gd name="T4" fmla="*/ 113 w 115"/>
              <a:gd name="T5" fmla="*/ 94 h 96"/>
              <a:gd name="T6" fmla="*/ 112 w 115"/>
              <a:gd name="T7" fmla="*/ 88 h 96"/>
              <a:gd name="T8" fmla="*/ 67 w 115"/>
              <a:gd name="T9" fmla="*/ 12 h 96"/>
              <a:gd name="T10" fmla="*/ 61 w 115"/>
              <a:gd name="T11" fmla="*/ 3 h 96"/>
              <a:gd name="T12" fmla="*/ 54 w 115"/>
              <a:gd name="T13" fmla="*/ 3 h 96"/>
              <a:gd name="T14" fmla="*/ 53 w 115"/>
              <a:gd name="T15" fmla="*/ 5 h 96"/>
              <a:gd name="T16" fmla="*/ 2 w 115"/>
              <a:gd name="T17" fmla="*/ 89 h 96"/>
              <a:gd name="T18" fmla="*/ 1 w 115"/>
              <a:gd name="T19" fmla="*/ 94 h 96"/>
              <a:gd name="T20" fmla="*/ 6 w 115"/>
              <a:gd name="T21" fmla="*/ 96 h 96"/>
              <a:gd name="T22" fmla="*/ 57 w 115"/>
              <a:gd name="T23" fmla="*/ 9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5" h="96">
                <a:moveTo>
                  <a:pt x="57" y="96"/>
                </a:moveTo>
                <a:cubicBezTo>
                  <a:pt x="74" y="96"/>
                  <a:pt x="91" y="96"/>
                  <a:pt x="107" y="96"/>
                </a:cubicBezTo>
                <a:cubicBezTo>
                  <a:pt x="110" y="96"/>
                  <a:pt x="112" y="96"/>
                  <a:pt x="113" y="94"/>
                </a:cubicBezTo>
                <a:cubicBezTo>
                  <a:pt x="115" y="92"/>
                  <a:pt x="113" y="90"/>
                  <a:pt x="112" y="88"/>
                </a:cubicBezTo>
                <a:cubicBezTo>
                  <a:pt x="97" y="63"/>
                  <a:pt x="82" y="37"/>
                  <a:pt x="67" y="12"/>
                </a:cubicBezTo>
                <a:cubicBezTo>
                  <a:pt x="65" y="9"/>
                  <a:pt x="63" y="6"/>
                  <a:pt x="61" y="3"/>
                </a:cubicBezTo>
                <a:cubicBezTo>
                  <a:pt x="59" y="0"/>
                  <a:pt x="56" y="0"/>
                  <a:pt x="54" y="3"/>
                </a:cubicBezTo>
                <a:cubicBezTo>
                  <a:pt x="53" y="3"/>
                  <a:pt x="53" y="4"/>
                  <a:pt x="53" y="5"/>
                </a:cubicBezTo>
                <a:cubicBezTo>
                  <a:pt x="36" y="33"/>
                  <a:pt x="19" y="61"/>
                  <a:pt x="2" y="89"/>
                </a:cubicBezTo>
                <a:cubicBezTo>
                  <a:pt x="1" y="91"/>
                  <a:pt x="0" y="93"/>
                  <a:pt x="1" y="94"/>
                </a:cubicBezTo>
                <a:cubicBezTo>
                  <a:pt x="2" y="95"/>
                  <a:pt x="5" y="96"/>
                  <a:pt x="6" y="96"/>
                </a:cubicBezTo>
                <a:cubicBezTo>
                  <a:pt x="23" y="96"/>
                  <a:pt x="40" y="96"/>
                  <a:pt x="57" y="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ja-JP" altLang="en-US" sz="2400"/>
          </a:p>
        </p:txBody>
      </p:sp>
      <p:sp>
        <p:nvSpPr>
          <p:cNvPr id="12" name="Freeform 154"/>
          <p:cNvSpPr>
            <a:spLocks/>
          </p:cNvSpPr>
          <p:nvPr/>
        </p:nvSpPr>
        <p:spPr bwMode="auto">
          <a:xfrm>
            <a:off x="7332452" y="941378"/>
            <a:ext cx="410633" cy="844551"/>
          </a:xfrm>
          <a:custGeom>
            <a:avLst/>
            <a:gdLst>
              <a:gd name="T0" fmla="*/ 54 w 119"/>
              <a:gd name="T1" fmla="*/ 245 h 245"/>
              <a:gd name="T2" fmla="*/ 0 w 119"/>
              <a:gd name="T3" fmla="*/ 245 h 245"/>
              <a:gd name="T4" fmla="*/ 0 w 119"/>
              <a:gd name="T5" fmla="*/ 242 h 245"/>
              <a:gd name="T6" fmla="*/ 0 w 119"/>
              <a:gd name="T7" fmla="*/ 14 h 245"/>
              <a:gd name="T8" fmla="*/ 14 w 119"/>
              <a:gd name="T9" fmla="*/ 0 h 245"/>
              <a:gd name="T10" fmla="*/ 106 w 119"/>
              <a:gd name="T11" fmla="*/ 0 h 245"/>
              <a:gd name="T12" fmla="*/ 119 w 119"/>
              <a:gd name="T13" fmla="*/ 9 h 245"/>
              <a:gd name="T14" fmla="*/ 119 w 119"/>
              <a:gd name="T15" fmla="*/ 13 h 245"/>
              <a:gd name="T16" fmla="*/ 119 w 119"/>
              <a:gd name="T17" fmla="*/ 135 h 245"/>
              <a:gd name="T18" fmla="*/ 119 w 119"/>
              <a:gd name="T19" fmla="*/ 137 h 245"/>
              <a:gd name="T20" fmla="*/ 104 w 119"/>
              <a:gd name="T21" fmla="*/ 149 h 245"/>
              <a:gd name="T22" fmla="*/ 85 w 119"/>
              <a:gd name="T23" fmla="*/ 183 h 245"/>
              <a:gd name="T24" fmla="*/ 81 w 119"/>
              <a:gd name="T25" fmla="*/ 185 h 245"/>
              <a:gd name="T26" fmla="*/ 21 w 119"/>
              <a:gd name="T27" fmla="*/ 185 h 245"/>
              <a:gd name="T28" fmla="*/ 18 w 119"/>
              <a:gd name="T29" fmla="*/ 185 h 245"/>
              <a:gd name="T30" fmla="*/ 18 w 119"/>
              <a:gd name="T31" fmla="*/ 196 h 245"/>
              <a:gd name="T32" fmla="*/ 19 w 119"/>
              <a:gd name="T33" fmla="*/ 197 h 245"/>
              <a:gd name="T34" fmla="*/ 21 w 119"/>
              <a:gd name="T35" fmla="*/ 197 h 245"/>
              <a:gd name="T36" fmla="*/ 73 w 119"/>
              <a:gd name="T37" fmla="*/ 197 h 245"/>
              <a:gd name="T38" fmla="*/ 76 w 119"/>
              <a:gd name="T39" fmla="*/ 197 h 245"/>
              <a:gd name="T40" fmla="*/ 70 w 119"/>
              <a:gd name="T41" fmla="*/ 209 h 245"/>
              <a:gd name="T42" fmla="*/ 67 w 119"/>
              <a:gd name="T43" fmla="*/ 209 h 245"/>
              <a:gd name="T44" fmla="*/ 21 w 119"/>
              <a:gd name="T45" fmla="*/ 209 h 245"/>
              <a:gd name="T46" fmla="*/ 18 w 119"/>
              <a:gd name="T47" fmla="*/ 212 h 245"/>
              <a:gd name="T48" fmla="*/ 18 w 119"/>
              <a:gd name="T49" fmla="*/ 221 h 245"/>
              <a:gd name="T50" fmla="*/ 62 w 119"/>
              <a:gd name="T51" fmla="*/ 221 h 245"/>
              <a:gd name="T52" fmla="*/ 54 w 119"/>
              <a:gd name="T53" fmla="*/ 245 h 2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19" h="245">
                <a:moveTo>
                  <a:pt x="54" y="245"/>
                </a:moveTo>
                <a:cubicBezTo>
                  <a:pt x="36" y="245"/>
                  <a:pt x="18" y="245"/>
                  <a:pt x="0" y="245"/>
                </a:cubicBezTo>
                <a:cubicBezTo>
                  <a:pt x="0" y="244"/>
                  <a:pt x="0" y="243"/>
                  <a:pt x="0" y="242"/>
                </a:cubicBezTo>
                <a:cubicBezTo>
                  <a:pt x="0" y="166"/>
                  <a:pt x="0" y="90"/>
                  <a:pt x="0" y="14"/>
                </a:cubicBezTo>
                <a:cubicBezTo>
                  <a:pt x="0" y="5"/>
                  <a:pt x="6" y="0"/>
                  <a:pt x="14" y="0"/>
                </a:cubicBezTo>
                <a:cubicBezTo>
                  <a:pt x="44" y="0"/>
                  <a:pt x="75" y="0"/>
                  <a:pt x="106" y="0"/>
                </a:cubicBezTo>
                <a:cubicBezTo>
                  <a:pt x="113" y="0"/>
                  <a:pt x="117" y="3"/>
                  <a:pt x="119" y="9"/>
                </a:cubicBezTo>
                <a:cubicBezTo>
                  <a:pt x="119" y="10"/>
                  <a:pt x="119" y="11"/>
                  <a:pt x="119" y="13"/>
                </a:cubicBezTo>
                <a:cubicBezTo>
                  <a:pt x="119" y="54"/>
                  <a:pt x="119" y="95"/>
                  <a:pt x="119" y="135"/>
                </a:cubicBezTo>
                <a:cubicBezTo>
                  <a:pt x="119" y="136"/>
                  <a:pt x="119" y="137"/>
                  <a:pt x="119" y="137"/>
                </a:cubicBezTo>
                <a:cubicBezTo>
                  <a:pt x="112" y="138"/>
                  <a:pt x="108" y="143"/>
                  <a:pt x="104" y="149"/>
                </a:cubicBezTo>
                <a:cubicBezTo>
                  <a:pt x="98" y="161"/>
                  <a:pt x="91" y="172"/>
                  <a:pt x="85" y="183"/>
                </a:cubicBezTo>
                <a:cubicBezTo>
                  <a:pt x="84" y="185"/>
                  <a:pt x="83" y="185"/>
                  <a:pt x="81" y="185"/>
                </a:cubicBezTo>
                <a:cubicBezTo>
                  <a:pt x="61" y="185"/>
                  <a:pt x="41" y="185"/>
                  <a:pt x="21" y="185"/>
                </a:cubicBezTo>
                <a:cubicBezTo>
                  <a:pt x="20" y="185"/>
                  <a:pt x="19" y="185"/>
                  <a:pt x="18" y="185"/>
                </a:cubicBezTo>
                <a:cubicBezTo>
                  <a:pt x="18" y="189"/>
                  <a:pt x="18" y="193"/>
                  <a:pt x="18" y="196"/>
                </a:cubicBezTo>
                <a:cubicBezTo>
                  <a:pt x="18" y="197"/>
                  <a:pt x="19" y="197"/>
                  <a:pt x="19" y="197"/>
                </a:cubicBezTo>
                <a:cubicBezTo>
                  <a:pt x="20" y="198"/>
                  <a:pt x="20" y="197"/>
                  <a:pt x="21" y="197"/>
                </a:cubicBezTo>
                <a:cubicBezTo>
                  <a:pt x="38" y="197"/>
                  <a:pt x="56" y="197"/>
                  <a:pt x="73" y="197"/>
                </a:cubicBezTo>
                <a:cubicBezTo>
                  <a:pt x="74" y="197"/>
                  <a:pt x="75" y="197"/>
                  <a:pt x="76" y="197"/>
                </a:cubicBezTo>
                <a:cubicBezTo>
                  <a:pt x="74" y="202"/>
                  <a:pt x="72" y="205"/>
                  <a:pt x="70" y="209"/>
                </a:cubicBezTo>
                <a:cubicBezTo>
                  <a:pt x="70" y="209"/>
                  <a:pt x="68" y="209"/>
                  <a:pt x="67" y="209"/>
                </a:cubicBezTo>
                <a:cubicBezTo>
                  <a:pt x="52" y="209"/>
                  <a:pt x="36" y="209"/>
                  <a:pt x="21" y="209"/>
                </a:cubicBezTo>
                <a:cubicBezTo>
                  <a:pt x="18" y="209"/>
                  <a:pt x="18" y="210"/>
                  <a:pt x="18" y="212"/>
                </a:cubicBezTo>
                <a:cubicBezTo>
                  <a:pt x="18" y="215"/>
                  <a:pt x="18" y="218"/>
                  <a:pt x="18" y="221"/>
                </a:cubicBezTo>
                <a:cubicBezTo>
                  <a:pt x="33" y="221"/>
                  <a:pt x="47" y="221"/>
                  <a:pt x="62" y="221"/>
                </a:cubicBezTo>
                <a:cubicBezTo>
                  <a:pt x="59" y="229"/>
                  <a:pt x="52" y="235"/>
                  <a:pt x="54" y="245"/>
                </a:cubicBezTo>
                <a:close/>
              </a:path>
            </a:pathLst>
          </a:custGeom>
          <a:solidFill>
            <a:srgbClr val="0018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ja-JP" altLang="en-US" sz="2400"/>
          </a:p>
        </p:txBody>
      </p:sp>
      <p:sp>
        <p:nvSpPr>
          <p:cNvPr id="13" name="Freeform 155"/>
          <p:cNvSpPr>
            <a:spLocks/>
          </p:cNvSpPr>
          <p:nvPr/>
        </p:nvSpPr>
        <p:spPr bwMode="auto">
          <a:xfrm>
            <a:off x="7395951" y="1064144"/>
            <a:ext cx="285751" cy="42333"/>
          </a:xfrm>
          <a:custGeom>
            <a:avLst/>
            <a:gdLst>
              <a:gd name="T0" fmla="*/ 83 w 83"/>
              <a:gd name="T1" fmla="*/ 0 h 12"/>
              <a:gd name="T2" fmla="*/ 0 w 83"/>
              <a:gd name="T3" fmla="*/ 0 h 12"/>
              <a:gd name="T4" fmla="*/ 0 w 83"/>
              <a:gd name="T5" fmla="*/ 10 h 12"/>
              <a:gd name="T6" fmla="*/ 0 w 83"/>
              <a:gd name="T7" fmla="*/ 12 h 12"/>
              <a:gd name="T8" fmla="*/ 83 w 83"/>
              <a:gd name="T9" fmla="*/ 12 h 12"/>
              <a:gd name="T10" fmla="*/ 83 w 83"/>
              <a:gd name="T11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3" h="12">
                <a:moveTo>
                  <a:pt x="83" y="0"/>
                </a:moveTo>
                <a:cubicBezTo>
                  <a:pt x="55" y="0"/>
                  <a:pt x="28" y="0"/>
                  <a:pt x="0" y="0"/>
                </a:cubicBezTo>
                <a:cubicBezTo>
                  <a:pt x="0" y="4"/>
                  <a:pt x="0" y="7"/>
                  <a:pt x="0" y="10"/>
                </a:cubicBezTo>
                <a:cubicBezTo>
                  <a:pt x="0" y="10"/>
                  <a:pt x="0" y="11"/>
                  <a:pt x="0" y="12"/>
                </a:cubicBezTo>
                <a:cubicBezTo>
                  <a:pt x="28" y="12"/>
                  <a:pt x="56" y="12"/>
                  <a:pt x="83" y="12"/>
                </a:cubicBezTo>
                <a:cubicBezTo>
                  <a:pt x="83" y="8"/>
                  <a:pt x="83" y="4"/>
                  <a:pt x="83" y="0"/>
                </a:cubicBezTo>
                <a:close/>
              </a:path>
            </a:pathLst>
          </a:custGeom>
          <a:solidFill>
            <a:srgbClr val="0018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ja-JP" altLang="en-US" sz="2400"/>
          </a:p>
        </p:txBody>
      </p:sp>
      <p:sp>
        <p:nvSpPr>
          <p:cNvPr id="14" name="Freeform 156"/>
          <p:cNvSpPr>
            <a:spLocks/>
          </p:cNvSpPr>
          <p:nvPr/>
        </p:nvSpPr>
        <p:spPr bwMode="auto">
          <a:xfrm>
            <a:off x="7556818" y="1453611"/>
            <a:ext cx="397933" cy="332317"/>
          </a:xfrm>
          <a:custGeom>
            <a:avLst/>
            <a:gdLst>
              <a:gd name="T0" fmla="*/ 57 w 115"/>
              <a:gd name="T1" fmla="*/ 96 h 96"/>
              <a:gd name="T2" fmla="*/ 6 w 115"/>
              <a:gd name="T3" fmla="*/ 96 h 96"/>
              <a:gd name="T4" fmla="*/ 1 w 115"/>
              <a:gd name="T5" fmla="*/ 94 h 96"/>
              <a:gd name="T6" fmla="*/ 2 w 115"/>
              <a:gd name="T7" fmla="*/ 89 h 96"/>
              <a:gd name="T8" fmla="*/ 53 w 115"/>
              <a:gd name="T9" fmla="*/ 5 h 96"/>
              <a:gd name="T10" fmla="*/ 54 w 115"/>
              <a:gd name="T11" fmla="*/ 3 h 96"/>
              <a:gd name="T12" fmla="*/ 61 w 115"/>
              <a:gd name="T13" fmla="*/ 3 h 96"/>
              <a:gd name="T14" fmla="*/ 67 w 115"/>
              <a:gd name="T15" fmla="*/ 12 h 96"/>
              <a:gd name="T16" fmla="*/ 112 w 115"/>
              <a:gd name="T17" fmla="*/ 88 h 96"/>
              <a:gd name="T18" fmla="*/ 113 w 115"/>
              <a:gd name="T19" fmla="*/ 94 h 96"/>
              <a:gd name="T20" fmla="*/ 107 w 115"/>
              <a:gd name="T21" fmla="*/ 96 h 96"/>
              <a:gd name="T22" fmla="*/ 57 w 115"/>
              <a:gd name="T23" fmla="*/ 9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5" h="96">
                <a:moveTo>
                  <a:pt x="57" y="96"/>
                </a:moveTo>
                <a:cubicBezTo>
                  <a:pt x="40" y="96"/>
                  <a:pt x="23" y="96"/>
                  <a:pt x="6" y="96"/>
                </a:cubicBezTo>
                <a:cubicBezTo>
                  <a:pt x="5" y="96"/>
                  <a:pt x="2" y="95"/>
                  <a:pt x="1" y="94"/>
                </a:cubicBezTo>
                <a:cubicBezTo>
                  <a:pt x="0" y="93"/>
                  <a:pt x="1" y="91"/>
                  <a:pt x="2" y="89"/>
                </a:cubicBezTo>
                <a:cubicBezTo>
                  <a:pt x="19" y="61"/>
                  <a:pt x="36" y="33"/>
                  <a:pt x="53" y="5"/>
                </a:cubicBezTo>
                <a:cubicBezTo>
                  <a:pt x="53" y="4"/>
                  <a:pt x="53" y="3"/>
                  <a:pt x="54" y="3"/>
                </a:cubicBezTo>
                <a:cubicBezTo>
                  <a:pt x="56" y="0"/>
                  <a:pt x="59" y="0"/>
                  <a:pt x="61" y="3"/>
                </a:cubicBezTo>
                <a:cubicBezTo>
                  <a:pt x="63" y="6"/>
                  <a:pt x="65" y="9"/>
                  <a:pt x="67" y="12"/>
                </a:cubicBezTo>
                <a:cubicBezTo>
                  <a:pt x="82" y="37"/>
                  <a:pt x="97" y="63"/>
                  <a:pt x="112" y="88"/>
                </a:cubicBezTo>
                <a:cubicBezTo>
                  <a:pt x="113" y="90"/>
                  <a:pt x="115" y="92"/>
                  <a:pt x="113" y="94"/>
                </a:cubicBezTo>
                <a:cubicBezTo>
                  <a:pt x="112" y="96"/>
                  <a:pt x="110" y="96"/>
                  <a:pt x="107" y="96"/>
                </a:cubicBezTo>
                <a:cubicBezTo>
                  <a:pt x="91" y="96"/>
                  <a:pt x="74" y="96"/>
                  <a:pt x="57" y="96"/>
                </a:cubicBezTo>
                <a:close/>
              </a:path>
            </a:pathLst>
          </a:custGeom>
          <a:solidFill>
            <a:srgbClr val="0018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ja-JP" altLang="en-US" sz="2400"/>
          </a:p>
        </p:txBody>
      </p:sp>
      <p:sp>
        <p:nvSpPr>
          <p:cNvPr id="15" name="Freeform 157"/>
          <p:cNvSpPr>
            <a:spLocks/>
          </p:cNvSpPr>
          <p:nvPr/>
        </p:nvSpPr>
        <p:spPr bwMode="auto">
          <a:xfrm>
            <a:off x="7395951" y="1064144"/>
            <a:ext cx="285751" cy="42333"/>
          </a:xfrm>
          <a:custGeom>
            <a:avLst/>
            <a:gdLst>
              <a:gd name="T0" fmla="*/ 83 w 83"/>
              <a:gd name="T1" fmla="*/ 0 h 12"/>
              <a:gd name="T2" fmla="*/ 83 w 83"/>
              <a:gd name="T3" fmla="*/ 12 h 12"/>
              <a:gd name="T4" fmla="*/ 0 w 83"/>
              <a:gd name="T5" fmla="*/ 12 h 12"/>
              <a:gd name="T6" fmla="*/ 0 w 83"/>
              <a:gd name="T7" fmla="*/ 10 h 12"/>
              <a:gd name="T8" fmla="*/ 0 w 83"/>
              <a:gd name="T9" fmla="*/ 0 h 12"/>
              <a:gd name="T10" fmla="*/ 83 w 83"/>
              <a:gd name="T11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3" h="12">
                <a:moveTo>
                  <a:pt x="83" y="0"/>
                </a:moveTo>
                <a:cubicBezTo>
                  <a:pt x="83" y="4"/>
                  <a:pt x="83" y="8"/>
                  <a:pt x="83" y="12"/>
                </a:cubicBezTo>
                <a:cubicBezTo>
                  <a:pt x="56" y="12"/>
                  <a:pt x="28" y="12"/>
                  <a:pt x="0" y="12"/>
                </a:cubicBezTo>
                <a:cubicBezTo>
                  <a:pt x="0" y="11"/>
                  <a:pt x="0" y="10"/>
                  <a:pt x="0" y="10"/>
                </a:cubicBezTo>
                <a:cubicBezTo>
                  <a:pt x="0" y="7"/>
                  <a:pt x="0" y="4"/>
                  <a:pt x="0" y="0"/>
                </a:cubicBezTo>
                <a:cubicBezTo>
                  <a:pt x="28" y="0"/>
                  <a:pt x="55" y="0"/>
                  <a:pt x="8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ja-JP" altLang="en-US" sz="2400"/>
          </a:p>
        </p:txBody>
      </p:sp>
      <p:grpSp>
        <p:nvGrpSpPr>
          <p:cNvPr id="16" name="グループ化 15"/>
          <p:cNvGrpSpPr/>
          <p:nvPr/>
        </p:nvGrpSpPr>
        <p:grpSpPr>
          <a:xfrm>
            <a:off x="10636556" y="1204314"/>
            <a:ext cx="610427" cy="577404"/>
            <a:chOff x="5432426" y="1822451"/>
            <a:chExt cx="638175" cy="631825"/>
          </a:xfrm>
          <a:solidFill>
            <a:srgbClr val="002060"/>
          </a:solidFill>
        </p:grpSpPr>
        <p:sp>
          <p:nvSpPr>
            <p:cNvPr id="17" name="Freeform 156"/>
            <p:cNvSpPr>
              <a:spLocks noEditPoints="1"/>
            </p:cNvSpPr>
            <p:nvPr/>
          </p:nvSpPr>
          <p:spPr bwMode="auto">
            <a:xfrm>
              <a:off x="5432426" y="1822451"/>
              <a:ext cx="382588" cy="382588"/>
            </a:xfrm>
            <a:custGeom>
              <a:avLst/>
              <a:gdLst>
                <a:gd name="T0" fmla="*/ 544 w 966"/>
                <a:gd name="T1" fmla="*/ 965 h 965"/>
                <a:gd name="T2" fmla="*/ 599 w 966"/>
                <a:gd name="T3" fmla="*/ 826 h 965"/>
                <a:gd name="T4" fmla="*/ 667 w 966"/>
                <a:gd name="T5" fmla="*/ 795 h 965"/>
                <a:gd name="T6" fmla="*/ 796 w 966"/>
                <a:gd name="T7" fmla="*/ 666 h 965"/>
                <a:gd name="T8" fmla="*/ 818 w 966"/>
                <a:gd name="T9" fmla="*/ 622 h 965"/>
                <a:gd name="T10" fmla="*/ 966 w 966"/>
                <a:gd name="T11" fmla="*/ 543 h 965"/>
                <a:gd name="T12" fmla="*/ 834 w 966"/>
                <a:gd name="T13" fmla="*/ 391 h 965"/>
                <a:gd name="T14" fmla="*/ 808 w 966"/>
                <a:gd name="T15" fmla="*/ 321 h 965"/>
                <a:gd name="T16" fmla="*/ 782 w 966"/>
                <a:gd name="T17" fmla="*/ 98 h 965"/>
                <a:gd name="T18" fmla="*/ 645 w 966"/>
                <a:gd name="T19" fmla="*/ 158 h 965"/>
                <a:gd name="T20" fmla="*/ 574 w 966"/>
                <a:gd name="T21" fmla="*/ 132 h 965"/>
                <a:gd name="T22" fmla="*/ 391 w 966"/>
                <a:gd name="T23" fmla="*/ 132 h 965"/>
                <a:gd name="T24" fmla="*/ 344 w 966"/>
                <a:gd name="T25" fmla="*/ 148 h 965"/>
                <a:gd name="T26" fmla="*/ 184 w 966"/>
                <a:gd name="T27" fmla="*/ 98 h 965"/>
                <a:gd name="T28" fmla="*/ 170 w 966"/>
                <a:gd name="T29" fmla="*/ 300 h 965"/>
                <a:gd name="T30" fmla="*/ 140 w 966"/>
                <a:gd name="T31" fmla="*/ 367 h 965"/>
                <a:gd name="T32" fmla="*/ 0 w 966"/>
                <a:gd name="T33" fmla="*/ 543 h 965"/>
                <a:gd name="T34" fmla="*/ 140 w 966"/>
                <a:gd name="T35" fmla="*/ 599 h 965"/>
                <a:gd name="T36" fmla="*/ 170 w 966"/>
                <a:gd name="T37" fmla="*/ 666 h 965"/>
                <a:gd name="T38" fmla="*/ 301 w 966"/>
                <a:gd name="T39" fmla="*/ 795 h 965"/>
                <a:gd name="T40" fmla="*/ 344 w 966"/>
                <a:gd name="T41" fmla="*/ 817 h 965"/>
                <a:gd name="T42" fmla="*/ 391 w 966"/>
                <a:gd name="T43" fmla="*/ 834 h 965"/>
                <a:gd name="T44" fmla="*/ 318 w 966"/>
                <a:gd name="T45" fmla="*/ 465 h 965"/>
                <a:gd name="T46" fmla="*/ 330 w 966"/>
                <a:gd name="T47" fmla="*/ 418 h 965"/>
                <a:gd name="T48" fmla="*/ 354 w 966"/>
                <a:gd name="T49" fmla="*/ 377 h 965"/>
                <a:gd name="T50" fmla="*/ 390 w 966"/>
                <a:gd name="T51" fmla="*/ 345 h 965"/>
                <a:gd name="T52" fmla="*/ 433 w 966"/>
                <a:gd name="T53" fmla="*/ 324 h 965"/>
                <a:gd name="T54" fmla="*/ 484 w 966"/>
                <a:gd name="T55" fmla="*/ 316 h 965"/>
                <a:gd name="T56" fmla="*/ 516 w 966"/>
                <a:gd name="T57" fmla="*/ 320 h 965"/>
                <a:gd name="T58" fmla="*/ 562 w 966"/>
                <a:gd name="T59" fmla="*/ 336 h 965"/>
                <a:gd name="T60" fmla="*/ 601 w 966"/>
                <a:gd name="T61" fmla="*/ 364 h 965"/>
                <a:gd name="T62" fmla="*/ 629 w 966"/>
                <a:gd name="T63" fmla="*/ 403 h 965"/>
                <a:gd name="T64" fmla="*/ 646 w 966"/>
                <a:gd name="T65" fmla="*/ 449 h 965"/>
                <a:gd name="T66" fmla="*/ 649 w 966"/>
                <a:gd name="T67" fmla="*/ 483 h 965"/>
                <a:gd name="T68" fmla="*/ 642 w 966"/>
                <a:gd name="T69" fmla="*/ 532 h 965"/>
                <a:gd name="T70" fmla="*/ 620 w 966"/>
                <a:gd name="T71" fmla="*/ 576 h 965"/>
                <a:gd name="T72" fmla="*/ 589 w 966"/>
                <a:gd name="T73" fmla="*/ 611 h 965"/>
                <a:gd name="T74" fmla="*/ 548 w 966"/>
                <a:gd name="T75" fmla="*/ 636 h 965"/>
                <a:gd name="T76" fmla="*/ 500 w 966"/>
                <a:gd name="T77" fmla="*/ 648 h 965"/>
                <a:gd name="T78" fmla="*/ 466 w 966"/>
                <a:gd name="T79" fmla="*/ 648 h 965"/>
                <a:gd name="T80" fmla="*/ 419 w 966"/>
                <a:gd name="T81" fmla="*/ 636 h 965"/>
                <a:gd name="T82" fmla="*/ 377 w 966"/>
                <a:gd name="T83" fmla="*/ 611 h 965"/>
                <a:gd name="T84" fmla="*/ 345 w 966"/>
                <a:gd name="T85" fmla="*/ 576 h 965"/>
                <a:gd name="T86" fmla="*/ 325 w 966"/>
                <a:gd name="T87" fmla="*/ 532 h 965"/>
                <a:gd name="T88" fmla="*/ 317 w 966"/>
                <a:gd name="T89" fmla="*/ 483 h 9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66" h="965">
                  <a:moveTo>
                    <a:pt x="391" y="834"/>
                  </a:moveTo>
                  <a:lnTo>
                    <a:pt x="422" y="965"/>
                  </a:lnTo>
                  <a:lnTo>
                    <a:pt x="544" y="965"/>
                  </a:lnTo>
                  <a:lnTo>
                    <a:pt x="574" y="834"/>
                  </a:lnTo>
                  <a:lnTo>
                    <a:pt x="574" y="834"/>
                  </a:lnTo>
                  <a:lnTo>
                    <a:pt x="599" y="826"/>
                  </a:lnTo>
                  <a:lnTo>
                    <a:pt x="622" y="817"/>
                  </a:lnTo>
                  <a:lnTo>
                    <a:pt x="645" y="807"/>
                  </a:lnTo>
                  <a:lnTo>
                    <a:pt x="667" y="795"/>
                  </a:lnTo>
                  <a:lnTo>
                    <a:pt x="782" y="866"/>
                  </a:lnTo>
                  <a:lnTo>
                    <a:pt x="867" y="781"/>
                  </a:lnTo>
                  <a:lnTo>
                    <a:pt x="796" y="666"/>
                  </a:lnTo>
                  <a:lnTo>
                    <a:pt x="796" y="666"/>
                  </a:lnTo>
                  <a:lnTo>
                    <a:pt x="808" y="644"/>
                  </a:lnTo>
                  <a:lnTo>
                    <a:pt x="818" y="622"/>
                  </a:lnTo>
                  <a:lnTo>
                    <a:pt x="826" y="599"/>
                  </a:lnTo>
                  <a:lnTo>
                    <a:pt x="834" y="575"/>
                  </a:lnTo>
                  <a:lnTo>
                    <a:pt x="966" y="543"/>
                  </a:lnTo>
                  <a:lnTo>
                    <a:pt x="966" y="423"/>
                  </a:lnTo>
                  <a:lnTo>
                    <a:pt x="834" y="391"/>
                  </a:lnTo>
                  <a:lnTo>
                    <a:pt x="834" y="391"/>
                  </a:lnTo>
                  <a:lnTo>
                    <a:pt x="826" y="367"/>
                  </a:lnTo>
                  <a:lnTo>
                    <a:pt x="818" y="344"/>
                  </a:lnTo>
                  <a:lnTo>
                    <a:pt x="808" y="321"/>
                  </a:lnTo>
                  <a:lnTo>
                    <a:pt x="796" y="300"/>
                  </a:lnTo>
                  <a:lnTo>
                    <a:pt x="867" y="184"/>
                  </a:lnTo>
                  <a:lnTo>
                    <a:pt x="782" y="98"/>
                  </a:lnTo>
                  <a:lnTo>
                    <a:pt x="667" y="169"/>
                  </a:lnTo>
                  <a:lnTo>
                    <a:pt x="667" y="169"/>
                  </a:lnTo>
                  <a:lnTo>
                    <a:pt x="645" y="158"/>
                  </a:lnTo>
                  <a:lnTo>
                    <a:pt x="622" y="148"/>
                  </a:lnTo>
                  <a:lnTo>
                    <a:pt x="599" y="139"/>
                  </a:lnTo>
                  <a:lnTo>
                    <a:pt x="574" y="132"/>
                  </a:lnTo>
                  <a:lnTo>
                    <a:pt x="544" y="0"/>
                  </a:lnTo>
                  <a:lnTo>
                    <a:pt x="422" y="0"/>
                  </a:lnTo>
                  <a:lnTo>
                    <a:pt x="391" y="132"/>
                  </a:lnTo>
                  <a:lnTo>
                    <a:pt x="391" y="132"/>
                  </a:lnTo>
                  <a:lnTo>
                    <a:pt x="367" y="139"/>
                  </a:lnTo>
                  <a:lnTo>
                    <a:pt x="344" y="148"/>
                  </a:lnTo>
                  <a:lnTo>
                    <a:pt x="321" y="158"/>
                  </a:lnTo>
                  <a:lnTo>
                    <a:pt x="301" y="169"/>
                  </a:lnTo>
                  <a:lnTo>
                    <a:pt x="184" y="98"/>
                  </a:lnTo>
                  <a:lnTo>
                    <a:pt x="99" y="184"/>
                  </a:lnTo>
                  <a:lnTo>
                    <a:pt x="170" y="300"/>
                  </a:lnTo>
                  <a:lnTo>
                    <a:pt x="170" y="300"/>
                  </a:lnTo>
                  <a:lnTo>
                    <a:pt x="158" y="321"/>
                  </a:lnTo>
                  <a:lnTo>
                    <a:pt x="148" y="344"/>
                  </a:lnTo>
                  <a:lnTo>
                    <a:pt x="140" y="367"/>
                  </a:lnTo>
                  <a:lnTo>
                    <a:pt x="133" y="391"/>
                  </a:lnTo>
                  <a:lnTo>
                    <a:pt x="0" y="423"/>
                  </a:lnTo>
                  <a:lnTo>
                    <a:pt x="0" y="543"/>
                  </a:lnTo>
                  <a:lnTo>
                    <a:pt x="133" y="575"/>
                  </a:lnTo>
                  <a:lnTo>
                    <a:pt x="133" y="575"/>
                  </a:lnTo>
                  <a:lnTo>
                    <a:pt x="140" y="599"/>
                  </a:lnTo>
                  <a:lnTo>
                    <a:pt x="148" y="622"/>
                  </a:lnTo>
                  <a:lnTo>
                    <a:pt x="158" y="644"/>
                  </a:lnTo>
                  <a:lnTo>
                    <a:pt x="170" y="666"/>
                  </a:lnTo>
                  <a:lnTo>
                    <a:pt x="99" y="781"/>
                  </a:lnTo>
                  <a:lnTo>
                    <a:pt x="184" y="866"/>
                  </a:lnTo>
                  <a:lnTo>
                    <a:pt x="301" y="795"/>
                  </a:lnTo>
                  <a:lnTo>
                    <a:pt x="301" y="795"/>
                  </a:lnTo>
                  <a:lnTo>
                    <a:pt x="321" y="807"/>
                  </a:lnTo>
                  <a:lnTo>
                    <a:pt x="344" y="817"/>
                  </a:lnTo>
                  <a:lnTo>
                    <a:pt x="367" y="826"/>
                  </a:lnTo>
                  <a:lnTo>
                    <a:pt x="391" y="834"/>
                  </a:lnTo>
                  <a:lnTo>
                    <a:pt x="391" y="834"/>
                  </a:lnTo>
                  <a:close/>
                  <a:moveTo>
                    <a:pt x="317" y="483"/>
                  </a:moveTo>
                  <a:lnTo>
                    <a:pt x="317" y="483"/>
                  </a:lnTo>
                  <a:lnTo>
                    <a:pt x="318" y="465"/>
                  </a:lnTo>
                  <a:lnTo>
                    <a:pt x="320" y="449"/>
                  </a:lnTo>
                  <a:lnTo>
                    <a:pt x="325" y="434"/>
                  </a:lnTo>
                  <a:lnTo>
                    <a:pt x="330" y="418"/>
                  </a:lnTo>
                  <a:lnTo>
                    <a:pt x="337" y="403"/>
                  </a:lnTo>
                  <a:lnTo>
                    <a:pt x="345" y="390"/>
                  </a:lnTo>
                  <a:lnTo>
                    <a:pt x="354" y="377"/>
                  </a:lnTo>
                  <a:lnTo>
                    <a:pt x="365" y="364"/>
                  </a:lnTo>
                  <a:lnTo>
                    <a:pt x="377" y="355"/>
                  </a:lnTo>
                  <a:lnTo>
                    <a:pt x="390" y="345"/>
                  </a:lnTo>
                  <a:lnTo>
                    <a:pt x="404" y="336"/>
                  </a:lnTo>
                  <a:lnTo>
                    <a:pt x="419" y="329"/>
                  </a:lnTo>
                  <a:lnTo>
                    <a:pt x="433" y="324"/>
                  </a:lnTo>
                  <a:lnTo>
                    <a:pt x="450" y="320"/>
                  </a:lnTo>
                  <a:lnTo>
                    <a:pt x="466" y="317"/>
                  </a:lnTo>
                  <a:lnTo>
                    <a:pt x="484" y="316"/>
                  </a:lnTo>
                  <a:lnTo>
                    <a:pt x="484" y="316"/>
                  </a:lnTo>
                  <a:lnTo>
                    <a:pt x="500" y="317"/>
                  </a:lnTo>
                  <a:lnTo>
                    <a:pt x="516" y="320"/>
                  </a:lnTo>
                  <a:lnTo>
                    <a:pt x="533" y="324"/>
                  </a:lnTo>
                  <a:lnTo>
                    <a:pt x="548" y="329"/>
                  </a:lnTo>
                  <a:lnTo>
                    <a:pt x="562" y="336"/>
                  </a:lnTo>
                  <a:lnTo>
                    <a:pt x="576" y="345"/>
                  </a:lnTo>
                  <a:lnTo>
                    <a:pt x="589" y="355"/>
                  </a:lnTo>
                  <a:lnTo>
                    <a:pt x="601" y="364"/>
                  </a:lnTo>
                  <a:lnTo>
                    <a:pt x="612" y="377"/>
                  </a:lnTo>
                  <a:lnTo>
                    <a:pt x="620" y="390"/>
                  </a:lnTo>
                  <a:lnTo>
                    <a:pt x="629" y="403"/>
                  </a:lnTo>
                  <a:lnTo>
                    <a:pt x="636" y="418"/>
                  </a:lnTo>
                  <a:lnTo>
                    <a:pt x="642" y="434"/>
                  </a:lnTo>
                  <a:lnTo>
                    <a:pt x="646" y="449"/>
                  </a:lnTo>
                  <a:lnTo>
                    <a:pt x="649" y="465"/>
                  </a:lnTo>
                  <a:lnTo>
                    <a:pt x="649" y="483"/>
                  </a:lnTo>
                  <a:lnTo>
                    <a:pt x="649" y="483"/>
                  </a:lnTo>
                  <a:lnTo>
                    <a:pt x="649" y="499"/>
                  </a:lnTo>
                  <a:lnTo>
                    <a:pt x="646" y="516"/>
                  </a:lnTo>
                  <a:lnTo>
                    <a:pt x="642" y="532"/>
                  </a:lnTo>
                  <a:lnTo>
                    <a:pt x="636" y="548"/>
                  </a:lnTo>
                  <a:lnTo>
                    <a:pt x="629" y="562"/>
                  </a:lnTo>
                  <a:lnTo>
                    <a:pt x="620" y="576"/>
                  </a:lnTo>
                  <a:lnTo>
                    <a:pt x="612" y="588"/>
                  </a:lnTo>
                  <a:lnTo>
                    <a:pt x="601" y="600"/>
                  </a:lnTo>
                  <a:lnTo>
                    <a:pt x="589" y="611"/>
                  </a:lnTo>
                  <a:lnTo>
                    <a:pt x="576" y="621"/>
                  </a:lnTo>
                  <a:lnTo>
                    <a:pt x="562" y="629"/>
                  </a:lnTo>
                  <a:lnTo>
                    <a:pt x="548" y="636"/>
                  </a:lnTo>
                  <a:lnTo>
                    <a:pt x="533" y="642"/>
                  </a:lnTo>
                  <a:lnTo>
                    <a:pt x="516" y="645"/>
                  </a:lnTo>
                  <a:lnTo>
                    <a:pt x="500" y="648"/>
                  </a:lnTo>
                  <a:lnTo>
                    <a:pt x="484" y="649"/>
                  </a:lnTo>
                  <a:lnTo>
                    <a:pt x="484" y="649"/>
                  </a:lnTo>
                  <a:lnTo>
                    <a:pt x="466" y="648"/>
                  </a:lnTo>
                  <a:lnTo>
                    <a:pt x="450" y="645"/>
                  </a:lnTo>
                  <a:lnTo>
                    <a:pt x="433" y="642"/>
                  </a:lnTo>
                  <a:lnTo>
                    <a:pt x="419" y="636"/>
                  </a:lnTo>
                  <a:lnTo>
                    <a:pt x="404" y="629"/>
                  </a:lnTo>
                  <a:lnTo>
                    <a:pt x="390" y="621"/>
                  </a:lnTo>
                  <a:lnTo>
                    <a:pt x="377" y="611"/>
                  </a:lnTo>
                  <a:lnTo>
                    <a:pt x="365" y="600"/>
                  </a:lnTo>
                  <a:lnTo>
                    <a:pt x="354" y="588"/>
                  </a:lnTo>
                  <a:lnTo>
                    <a:pt x="345" y="576"/>
                  </a:lnTo>
                  <a:lnTo>
                    <a:pt x="337" y="562"/>
                  </a:lnTo>
                  <a:lnTo>
                    <a:pt x="330" y="548"/>
                  </a:lnTo>
                  <a:lnTo>
                    <a:pt x="325" y="532"/>
                  </a:lnTo>
                  <a:lnTo>
                    <a:pt x="320" y="516"/>
                  </a:lnTo>
                  <a:lnTo>
                    <a:pt x="318" y="499"/>
                  </a:lnTo>
                  <a:lnTo>
                    <a:pt x="317" y="483"/>
                  </a:lnTo>
                  <a:lnTo>
                    <a:pt x="317" y="483"/>
                  </a:lnTo>
                  <a:close/>
                </a:path>
              </a:pathLst>
            </a:custGeom>
            <a:grpFill/>
            <a:ln w="9525">
              <a:solidFill>
                <a:srgbClr val="002060"/>
              </a:solidFill>
              <a:round/>
              <a:headEnd/>
              <a:tailEnd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ja-JP"/>
              </a:defPPr>
              <a:lvl1pPr marL="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2400"/>
            </a:p>
          </p:txBody>
        </p:sp>
        <p:sp>
          <p:nvSpPr>
            <p:cNvPr id="18" name="Freeform 157"/>
            <p:cNvSpPr>
              <a:spLocks noEditPoints="1"/>
            </p:cNvSpPr>
            <p:nvPr/>
          </p:nvSpPr>
          <p:spPr bwMode="auto">
            <a:xfrm>
              <a:off x="5764213" y="2043113"/>
              <a:ext cx="306388" cy="306388"/>
            </a:xfrm>
            <a:custGeom>
              <a:avLst/>
              <a:gdLst>
                <a:gd name="T0" fmla="*/ 666 w 772"/>
                <a:gd name="T1" fmla="*/ 314 h 773"/>
                <a:gd name="T2" fmla="*/ 654 w 772"/>
                <a:gd name="T3" fmla="*/ 275 h 773"/>
                <a:gd name="T4" fmla="*/ 693 w 772"/>
                <a:gd name="T5" fmla="*/ 148 h 773"/>
                <a:gd name="T6" fmla="*/ 532 w 772"/>
                <a:gd name="T7" fmla="*/ 136 h 773"/>
                <a:gd name="T8" fmla="*/ 478 w 772"/>
                <a:gd name="T9" fmla="*/ 112 h 773"/>
                <a:gd name="T10" fmla="*/ 337 w 772"/>
                <a:gd name="T11" fmla="*/ 0 h 773"/>
                <a:gd name="T12" fmla="*/ 293 w 772"/>
                <a:gd name="T13" fmla="*/ 112 h 773"/>
                <a:gd name="T14" fmla="*/ 238 w 772"/>
                <a:gd name="T15" fmla="*/ 136 h 773"/>
                <a:gd name="T16" fmla="*/ 135 w 772"/>
                <a:gd name="T17" fmla="*/ 240 h 773"/>
                <a:gd name="T18" fmla="*/ 118 w 772"/>
                <a:gd name="T19" fmla="*/ 275 h 773"/>
                <a:gd name="T20" fmla="*/ 0 w 772"/>
                <a:gd name="T21" fmla="*/ 339 h 773"/>
                <a:gd name="T22" fmla="*/ 105 w 772"/>
                <a:gd name="T23" fmla="*/ 461 h 773"/>
                <a:gd name="T24" fmla="*/ 126 w 772"/>
                <a:gd name="T25" fmla="*/ 517 h 773"/>
                <a:gd name="T26" fmla="*/ 146 w 772"/>
                <a:gd name="T27" fmla="*/ 694 h 773"/>
                <a:gd name="T28" fmla="*/ 256 w 772"/>
                <a:gd name="T29" fmla="*/ 647 h 773"/>
                <a:gd name="T30" fmla="*/ 312 w 772"/>
                <a:gd name="T31" fmla="*/ 668 h 773"/>
                <a:gd name="T32" fmla="*/ 459 w 772"/>
                <a:gd name="T33" fmla="*/ 668 h 773"/>
                <a:gd name="T34" fmla="*/ 497 w 772"/>
                <a:gd name="T35" fmla="*/ 655 h 773"/>
                <a:gd name="T36" fmla="*/ 624 w 772"/>
                <a:gd name="T37" fmla="*/ 694 h 773"/>
                <a:gd name="T38" fmla="*/ 636 w 772"/>
                <a:gd name="T39" fmla="*/ 534 h 773"/>
                <a:gd name="T40" fmla="*/ 660 w 772"/>
                <a:gd name="T41" fmla="*/ 480 h 773"/>
                <a:gd name="T42" fmla="*/ 519 w 772"/>
                <a:gd name="T43" fmla="*/ 387 h 773"/>
                <a:gd name="T44" fmla="*/ 516 w 772"/>
                <a:gd name="T45" fmla="*/ 414 h 773"/>
                <a:gd name="T46" fmla="*/ 502 w 772"/>
                <a:gd name="T47" fmla="*/ 451 h 773"/>
                <a:gd name="T48" fmla="*/ 479 w 772"/>
                <a:gd name="T49" fmla="*/ 481 h 773"/>
                <a:gd name="T50" fmla="*/ 449 w 772"/>
                <a:gd name="T51" fmla="*/ 504 h 773"/>
                <a:gd name="T52" fmla="*/ 413 w 772"/>
                <a:gd name="T53" fmla="*/ 518 h 773"/>
                <a:gd name="T54" fmla="*/ 385 w 772"/>
                <a:gd name="T55" fmla="*/ 520 h 773"/>
                <a:gd name="T56" fmla="*/ 346 w 772"/>
                <a:gd name="T57" fmla="*/ 514 h 773"/>
                <a:gd name="T58" fmla="*/ 311 w 772"/>
                <a:gd name="T59" fmla="*/ 498 h 773"/>
                <a:gd name="T60" fmla="*/ 282 w 772"/>
                <a:gd name="T61" fmla="*/ 472 h 773"/>
                <a:gd name="T62" fmla="*/ 262 w 772"/>
                <a:gd name="T63" fmla="*/ 439 h 773"/>
                <a:gd name="T64" fmla="*/ 253 w 772"/>
                <a:gd name="T65" fmla="*/ 400 h 773"/>
                <a:gd name="T66" fmla="*/ 253 w 772"/>
                <a:gd name="T67" fmla="*/ 374 h 773"/>
                <a:gd name="T68" fmla="*/ 262 w 772"/>
                <a:gd name="T69" fmla="*/ 336 h 773"/>
                <a:gd name="T70" fmla="*/ 282 w 772"/>
                <a:gd name="T71" fmla="*/ 303 h 773"/>
                <a:gd name="T72" fmla="*/ 311 w 772"/>
                <a:gd name="T73" fmla="*/ 277 h 773"/>
                <a:gd name="T74" fmla="*/ 346 w 772"/>
                <a:gd name="T75" fmla="*/ 260 h 773"/>
                <a:gd name="T76" fmla="*/ 385 w 772"/>
                <a:gd name="T77" fmla="*/ 255 h 773"/>
                <a:gd name="T78" fmla="*/ 413 w 772"/>
                <a:gd name="T79" fmla="*/ 257 h 773"/>
                <a:gd name="T80" fmla="*/ 449 w 772"/>
                <a:gd name="T81" fmla="*/ 270 h 773"/>
                <a:gd name="T82" fmla="*/ 479 w 772"/>
                <a:gd name="T83" fmla="*/ 293 h 773"/>
                <a:gd name="T84" fmla="*/ 502 w 772"/>
                <a:gd name="T85" fmla="*/ 324 h 773"/>
                <a:gd name="T86" fmla="*/ 516 w 772"/>
                <a:gd name="T87" fmla="*/ 360 h 773"/>
                <a:gd name="T88" fmla="*/ 519 w 772"/>
                <a:gd name="T89" fmla="*/ 387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72" h="773">
                  <a:moveTo>
                    <a:pt x="772" y="435"/>
                  </a:moveTo>
                  <a:lnTo>
                    <a:pt x="772" y="339"/>
                  </a:lnTo>
                  <a:lnTo>
                    <a:pt x="666" y="314"/>
                  </a:lnTo>
                  <a:lnTo>
                    <a:pt x="666" y="314"/>
                  </a:lnTo>
                  <a:lnTo>
                    <a:pt x="660" y="294"/>
                  </a:lnTo>
                  <a:lnTo>
                    <a:pt x="654" y="275"/>
                  </a:lnTo>
                  <a:lnTo>
                    <a:pt x="645" y="258"/>
                  </a:lnTo>
                  <a:lnTo>
                    <a:pt x="636" y="240"/>
                  </a:lnTo>
                  <a:lnTo>
                    <a:pt x="693" y="148"/>
                  </a:lnTo>
                  <a:lnTo>
                    <a:pt x="624" y="80"/>
                  </a:lnTo>
                  <a:lnTo>
                    <a:pt x="532" y="136"/>
                  </a:lnTo>
                  <a:lnTo>
                    <a:pt x="532" y="136"/>
                  </a:lnTo>
                  <a:lnTo>
                    <a:pt x="514" y="128"/>
                  </a:lnTo>
                  <a:lnTo>
                    <a:pt x="497" y="119"/>
                  </a:lnTo>
                  <a:lnTo>
                    <a:pt x="478" y="112"/>
                  </a:lnTo>
                  <a:lnTo>
                    <a:pt x="459" y="107"/>
                  </a:lnTo>
                  <a:lnTo>
                    <a:pt x="433" y="0"/>
                  </a:lnTo>
                  <a:lnTo>
                    <a:pt x="337" y="0"/>
                  </a:lnTo>
                  <a:lnTo>
                    <a:pt x="312" y="107"/>
                  </a:lnTo>
                  <a:lnTo>
                    <a:pt x="312" y="107"/>
                  </a:lnTo>
                  <a:lnTo>
                    <a:pt x="293" y="112"/>
                  </a:lnTo>
                  <a:lnTo>
                    <a:pt x="275" y="119"/>
                  </a:lnTo>
                  <a:lnTo>
                    <a:pt x="256" y="128"/>
                  </a:lnTo>
                  <a:lnTo>
                    <a:pt x="238" y="136"/>
                  </a:lnTo>
                  <a:lnTo>
                    <a:pt x="146" y="80"/>
                  </a:lnTo>
                  <a:lnTo>
                    <a:pt x="78" y="148"/>
                  </a:lnTo>
                  <a:lnTo>
                    <a:pt x="135" y="240"/>
                  </a:lnTo>
                  <a:lnTo>
                    <a:pt x="135" y="240"/>
                  </a:lnTo>
                  <a:lnTo>
                    <a:pt x="126" y="258"/>
                  </a:lnTo>
                  <a:lnTo>
                    <a:pt x="118" y="275"/>
                  </a:lnTo>
                  <a:lnTo>
                    <a:pt x="110" y="294"/>
                  </a:lnTo>
                  <a:lnTo>
                    <a:pt x="105" y="314"/>
                  </a:lnTo>
                  <a:lnTo>
                    <a:pt x="0" y="339"/>
                  </a:lnTo>
                  <a:lnTo>
                    <a:pt x="0" y="435"/>
                  </a:lnTo>
                  <a:lnTo>
                    <a:pt x="105" y="461"/>
                  </a:lnTo>
                  <a:lnTo>
                    <a:pt x="105" y="461"/>
                  </a:lnTo>
                  <a:lnTo>
                    <a:pt x="110" y="480"/>
                  </a:lnTo>
                  <a:lnTo>
                    <a:pt x="118" y="498"/>
                  </a:lnTo>
                  <a:lnTo>
                    <a:pt x="126" y="517"/>
                  </a:lnTo>
                  <a:lnTo>
                    <a:pt x="135" y="534"/>
                  </a:lnTo>
                  <a:lnTo>
                    <a:pt x="78" y="626"/>
                  </a:lnTo>
                  <a:lnTo>
                    <a:pt x="146" y="694"/>
                  </a:lnTo>
                  <a:lnTo>
                    <a:pt x="239" y="637"/>
                  </a:lnTo>
                  <a:lnTo>
                    <a:pt x="239" y="637"/>
                  </a:lnTo>
                  <a:lnTo>
                    <a:pt x="256" y="647"/>
                  </a:lnTo>
                  <a:lnTo>
                    <a:pt x="275" y="655"/>
                  </a:lnTo>
                  <a:lnTo>
                    <a:pt x="293" y="662"/>
                  </a:lnTo>
                  <a:lnTo>
                    <a:pt x="312" y="668"/>
                  </a:lnTo>
                  <a:lnTo>
                    <a:pt x="337" y="773"/>
                  </a:lnTo>
                  <a:lnTo>
                    <a:pt x="433" y="773"/>
                  </a:lnTo>
                  <a:lnTo>
                    <a:pt x="459" y="668"/>
                  </a:lnTo>
                  <a:lnTo>
                    <a:pt x="459" y="668"/>
                  </a:lnTo>
                  <a:lnTo>
                    <a:pt x="478" y="662"/>
                  </a:lnTo>
                  <a:lnTo>
                    <a:pt x="497" y="655"/>
                  </a:lnTo>
                  <a:lnTo>
                    <a:pt x="514" y="647"/>
                  </a:lnTo>
                  <a:lnTo>
                    <a:pt x="532" y="637"/>
                  </a:lnTo>
                  <a:lnTo>
                    <a:pt x="624" y="694"/>
                  </a:lnTo>
                  <a:lnTo>
                    <a:pt x="693" y="626"/>
                  </a:lnTo>
                  <a:lnTo>
                    <a:pt x="636" y="534"/>
                  </a:lnTo>
                  <a:lnTo>
                    <a:pt x="636" y="534"/>
                  </a:lnTo>
                  <a:lnTo>
                    <a:pt x="645" y="517"/>
                  </a:lnTo>
                  <a:lnTo>
                    <a:pt x="654" y="498"/>
                  </a:lnTo>
                  <a:lnTo>
                    <a:pt x="660" y="480"/>
                  </a:lnTo>
                  <a:lnTo>
                    <a:pt x="666" y="461"/>
                  </a:lnTo>
                  <a:lnTo>
                    <a:pt x="772" y="435"/>
                  </a:lnTo>
                  <a:close/>
                  <a:moveTo>
                    <a:pt x="519" y="387"/>
                  </a:moveTo>
                  <a:lnTo>
                    <a:pt x="519" y="387"/>
                  </a:lnTo>
                  <a:lnTo>
                    <a:pt x="518" y="400"/>
                  </a:lnTo>
                  <a:lnTo>
                    <a:pt x="516" y="414"/>
                  </a:lnTo>
                  <a:lnTo>
                    <a:pt x="512" y="427"/>
                  </a:lnTo>
                  <a:lnTo>
                    <a:pt x="508" y="439"/>
                  </a:lnTo>
                  <a:lnTo>
                    <a:pt x="502" y="451"/>
                  </a:lnTo>
                  <a:lnTo>
                    <a:pt x="496" y="462"/>
                  </a:lnTo>
                  <a:lnTo>
                    <a:pt x="488" y="472"/>
                  </a:lnTo>
                  <a:lnTo>
                    <a:pt x="479" y="481"/>
                  </a:lnTo>
                  <a:lnTo>
                    <a:pt x="470" y="490"/>
                  </a:lnTo>
                  <a:lnTo>
                    <a:pt x="460" y="498"/>
                  </a:lnTo>
                  <a:lnTo>
                    <a:pt x="449" y="504"/>
                  </a:lnTo>
                  <a:lnTo>
                    <a:pt x="437" y="510"/>
                  </a:lnTo>
                  <a:lnTo>
                    <a:pt x="425" y="514"/>
                  </a:lnTo>
                  <a:lnTo>
                    <a:pt x="413" y="518"/>
                  </a:lnTo>
                  <a:lnTo>
                    <a:pt x="399" y="520"/>
                  </a:lnTo>
                  <a:lnTo>
                    <a:pt x="385" y="520"/>
                  </a:lnTo>
                  <a:lnTo>
                    <a:pt x="385" y="520"/>
                  </a:lnTo>
                  <a:lnTo>
                    <a:pt x="372" y="520"/>
                  </a:lnTo>
                  <a:lnTo>
                    <a:pt x="359" y="518"/>
                  </a:lnTo>
                  <a:lnTo>
                    <a:pt x="346" y="514"/>
                  </a:lnTo>
                  <a:lnTo>
                    <a:pt x="334" y="510"/>
                  </a:lnTo>
                  <a:lnTo>
                    <a:pt x="322" y="504"/>
                  </a:lnTo>
                  <a:lnTo>
                    <a:pt x="311" y="498"/>
                  </a:lnTo>
                  <a:lnTo>
                    <a:pt x="301" y="490"/>
                  </a:lnTo>
                  <a:lnTo>
                    <a:pt x="291" y="481"/>
                  </a:lnTo>
                  <a:lnTo>
                    <a:pt x="282" y="472"/>
                  </a:lnTo>
                  <a:lnTo>
                    <a:pt x="275" y="462"/>
                  </a:lnTo>
                  <a:lnTo>
                    <a:pt x="268" y="451"/>
                  </a:lnTo>
                  <a:lnTo>
                    <a:pt x="262" y="439"/>
                  </a:lnTo>
                  <a:lnTo>
                    <a:pt x="258" y="427"/>
                  </a:lnTo>
                  <a:lnTo>
                    <a:pt x="255" y="414"/>
                  </a:lnTo>
                  <a:lnTo>
                    <a:pt x="253" y="400"/>
                  </a:lnTo>
                  <a:lnTo>
                    <a:pt x="253" y="387"/>
                  </a:lnTo>
                  <a:lnTo>
                    <a:pt x="253" y="387"/>
                  </a:lnTo>
                  <a:lnTo>
                    <a:pt x="253" y="374"/>
                  </a:lnTo>
                  <a:lnTo>
                    <a:pt x="255" y="360"/>
                  </a:lnTo>
                  <a:lnTo>
                    <a:pt x="258" y="348"/>
                  </a:lnTo>
                  <a:lnTo>
                    <a:pt x="262" y="336"/>
                  </a:lnTo>
                  <a:lnTo>
                    <a:pt x="268" y="324"/>
                  </a:lnTo>
                  <a:lnTo>
                    <a:pt x="275" y="313"/>
                  </a:lnTo>
                  <a:lnTo>
                    <a:pt x="282" y="303"/>
                  </a:lnTo>
                  <a:lnTo>
                    <a:pt x="291" y="293"/>
                  </a:lnTo>
                  <a:lnTo>
                    <a:pt x="301" y="284"/>
                  </a:lnTo>
                  <a:lnTo>
                    <a:pt x="311" y="277"/>
                  </a:lnTo>
                  <a:lnTo>
                    <a:pt x="322" y="270"/>
                  </a:lnTo>
                  <a:lnTo>
                    <a:pt x="334" y="264"/>
                  </a:lnTo>
                  <a:lnTo>
                    <a:pt x="346" y="260"/>
                  </a:lnTo>
                  <a:lnTo>
                    <a:pt x="359" y="257"/>
                  </a:lnTo>
                  <a:lnTo>
                    <a:pt x="372" y="255"/>
                  </a:lnTo>
                  <a:lnTo>
                    <a:pt x="385" y="255"/>
                  </a:lnTo>
                  <a:lnTo>
                    <a:pt x="385" y="255"/>
                  </a:lnTo>
                  <a:lnTo>
                    <a:pt x="399" y="255"/>
                  </a:lnTo>
                  <a:lnTo>
                    <a:pt x="413" y="257"/>
                  </a:lnTo>
                  <a:lnTo>
                    <a:pt x="425" y="260"/>
                  </a:lnTo>
                  <a:lnTo>
                    <a:pt x="437" y="264"/>
                  </a:lnTo>
                  <a:lnTo>
                    <a:pt x="449" y="270"/>
                  </a:lnTo>
                  <a:lnTo>
                    <a:pt x="460" y="277"/>
                  </a:lnTo>
                  <a:lnTo>
                    <a:pt x="470" y="284"/>
                  </a:lnTo>
                  <a:lnTo>
                    <a:pt x="479" y="293"/>
                  </a:lnTo>
                  <a:lnTo>
                    <a:pt x="488" y="303"/>
                  </a:lnTo>
                  <a:lnTo>
                    <a:pt x="496" y="313"/>
                  </a:lnTo>
                  <a:lnTo>
                    <a:pt x="502" y="324"/>
                  </a:lnTo>
                  <a:lnTo>
                    <a:pt x="508" y="336"/>
                  </a:lnTo>
                  <a:lnTo>
                    <a:pt x="512" y="348"/>
                  </a:lnTo>
                  <a:lnTo>
                    <a:pt x="516" y="360"/>
                  </a:lnTo>
                  <a:lnTo>
                    <a:pt x="518" y="374"/>
                  </a:lnTo>
                  <a:lnTo>
                    <a:pt x="519" y="387"/>
                  </a:lnTo>
                  <a:lnTo>
                    <a:pt x="519" y="387"/>
                  </a:lnTo>
                  <a:close/>
                </a:path>
              </a:pathLst>
            </a:custGeom>
            <a:grpFill/>
            <a:ln w="9525">
              <a:solidFill>
                <a:srgbClr val="002060"/>
              </a:solidFill>
              <a:round/>
              <a:headEnd/>
              <a:tailEnd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ja-JP"/>
              </a:defPPr>
              <a:lvl1pPr marL="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2400"/>
            </a:p>
          </p:txBody>
        </p:sp>
        <p:sp>
          <p:nvSpPr>
            <p:cNvPr id="19" name="Freeform 158"/>
            <p:cNvSpPr>
              <a:spLocks noEditPoints="1"/>
            </p:cNvSpPr>
            <p:nvPr/>
          </p:nvSpPr>
          <p:spPr bwMode="auto">
            <a:xfrm>
              <a:off x="5554663" y="2208213"/>
              <a:ext cx="244475" cy="246063"/>
            </a:xfrm>
            <a:custGeom>
              <a:avLst/>
              <a:gdLst>
                <a:gd name="T0" fmla="*/ 500 w 618"/>
                <a:gd name="T1" fmla="*/ 63 h 618"/>
                <a:gd name="T2" fmla="*/ 412 w 618"/>
                <a:gd name="T3" fmla="*/ 102 h 618"/>
                <a:gd name="T4" fmla="*/ 368 w 618"/>
                <a:gd name="T5" fmla="*/ 84 h 618"/>
                <a:gd name="T6" fmla="*/ 250 w 618"/>
                <a:gd name="T7" fmla="*/ 84 h 618"/>
                <a:gd name="T8" fmla="*/ 220 w 618"/>
                <a:gd name="T9" fmla="*/ 95 h 618"/>
                <a:gd name="T10" fmla="*/ 117 w 618"/>
                <a:gd name="T11" fmla="*/ 63 h 618"/>
                <a:gd name="T12" fmla="*/ 109 w 618"/>
                <a:gd name="T13" fmla="*/ 192 h 618"/>
                <a:gd name="T14" fmla="*/ 89 w 618"/>
                <a:gd name="T15" fmla="*/ 236 h 618"/>
                <a:gd name="T16" fmla="*/ 0 w 618"/>
                <a:gd name="T17" fmla="*/ 348 h 618"/>
                <a:gd name="T18" fmla="*/ 89 w 618"/>
                <a:gd name="T19" fmla="*/ 383 h 618"/>
                <a:gd name="T20" fmla="*/ 109 w 618"/>
                <a:gd name="T21" fmla="*/ 426 h 618"/>
                <a:gd name="T22" fmla="*/ 192 w 618"/>
                <a:gd name="T23" fmla="*/ 510 h 618"/>
                <a:gd name="T24" fmla="*/ 220 w 618"/>
                <a:gd name="T25" fmla="*/ 524 h 618"/>
                <a:gd name="T26" fmla="*/ 271 w 618"/>
                <a:gd name="T27" fmla="*/ 618 h 618"/>
                <a:gd name="T28" fmla="*/ 368 w 618"/>
                <a:gd name="T29" fmla="*/ 534 h 618"/>
                <a:gd name="T30" fmla="*/ 412 w 618"/>
                <a:gd name="T31" fmla="*/ 517 h 618"/>
                <a:gd name="T32" fmla="*/ 555 w 618"/>
                <a:gd name="T33" fmla="*/ 501 h 618"/>
                <a:gd name="T34" fmla="*/ 516 w 618"/>
                <a:gd name="T35" fmla="*/ 413 h 618"/>
                <a:gd name="T36" fmla="*/ 534 w 618"/>
                <a:gd name="T37" fmla="*/ 368 h 618"/>
                <a:gd name="T38" fmla="*/ 534 w 618"/>
                <a:gd name="T39" fmla="*/ 251 h 618"/>
                <a:gd name="T40" fmla="*/ 523 w 618"/>
                <a:gd name="T41" fmla="*/ 220 h 618"/>
                <a:gd name="T42" fmla="*/ 510 w 618"/>
                <a:gd name="T43" fmla="*/ 192 h 618"/>
                <a:gd name="T44" fmla="*/ 414 w 618"/>
                <a:gd name="T45" fmla="*/ 320 h 618"/>
                <a:gd name="T46" fmla="*/ 407 w 618"/>
                <a:gd name="T47" fmla="*/ 351 h 618"/>
                <a:gd name="T48" fmla="*/ 391 w 618"/>
                <a:gd name="T49" fmla="*/ 377 h 618"/>
                <a:gd name="T50" fmla="*/ 368 w 618"/>
                <a:gd name="T51" fmla="*/ 398 h 618"/>
                <a:gd name="T52" fmla="*/ 341 w 618"/>
                <a:gd name="T53" fmla="*/ 411 h 618"/>
                <a:gd name="T54" fmla="*/ 309 w 618"/>
                <a:gd name="T55" fmla="*/ 415 h 618"/>
                <a:gd name="T56" fmla="*/ 287 w 618"/>
                <a:gd name="T57" fmla="*/ 413 h 618"/>
                <a:gd name="T58" fmla="*/ 259 w 618"/>
                <a:gd name="T59" fmla="*/ 403 h 618"/>
                <a:gd name="T60" fmla="*/ 234 w 618"/>
                <a:gd name="T61" fmla="*/ 385 h 618"/>
                <a:gd name="T62" fmla="*/ 215 w 618"/>
                <a:gd name="T63" fmla="*/ 360 h 618"/>
                <a:gd name="T64" fmla="*/ 205 w 618"/>
                <a:gd name="T65" fmla="*/ 331 h 618"/>
                <a:gd name="T66" fmla="*/ 203 w 618"/>
                <a:gd name="T67" fmla="*/ 309 h 618"/>
                <a:gd name="T68" fmla="*/ 207 w 618"/>
                <a:gd name="T69" fmla="*/ 277 h 618"/>
                <a:gd name="T70" fmla="*/ 220 w 618"/>
                <a:gd name="T71" fmla="*/ 250 h 618"/>
                <a:gd name="T72" fmla="*/ 241 w 618"/>
                <a:gd name="T73" fmla="*/ 227 h 618"/>
                <a:gd name="T74" fmla="*/ 268 w 618"/>
                <a:gd name="T75" fmla="*/ 211 h 618"/>
                <a:gd name="T76" fmla="*/ 298 w 618"/>
                <a:gd name="T77" fmla="*/ 204 h 618"/>
                <a:gd name="T78" fmla="*/ 320 w 618"/>
                <a:gd name="T79" fmla="*/ 204 h 618"/>
                <a:gd name="T80" fmla="*/ 351 w 618"/>
                <a:gd name="T81" fmla="*/ 211 h 618"/>
                <a:gd name="T82" fmla="*/ 377 w 618"/>
                <a:gd name="T83" fmla="*/ 227 h 618"/>
                <a:gd name="T84" fmla="*/ 397 w 618"/>
                <a:gd name="T85" fmla="*/ 250 h 618"/>
                <a:gd name="T86" fmla="*/ 411 w 618"/>
                <a:gd name="T87" fmla="*/ 277 h 618"/>
                <a:gd name="T88" fmla="*/ 415 w 618"/>
                <a:gd name="T89" fmla="*/ 309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18" h="618">
                  <a:moveTo>
                    <a:pt x="510" y="192"/>
                  </a:moveTo>
                  <a:lnTo>
                    <a:pt x="555" y="118"/>
                  </a:lnTo>
                  <a:lnTo>
                    <a:pt x="500" y="63"/>
                  </a:lnTo>
                  <a:lnTo>
                    <a:pt x="426" y="108"/>
                  </a:lnTo>
                  <a:lnTo>
                    <a:pt x="426" y="108"/>
                  </a:lnTo>
                  <a:lnTo>
                    <a:pt x="412" y="102"/>
                  </a:lnTo>
                  <a:lnTo>
                    <a:pt x="398" y="95"/>
                  </a:lnTo>
                  <a:lnTo>
                    <a:pt x="384" y="90"/>
                  </a:lnTo>
                  <a:lnTo>
                    <a:pt x="368" y="84"/>
                  </a:lnTo>
                  <a:lnTo>
                    <a:pt x="348" y="0"/>
                  </a:lnTo>
                  <a:lnTo>
                    <a:pt x="271" y="0"/>
                  </a:lnTo>
                  <a:lnTo>
                    <a:pt x="250" y="84"/>
                  </a:lnTo>
                  <a:lnTo>
                    <a:pt x="250" y="84"/>
                  </a:lnTo>
                  <a:lnTo>
                    <a:pt x="235" y="90"/>
                  </a:lnTo>
                  <a:lnTo>
                    <a:pt x="220" y="95"/>
                  </a:lnTo>
                  <a:lnTo>
                    <a:pt x="206" y="102"/>
                  </a:lnTo>
                  <a:lnTo>
                    <a:pt x="192" y="108"/>
                  </a:lnTo>
                  <a:lnTo>
                    <a:pt x="117" y="63"/>
                  </a:lnTo>
                  <a:lnTo>
                    <a:pt x="63" y="118"/>
                  </a:lnTo>
                  <a:lnTo>
                    <a:pt x="109" y="192"/>
                  </a:lnTo>
                  <a:lnTo>
                    <a:pt x="109" y="192"/>
                  </a:lnTo>
                  <a:lnTo>
                    <a:pt x="101" y="206"/>
                  </a:lnTo>
                  <a:lnTo>
                    <a:pt x="94" y="220"/>
                  </a:lnTo>
                  <a:lnTo>
                    <a:pt x="89" y="236"/>
                  </a:lnTo>
                  <a:lnTo>
                    <a:pt x="85" y="251"/>
                  </a:lnTo>
                  <a:lnTo>
                    <a:pt x="0" y="271"/>
                  </a:lnTo>
                  <a:lnTo>
                    <a:pt x="0" y="348"/>
                  </a:lnTo>
                  <a:lnTo>
                    <a:pt x="85" y="368"/>
                  </a:lnTo>
                  <a:lnTo>
                    <a:pt x="85" y="368"/>
                  </a:lnTo>
                  <a:lnTo>
                    <a:pt x="89" y="383"/>
                  </a:lnTo>
                  <a:lnTo>
                    <a:pt x="94" y="398"/>
                  </a:lnTo>
                  <a:lnTo>
                    <a:pt x="101" y="412"/>
                  </a:lnTo>
                  <a:lnTo>
                    <a:pt x="109" y="426"/>
                  </a:lnTo>
                  <a:lnTo>
                    <a:pt x="63" y="501"/>
                  </a:lnTo>
                  <a:lnTo>
                    <a:pt x="117" y="556"/>
                  </a:lnTo>
                  <a:lnTo>
                    <a:pt x="192" y="510"/>
                  </a:lnTo>
                  <a:lnTo>
                    <a:pt x="192" y="510"/>
                  </a:lnTo>
                  <a:lnTo>
                    <a:pt x="206" y="517"/>
                  </a:lnTo>
                  <a:lnTo>
                    <a:pt x="220" y="524"/>
                  </a:lnTo>
                  <a:lnTo>
                    <a:pt x="235" y="529"/>
                  </a:lnTo>
                  <a:lnTo>
                    <a:pt x="250" y="534"/>
                  </a:lnTo>
                  <a:lnTo>
                    <a:pt x="271" y="618"/>
                  </a:lnTo>
                  <a:lnTo>
                    <a:pt x="348" y="618"/>
                  </a:lnTo>
                  <a:lnTo>
                    <a:pt x="368" y="534"/>
                  </a:lnTo>
                  <a:lnTo>
                    <a:pt x="368" y="534"/>
                  </a:lnTo>
                  <a:lnTo>
                    <a:pt x="384" y="529"/>
                  </a:lnTo>
                  <a:lnTo>
                    <a:pt x="398" y="524"/>
                  </a:lnTo>
                  <a:lnTo>
                    <a:pt x="412" y="517"/>
                  </a:lnTo>
                  <a:lnTo>
                    <a:pt x="426" y="510"/>
                  </a:lnTo>
                  <a:lnTo>
                    <a:pt x="500" y="556"/>
                  </a:lnTo>
                  <a:lnTo>
                    <a:pt x="555" y="501"/>
                  </a:lnTo>
                  <a:lnTo>
                    <a:pt x="510" y="426"/>
                  </a:lnTo>
                  <a:lnTo>
                    <a:pt x="510" y="426"/>
                  </a:lnTo>
                  <a:lnTo>
                    <a:pt x="516" y="413"/>
                  </a:lnTo>
                  <a:lnTo>
                    <a:pt x="523" y="398"/>
                  </a:lnTo>
                  <a:lnTo>
                    <a:pt x="529" y="383"/>
                  </a:lnTo>
                  <a:lnTo>
                    <a:pt x="534" y="368"/>
                  </a:lnTo>
                  <a:lnTo>
                    <a:pt x="618" y="348"/>
                  </a:lnTo>
                  <a:lnTo>
                    <a:pt x="618" y="271"/>
                  </a:lnTo>
                  <a:lnTo>
                    <a:pt x="534" y="251"/>
                  </a:lnTo>
                  <a:lnTo>
                    <a:pt x="534" y="251"/>
                  </a:lnTo>
                  <a:lnTo>
                    <a:pt x="529" y="236"/>
                  </a:lnTo>
                  <a:lnTo>
                    <a:pt x="523" y="220"/>
                  </a:lnTo>
                  <a:lnTo>
                    <a:pt x="516" y="206"/>
                  </a:lnTo>
                  <a:lnTo>
                    <a:pt x="510" y="192"/>
                  </a:lnTo>
                  <a:lnTo>
                    <a:pt x="510" y="192"/>
                  </a:lnTo>
                  <a:close/>
                  <a:moveTo>
                    <a:pt x="415" y="309"/>
                  </a:moveTo>
                  <a:lnTo>
                    <a:pt x="415" y="309"/>
                  </a:lnTo>
                  <a:lnTo>
                    <a:pt x="414" y="320"/>
                  </a:lnTo>
                  <a:lnTo>
                    <a:pt x="413" y="331"/>
                  </a:lnTo>
                  <a:lnTo>
                    <a:pt x="411" y="341"/>
                  </a:lnTo>
                  <a:lnTo>
                    <a:pt x="407" y="351"/>
                  </a:lnTo>
                  <a:lnTo>
                    <a:pt x="402" y="360"/>
                  </a:lnTo>
                  <a:lnTo>
                    <a:pt x="397" y="369"/>
                  </a:lnTo>
                  <a:lnTo>
                    <a:pt x="391" y="377"/>
                  </a:lnTo>
                  <a:lnTo>
                    <a:pt x="385" y="385"/>
                  </a:lnTo>
                  <a:lnTo>
                    <a:pt x="377" y="391"/>
                  </a:lnTo>
                  <a:lnTo>
                    <a:pt x="368" y="398"/>
                  </a:lnTo>
                  <a:lnTo>
                    <a:pt x="360" y="403"/>
                  </a:lnTo>
                  <a:lnTo>
                    <a:pt x="351" y="408"/>
                  </a:lnTo>
                  <a:lnTo>
                    <a:pt x="341" y="411"/>
                  </a:lnTo>
                  <a:lnTo>
                    <a:pt x="330" y="413"/>
                  </a:lnTo>
                  <a:lnTo>
                    <a:pt x="320" y="415"/>
                  </a:lnTo>
                  <a:lnTo>
                    <a:pt x="309" y="415"/>
                  </a:lnTo>
                  <a:lnTo>
                    <a:pt x="309" y="415"/>
                  </a:lnTo>
                  <a:lnTo>
                    <a:pt x="298" y="415"/>
                  </a:lnTo>
                  <a:lnTo>
                    <a:pt x="287" y="413"/>
                  </a:lnTo>
                  <a:lnTo>
                    <a:pt x="277" y="411"/>
                  </a:lnTo>
                  <a:lnTo>
                    <a:pt x="268" y="408"/>
                  </a:lnTo>
                  <a:lnTo>
                    <a:pt x="259" y="403"/>
                  </a:lnTo>
                  <a:lnTo>
                    <a:pt x="250" y="398"/>
                  </a:lnTo>
                  <a:lnTo>
                    <a:pt x="241" y="391"/>
                  </a:lnTo>
                  <a:lnTo>
                    <a:pt x="234" y="385"/>
                  </a:lnTo>
                  <a:lnTo>
                    <a:pt x="227" y="377"/>
                  </a:lnTo>
                  <a:lnTo>
                    <a:pt x="220" y="369"/>
                  </a:lnTo>
                  <a:lnTo>
                    <a:pt x="215" y="360"/>
                  </a:lnTo>
                  <a:lnTo>
                    <a:pt x="211" y="351"/>
                  </a:lnTo>
                  <a:lnTo>
                    <a:pt x="207" y="341"/>
                  </a:lnTo>
                  <a:lnTo>
                    <a:pt x="205" y="331"/>
                  </a:lnTo>
                  <a:lnTo>
                    <a:pt x="203" y="320"/>
                  </a:lnTo>
                  <a:lnTo>
                    <a:pt x="203" y="309"/>
                  </a:lnTo>
                  <a:lnTo>
                    <a:pt x="203" y="309"/>
                  </a:lnTo>
                  <a:lnTo>
                    <a:pt x="203" y="298"/>
                  </a:lnTo>
                  <a:lnTo>
                    <a:pt x="205" y="288"/>
                  </a:lnTo>
                  <a:lnTo>
                    <a:pt x="207" y="277"/>
                  </a:lnTo>
                  <a:lnTo>
                    <a:pt x="211" y="267"/>
                  </a:lnTo>
                  <a:lnTo>
                    <a:pt x="215" y="259"/>
                  </a:lnTo>
                  <a:lnTo>
                    <a:pt x="220" y="250"/>
                  </a:lnTo>
                  <a:lnTo>
                    <a:pt x="227" y="241"/>
                  </a:lnTo>
                  <a:lnTo>
                    <a:pt x="234" y="234"/>
                  </a:lnTo>
                  <a:lnTo>
                    <a:pt x="241" y="227"/>
                  </a:lnTo>
                  <a:lnTo>
                    <a:pt x="250" y="221"/>
                  </a:lnTo>
                  <a:lnTo>
                    <a:pt x="259" y="216"/>
                  </a:lnTo>
                  <a:lnTo>
                    <a:pt x="268" y="211"/>
                  </a:lnTo>
                  <a:lnTo>
                    <a:pt x="277" y="207"/>
                  </a:lnTo>
                  <a:lnTo>
                    <a:pt x="287" y="205"/>
                  </a:lnTo>
                  <a:lnTo>
                    <a:pt x="298" y="204"/>
                  </a:lnTo>
                  <a:lnTo>
                    <a:pt x="309" y="203"/>
                  </a:lnTo>
                  <a:lnTo>
                    <a:pt x="309" y="203"/>
                  </a:lnTo>
                  <a:lnTo>
                    <a:pt x="320" y="204"/>
                  </a:lnTo>
                  <a:lnTo>
                    <a:pt x="330" y="205"/>
                  </a:lnTo>
                  <a:lnTo>
                    <a:pt x="341" y="207"/>
                  </a:lnTo>
                  <a:lnTo>
                    <a:pt x="351" y="211"/>
                  </a:lnTo>
                  <a:lnTo>
                    <a:pt x="360" y="216"/>
                  </a:lnTo>
                  <a:lnTo>
                    <a:pt x="368" y="221"/>
                  </a:lnTo>
                  <a:lnTo>
                    <a:pt x="377" y="227"/>
                  </a:lnTo>
                  <a:lnTo>
                    <a:pt x="385" y="234"/>
                  </a:lnTo>
                  <a:lnTo>
                    <a:pt x="391" y="241"/>
                  </a:lnTo>
                  <a:lnTo>
                    <a:pt x="397" y="250"/>
                  </a:lnTo>
                  <a:lnTo>
                    <a:pt x="402" y="259"/>
                  </a:lnTo>
                  <a:lnTo>
                    <a:pt x="407" y="267"/>
                  </a:lnTo>
                  <a:lnTo>
                    <a:pt x="411" y="277"/>
                  </a:lnTo>
                  <a:lnTo>
                    <a:pt x="413" y="288"/>
                  </a:lnTo>
                  <a:lnTo>
                    <a:pt x="414" y="298"/>
                  </a:lnTo>
                  <a:lnTo>
                    <a:pt x="415" y="309"/>
                  </a:lnTo>
                  <a:lnTo>
                    <a:pt x="415" y="309"/>
                  </a:lnTo>
                  <a:close/>
                </a:path>
              </a:pathLst>
            </a:custGeom>
            <a:grpFill/>
            <a:ln w="9525">
              <a:solidFill>
                <a:srgbClr val="002060"/>
              </a:solidFill>
              <a:round/>
              <a:headEnd/>
              <a:tailEnd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ja-JP"/>
              </a:defPPr>
              <a:lvl1pPr marL="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2400"/>
            </a:p>
          </p:txBody>
        </p:sp>
      </p:grpSp>
      <p:grpSp>
        <p:nvGrpSpPr>
          <p:cNvPr id="20" name="グループ化 19"/>
          <p:cNvGrpSpPr/>
          <p:nvPr/>
        </p:nvGrpSpPr>
        <p:grpSpPr>
          <a:xfrm>
            <a:off x="10223806" y="939285"/>
            <a:ext cx="412751" cy="842433"/>
            <a:chOff x="1258889" y="1542828"/>
            <a:chExt cx="309563" cy="631825"/>
          </a:xfrm>
        </p:grpSpPr>
        <p:sp>
          <p:nvSpPr>
            <p:cNvPr id="21" name="Freeform 76"/>
            <p:cNvSpPr>
              <a:spLocks noEditPoints="1"/>
            </p:cNvSpPr>
            <p:nvPr/>
          </p:nvSpPr>
          <p:spPr bwMode="auto">
            <a:xfrm>
              <a:off x="1258889" y="1542828"/>
              <a:ext cx="309563" cy="631825"/>
            </a:xfrm>
            <a:custGeom>
              <a:avLst/>
              <a:gdLst>
                <a:gd name="T0" fmla="*/ 119 w 120"/>
                <a:gd name="T1" fmla="*/ 245 h 245"/>
                <a:gd name="T2" fmla="*/ 0 w 120"/>
                <a:gd name="T3" fmla="*/ 245 h 245"/>
                <a:gd name="T4" fmla="*/ 0 w 120"/>
                <a:gd name="T5" fmla="*/ 242 h 245"/>
                <a:gd name="T6" fmla="*/ 0 w 120"/>
                <a:gd name="T7" fmla="*/ 14 h 245"/>
                <a:gd name="T8" fmla="*/ 14 w 120"/>
                <a:gd name="T9" fmla="*/ 0 h 245"/>
                <a:gd name="T10" fmla="*/ 106 w 120"/>
                <a:gd name="T11" fmla="*/ 0 h 245"/>
                <a:gd name="T12" fmla="*/ 119 w 120"/>
                <a:gd name="T13" fmla="*/ 9 h 245"/>
                <a:gd name="T14" fmla="*/ 120 w 120"/>
                <a:gd name="T15" fmla="*/ 13 h 245"/>
                <a:gd name="T16" fmla="*/ 120 w 120"/>
                <a:gd name="T17" fmla="*/ 242 h 245"/>
                <a:gd name="T18" fmla="*/ 119 w 120"/>
                <a:gd name="T19" fmla="*/ 245 h 245"/>
                <a:gd name="T20" fmla="*/ 18 w 120"/>
                <a:gd name="T21" fmla="*/ 48 h 245"/>
                <a:gd name="T22" fmla="*/ 102 w 120"/>
                <a:gd name="T23" fmla="*/ 48 h 245"/>
                <a:gd name="T24" fmla="*/ 102 w 120"/>
                <a:gd name="T25" fmla="*/ 36 h 245"/>
                <a:gd name="T26" fmla="*/ 18 w 120"/>
                <a:gd name="T27" fmla="*/ 36 h 245"/>
                <a:gd name="T28" fmla="*/ 18 w 120"/>
                <a:gd name="T29" fmla="*/ 48 h 245"/>
                <a:gd name="T30" fmla="*/ 102 w 120"/>
                <a:gd name="T31" fmla="*/ 185 h 245"/>
                <a:gd name="T32" fmla="*/ 18 w 120"/>
                <a:gd name="T33" fmla="*/ 185 h 245"/>
                <a:gd name="T34" fmla="*/ 18 w 120"/>
                <a:gd name="T35" fmla="*/ 197 h 245"/>
                <a:gd name="T36" fmla="*/ 102 w 120"/>
                <a:gd name="T37" fmla="*/ 197 h 245"/>
                <a:gd name="T38" fmla="*/ 102 w 120"/>
                <a:gd name="T39" fmla="*/ 185 h 245"/>
                <a:gd name="T40" fmla="*/ 18 w 120"/>
                <a:gd name="T41" fmla="*/ 209 h 245"/>
                <a:gd name="T42" fmla="*/ 18 w 120"/>
                <a:gd name="T43" fmla="*/ 221 h 245"/>
                <a:gd name="T44" fmla="*/ 102 w 120"/>
                <a:gd name="T45" fmla="*/ 221 h 245"/>
                <a:gd name="T46" fmla="*/ 102 w 120"/>
                <a:gd name="T47" fmla="*/ 209 h 245"/>
                <a:gd name="T48" fmla="*/ 18 w 120"/>
                <a:gd name="T49" fmla="*/ 209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0" h="245">
                  <a:moveTo>
                    <a:pt x="119" y="245"/>
                  </a:moveTo>
                  <a:cubicBezTo>
                    <a:pt x="80" y="245"/>
                    <a:pt x="40" y="245"/>
                    <a:pt x="0" y="245"/>
                  </a:cubicBezTo>
                  <a:cubicBezTo>
                    <a:pt x="0" y="244"/>
                    <a:pt x="0" y="243"/>
                    <a:pt x="0" y="242"/>
                  </a:cubicBezTo>
                  <a:cubicBezTo>
                    <a:pt x="0" y="166"/>
                    <a:pt x="0" y="90"/>
                    <a:pt x="0" y="14"/>
                  </a:cubicBezTo>
                  <a:cubicBezTo>
                    <a:pt x="0" y="4"/>
                    <a:pt x="6" y="0"/>
                    <a:pt x="14" y="0"/>
                  </a:cubicBezTo>
                  <a:cubicBezTo>
                    <a:pt x="45" y="0"/>
                    <a:pt x="75" y="0"/>
                    <a:pt x="106" y="0"/>
                  </a:cubicBezTo>
                  <a:cubicBezTo>
                    <a:pt x="113" y="0"/>
                    <a:pt x="118" y="3"/>
                    <a:pt x="119" y="9"/>
                  </a:cubicBezTo>
                  <a:cubicBezTo>
                    <a:pt x="119" y="10"/>
                    <a:pt x="120" y="12"/>
                    <a:pt x="120" y="13"/>
                  </a:cubicBezTo>
                  <a:cubicBezTo>
                    <a:pt x="120" y="90"/>
                    <a:pt x="120" y="166"/>
                    <a:pt x="120" y="242"/>
                  </a:cubicBezTo>
                  <a:cubicBezTo>
                    <a:pt x="120" y="243"/>
                    <a:pt x="119" y="244"/>
                    <a:pt x="119" y="245"/>
                  </a:cubicBezTo>
                  <a:close/>
                  <a:moveTo>
                    <a:pt x="18" y="48"/>
                  </a:moveTo>
                  <a:cubicBezTo>
                    <a:pt x="46" y="48"/>
                    <a:pt x="74" y="48"/>
                    <a:pt x="102" y="48"/>
                  </a:cubicBezTo>
                  <a:cubicBezTo>
                    <a:pt x="102" y="44"/>
                    <a:pt x="102" y="40"/>
                    <a:pt x="102" y="36"/>
                  </a:cubicBezTo>
                  <a:cubicBezTo>
                    <a:pt x="74" y="36"/>
                    <a:pt x="46" y="36"/>
                    <a:pt x="18" y="36"/>
                  </a:cubicBezTo>
                  <a:cubicBezTo>
                    <a:pt x="18" y="40"/>
                    <a:pt x="18" y="44"/>
                    <a:pt x="18" y="48"/>
                  </a:cubicBezTo>
                  <a:close/>
                  <a:moveTo>
                    <a:pt x="102" y="185"/>
                  </a:moveTo>
                  <a:cubicBezTo>
                    <a:pt x="74" y="185"/>
                    <a:pt x="46" y="185"/>
                    <a:pt x="18" y="185"/>
                  </a:cubicBezTo>
                  <a:cubicBezTo>
                    <a:pt x="18" y="189"/>
                    <a:pt x="18" y="193"/>
                    <a:pt x="18" y="197"/>
                  </a:cubicBezTo>
                  <a:cubicBezTo>
                    <a:pt x="46" y="197"/>
                    <a:pt x="74" y="197"/>
                    <a:pt x="102" y="197"/>
                  </a:cubicBezTo>
                  <a:cubicBezTo>
                    <a:pt x="102" y="193"/>
                    <a:pt x="102" y="189"/>
                    <a:pt x="102" y="185"/>
                  </a:cubicBezTo>
                  <a:close/>
                  <a:moveTo>
                    <a:pt x="18" y="209"/>
                  </a:moveTo>
                  <a:cubicBezTo>
                    <a:pt x="18" y="213"/>
                    <a:pt x="18" y="217"/>
                    <a:pt x="18" y="221"/>
                  </a:cubicBezTo>
                  <a:cubicBezTo>
                    <a:pt x="46" y="221"/>
                    <a:pt x="74" y="221"/>
                    <a:pt x="102" y="221"/>
                  </a:cubicBezTo>
                  <a:cubicBezTo>
                    <a:pt x="102" y="217"/>
                    <a:pt x="102" y="213"/>
                    <a:pt x="102" y="209"/>
                  </a:cubicBezTo>
                  <a:cubicBezTo>
                    <a:pt x="74" y="209"/>
                    <a:pt x="46" y="209"/>
                    <a:pt x="18" y="209"/>
                  </a:cubicBezTo>
                  <a:close/>
                </a:path>
              </a:pathLst>
            </a:custGeom>
            <a:solidFill>
              <a:srgbClr val="0018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22" name="Freeform 77"/>
            <p:cNvSpPr>
              <a:spLocks/>
            </p:cNvSpPr>
            <p:nvPr/>
          </p:nvSpPr>
          <p:spPr bwMode="auto">
            <a:xfrm>
              <a:off x="1304926" y="1634903"/>
              <a:ext cx="217488" cy="31750"/>
            </a:xfrm>
            <a:custGeom>
              <a:avLst/>
              <a:gdLst>
                <a:gd name="T0" fmla="*/ 0 w 84"/>
                <a:gd name="T1" fmla="*/ 12 h 12"/>
                <a:gd name="T2" fmla="*/ 0 w 84"/>
                <a:gd name="T3" fmla="*/ 0 h 12"/>
                <a:gd name="T4" fmla="*/ 84 w 84"/>
                <a:gd name="T5" fmla="*/ 0 h 12"/>
                <a:gd name="T6" fmla="*/ 84 w 84"/>
                <a:gd name="T7" fmla="*/ 12 h 12"/>
                <a:gd name="T8" fmla="*/ 0 w 84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12">
                  <a:moveTo>
                    <a:pt x="0" y="12"/>
                  </a:moveTo>
                  <a:cubicBezTo>
                    <a:pt x="0" y="8"/>
                    <a:pt x="0" y="4"/>
                    <a:pt x="0" y="0"/>
                  </a:cubicBezTo>
                  <a:cubicBezTo>
                    <a:pt x="28" y="0"/>
                    <a:pt x="56" y="0"/>
                    <a:pt x="84" y="0"/>
                  </a:cubicBezTo>
                  <a:cubicBezTo>
                    <a:pt x="84" y="4"/>
                    <a:pt x="84" y="8"/>
                    <a:pt x="84" y="12"/>
                  </a:cubicBezTo>
                  <a:cubicBezTo>
                    <a:pt x="56" y="12"/>
                    <a:pt x="28" y="12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23" name="Freeform 78"/>
            <p:cNvSpPr>
              <a:spLocks/>
            </p:cNvSpPr>
            <p:nvPr/>
          </p:nvSpPr>
          <p:spPr bwMode="auto">
            <a:xfrm>
              <a:off x="1304926" y="2020666"/>
              <a:ext cx="217488" cy="30163"/>
            </a:xfrm>
            <a:custGeom>
              <a:avLst/>
              <a:gdLst>
                <a:gd name="T0" fmla="*/ 84 w 84"/>
                <a:gd name="T1" fmla="*/ 0 h 12"/>
                <a:gd name="T2" fmla="*/ 84 w 84"/>
                <a:gd name="T3" fmla="*/ 12 h 12"/>
                <a:gd name="T4" fmla="*/ 0 w 84"/>
                <a:gd name="T5" fmla="*/ 12 h 12"/>
                <a:gd name="T6" fmla="*/ 0 w 84"/>
                <a:gd name="T7" fmla="*/ 0 h 12"/>
                <a:gd name="T8" fmla="*/ 84 w 84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12">
                  <a:moveTo>
                    <a:pt x="84" y="0"/>
                  </a:moveTo>
                  <a:cubicBezTo>
                    <a:pt x="84" y="4"/>
                    <a:pt x="84" y="8"/>
                    <a:pt x="84" y="12"/>
                  </a:cubicBezTo>
                  <a:cubicBezTo>
                    <a:pt x="56" y="12"/>
                    <a:pt x="28" y="12"/>
                    <a:pt x="0" y="12"/>
                  </a:cubicBezTo>
                  <a:cubicBezTo>
                    <a:pt x="0" y="8"/>
                    <a:pt x="0" y="4"/>
                    <a:pt x="0" y="0"/>
                  </a:cubicBezTo>
                  <a:cubicBezTo>
                    <a:pt x="28" y="0"/>
                    <a:pt x="56" y="0"/>
                    <a:pt x="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24" name="Freeform 79"/>
            <p:cNvSpPr>
              <a:spLocks/>
            </p:cNvSpPr>
            <p:nvPr/>
          </p:nvSpPr>
          <p:spPr bwMode="auto">
            <a:xfrm>
              <a:off x="1304926" y="2082578"/>
              <a:ext cx="217488" cy="30163"/>
            </a:xfrm>
            <a:custGeom>
              <a:avLst/>
              <a:gdLst>
                <a:gd name="T0" fmla="*/ 0 w 84"/>
                <a:gd name="T1" fmla="*/ 0 h 12"/>
                <a:gd name="T2" fmla="*/ 84 w 84"/>
                <a:gd name="T3" fmla="*/ 0 h 12"/>
                <a:gd name="T4" fmla="*/ 84 w 84"/>
                <a:gd name="T5" fmla="*/ 12 h 12"/>
                <a:gd name="T6" fmla="*/ 0 w 84"/>
                <a:gd name="T7" fmla="*/ 12 h 12"/>
                <a:gd name="T8" fmla="*/ 0 w 84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12">
                  <a:moveTo>
                    <a:pt x="0" y="0"/>
                  </a:moveTo>
                  <a:cubicBezTo>
                    <a:pt x="28" y="0"/>
                    <a:pt x="56" y="0"/>
                    <a:pt x="84" y="0"/>
                  </a:cubicBezTo>
                  <a:cubicBezTo>
                    <a:pt x="84" y="4"/>
                    <a:pt x="84" y="8"/>
                    <a:pt x="84" y="12"/>
                  </a:cubicBezTo>
                  <a:cubicBezTo>
                    <a:pt x="56" y="12"/>
                    <a:pt x="28" y="12"/>
                    <a:pt x="0" y="12"/>
                  </a:cubicBezTo>
                  <a:cubicBezTo>
                    <a:pt x="0" y="8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</p:grpSp>
      <p:sp>
        <p:nvSpPr>
          <p:cNvPr id="25" name="正方形/長方形 24"/>
          <p:cNvSpPr/>
          <p:nvPr/>
        </p:nvSpPr>
        <p:spPr>
          <a:xfrm>
            <a:off x="3179720" y="1847335"/>
            <a:ext cx="2497800" cy="3181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467" dirty="0"/>
              <a:t>Authentication Server (AS)</a:t>
            </a:r>
          </a:p>
        </p:txBody>
      </p:sp>
      <p:sp>
        <p:nvSpPr>
          <p:cNvPr id="26" name="正方形/長方形 25"/>
          <p:cNvSpPr/>
          <p:nvPr/>
        </p:nvSpPr>
        <p:spPr>
          <a:xfrm>
            <a:off x="9736941" y="1839892"/>
            <a:ext cx="1436612" cy="3181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467" dirty="0"/>
              <a:t>Target Service</a:t>
            </a:r>
            <a:endParaRPr lang="ja-JP" altLang="en-US" sz="1467" dirty="0"/>
          </a:p>
        </p:txBody>
      </p:sp>
      <p:sp>
        <p:nvSpPr>
          <p:cNvPr id="27" name="正方形/長方形 26"/>
          <p:cNvSpPr/>
          <p:nvPr/>
        </p:nvSpPr>
        <p:spPr>
          <a:xfrm>
            <a:off x="6184684" y="1851346"/>
            <a:ext cx="2776722" cy="3181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467" dirty="0"/>
              <a:t>Ticket Granting Service (TGS)</a:t>
            </a:r>
            <a:endParaRPr lang="ja-JP" altLang="en-US" sz="1467" dirty="0"/>
          </a:p>
        </p:txBody>
      </p:sp>
      <p:sp>
        <p:nvSpPr>
          <p:cNvPr id="28" name="正方形/長方形 27"/>
          <p:cNvSpPr/>
          <p:nvPr/>
        </p:nvSpPr>
        <p:spPr>
          <a:xfrm>
            <a:off x="1203663" y="1859483"/>
            <a:ext cx="593432" cy="3181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467" dirty="0"/>
              <a:t>User</a:t>
            </a:r>
            <a:endParaRPr lang="ja-JP" altLang="en-US" sz="1467" dirty="0"/>
          </a:p>
        </p:txBody>
      </p:sp>
      <p:sp>
        <p:nvSpPr>
          <p:cNvPr id="29" name="正方形/長方形 28"/>
          <p:cNvSpPr/>
          <p:nvPr/>
        </p:nvSpPr>
        <p:spPr bwMode="auto">
          <a:xfrm>
            <a:off x="548680" y="2160946"/>
            <a:ext cx="2069805" cy="56802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  <a:effectLst/>
          <a:ex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2400" b="1" dirty="0">
              <a:latin typeface="+mj-ea"/>
              <a:ea typeface="+mj-ea"/>
            </a:endParaRPr>
          </a:p>
        </p:txBody>
      </p:sp>
      <p:grpSp>
        <p:nvGrpSpPr>
          <p:cNvPr id="30" name="グループ化 29"/>
          <p:cNvGrpSpPr/>
          <p:nvPr/>
        </p:nvGrpSpPr>
        <p:grpSpPr>
          <a:xfrm>
            <a:off x="661102" y="2188841"/>
            <a:ext cx="237067" cy="512233"/>
            <a:chOff x="1167606" y="1608139"/>
            <a:chExt cx="177800" cy="384175"/>
          </a:xfrm>
          <a:solidFill>
            <a:schemeClr val="accent6">
              <a:lumMod val="50000"/>
              <a:lumOff val="50000"/>
            </a:schemeClr>
          </a:solidFill>
        </p:grpSpPr>
        <p:sp>
          <p:nvSpPr>
            <p:cNvPr id="31" name="Freeform 6"/>
            <p:cNvSpPr>
              <a:spLocks/>
            </p:cNvSpPr>
            <p:nvPr/>
          </p:nvSpPr>
          <p:spPr bwMode="auto">
            <a:xfrm>
              <a:off x="1167606" y="1608139"/>
              <a:ext cx="177800" cy="384175"/>
            </a:xfrm>
            <a:custGeom>
              <a:avLst/>
              <a:gdLst>
                <a:gd name="T0" fmla="*/ 69 w 69"/>
                <a:gd name="T1" fmla="*/ 41 h 149"/>
                <a:gd name="T2" fmla="*/ 52 w 69"/>
                <a:gd name="T3" fmla="*/ 71 h 149"/>
                <a:gd name="T4" fmla="*/ 50 w 69"/>
                <a:gd name="T5" fmla="*/ 74 h 149"/>
                <a:gd name="T6" fmla="*/ 50 w 69"/>
                <a:gd name="T7" fmla="*/ 82 h 149"/>
                <a:gd name="T8" fmla="*/ 49 w 69"/>
                <a:gd name="T9" fmla="*/ 86 h 149"/>
                <a:gd name="T10" fmla="*/ 40 w 69"/>
                <a:gd name="T11" fmla="*/ 96 h 149"/>
                <a:gd name="T12" fmla="*/ 40 w 69"/>
                <a:gd name="T13" fmla="*/ 99 h 149"/>
                <a:gd name="T14" fmla="*/ 49 w 69"/>
                <a:gd name="T15" fmla="*/ 109 h 149"/>
                <a:gd name="T16" fmla="*/ 49 w 69"/>
                <a:gd name="T17" fmla="*/ 112 h 149"/>
                <a:gd name="T18" fmla="*/ 41 w 69"/>
                <a:gd name="T19" fmla="*/ 121 h 149"/>
                <a:gd name="T20" fmla="*/ 41 w 69"/>
                <a:gd name="T21" fmla="*/ 124 h 149"/>
                <a:gd name="T22" fmla="*/ 49 w 69"/>
                <a:gd name="T23" fmla="*/ 132 h 149"/>
                <a:gd name="T24" fmla="*/ 49 w 69"/>
                <a:gd name="T25" fmla="*/ 135 h 149"/>
                <a:gd name="T26" fmla="*/ 36 w 69"/>
                <a:gd name="T27" fmla="*/ 148 h 149"/>
                <a:gd name="T28" fmla="*/ 34 w 69"/>
                <a:gd name="T29" fmla="*/ 148 h 149"/>
                <a:gd name="T30" fmla="*/ 21 w 69"/>
                <a:gd name="T31" fmla="*/ 134 h 149"/>
                <a:gd name="T32" fmla="*/ 20 w 69"/>
                <a:gd name="T33" fmla="*/ 131 h 149"/>
                <a:gd name="T34" fmla="*/ 20 w 69"/>
                <a:gd name="T35" fmla="*/ 75 h 149"/>
                <a:gd name="T36" fmla="*/ 18 w 69"/>
                <a:gd name="T37" fmla="*/ 71 h 149"/>
                <a:gd name="T38" fmla="*/ 2 w 69"/>
                <a:gd name="T39" fmla="*/ 36 h 149"/>
                <a:gd name="T40" fmla="*/ 24 w 69"/>
                <a:gd name="T41" fmla="*/ 6 h 149"/>
                <a:gd name="T42" fmla="*/ 65 w 69"/>
                <a:gd name="T43" fmla="*/ 24 h 149"/>
                <a:gd name="T44" fmla="*/ 69 w 69"/>
                <a:gd name="T45" fmla="*/ 41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9" h="149">
                  <a:moveTo>
                    <a:pt x="69" y="41"/>
                  </a:moveTo>
                  <a:cubicBezTo>
                    <a:pt x="68" y="54"/>
                    <a:pt x="63" y="64"/>
                    <a:pt x="52" y="71"/>
                  </a:cubicBezTo>
                  <a:cubicBezTo>
                    <a:pt x="51" y="72"/>
                    <a:pt x="50" y="73"/>
                    <a:pt x="50" y="74"/>
                  </a:cubicBezTo>
                  <a:cubicBezTo>
                    <a:pt x="50" y="77"/>
                    <a:pt x="50" y="80"/>
                    <a:pt x="50" y="82"/>
                  </a:cubicBezTo>
                  <a:cubicBezTo>
                    <a:pt x="50" y="84"/>
                    <a:pt x="50" y="85"/>
                    <a:pt x="49" y="86"/>
                  </a:cubicBezTo>
                  <a:cubicBezTo>
                    <a:pt x="46" y="89"/>
                    <a:pt x="43" y="92"/>
                    <a:pt x="40" y="96"/>
                  </a:cubicBezTo>
                  <a:cubicBezTo>
                    <a:pt x="39" y="97"/>
                    <a:pt x="39" y="97"/>
                    <a:pt x="40" y="99"/>
                  </a:cubicBezTo>
                  <a:cubicBezTo>
                    <a:pt x="43" y="102"/>
                    <a:pt x="46" y="105"/>
                    <a:pt x="49" y="109"/>
                  </a:cubicBezTo>
                  <a:cubicBezTo>
                    <a:pt x="50" y="110"/>
                    <a:pt x="51" y="111"/>
                    <a:pt x="49" y="112"/>
                  </a:cubicBezTo>
                  <a:cubicBezTo>
                    <a:pt x="46" y="115"/>
                    <a:pt x="44" y="118"/>
                    <a:pt x="41" y="121"/>
                  </a:cubicBezTo>
                  <a:cubicBezTo>
                    <a:pt x="40" y="122"/>
                    <a:pt x="39" y="123"/>
                    <a:pt x="41" y="124"/>
                  </a:cubicBezTo>
                  <a:cubicBezTo>
                    <a:pt x="44" y="126"/>
                    <a:pt x="46" y="129"/>
                    <a:pt x="49" y="132"/>
                  </a:cubicBezTo>
                  <a:cubicBezTo>
                    <a:pt x="50" y="133"/>
                    <a:pt x="50" y="134"/>
                    <a:pt x="49" y="135"/>
                  </a:cubicBezTo>
                  <a:cubicBezTo>
                    <a:pt x="44" y="139"/>
                    <a:pt x="40" y="144"/>
                    <a:pt x="36" y="148"/>
                  </a:cubicBezTo>
                  <a:cubicBezTo>
                    <a:pt x="35" y="149"/>
                    <a:pt x="35" y="149"/>
                    <a:pt x="34" y="148"/>
                  </a:cubicBezTo>
                  <a:cubicBezTo>
                    <a:pt x="30" y="143"/>
                    <a:pt x="25" y="139"/>
                    <a:pt x="21" y="134"/>
                  </a:cubicBezTo>
                  <a:cubicBezTo>
                    <a:pt x="20" y="133"/>
                    <a:pt x="20" y="132"/>
                    <a:pt x="20" y="131"/>
                  </a:cubicBezTo>
                  <a:cubicBezTo>
                    <a:pt x="20" y="112"/>
                    <a:pt x="20" y="94"/>
                    <a:pt x="20" y="75"/>
                  </a:cubicBezTo>
                  <a:cubicBezTo>
                    <a:pt x="20" y="73"/>
                    <a:pt x="19" y="72"/>
                    <a:pt x="18" y="71"/>
                  </a:cubicBezTo>
                  <a:cubicBezTo>
                    <a:pt x="5" y="62"/>
                    <a:pt x="0" y="50"/>
                    <a:pt x="2" y="36"/>
                  </a:cubicBezTo>
                  <a:cubicBezTo>
                    <a:pt x="3" y="22"/>
                    <a:pt x="11" y="11"/>
                    <a:pt x="24" y="6"/>
                  </a:cubicBezTo>
                  <a:cubicBezTo>
                    <a:pt x="40" y="0"/>
                    <a:pt x="58" y="8"/>
                    <a:pt x="65" y="24"/>
                  </a:cubicBezTo>
                  <a:cubicBezTo>
                    <a:pt x="68" y="29"/>
                    <a:pt x="69" y="35"/>
                    <a:pt x="69" y="41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32" name="Freeform 7"/>
            <p:cNvSpPr>
              <a:spLocks/>
            </p:cNvSpPr>
            <p:nvPr/>
          </p:nvSpPr>
          <p:spPr bwMode="auto">
            <a:xfrm>
              <a:off x="1224756" y="1657352"/>
              <a:ext cx="66675" cy="61913"/>
            </a:xfrm>
            <a:custGeom>
              <a:avLst/>
              <a:gdLst>
                <a:gd name="T0" fmla="*/ 26 w 26"/>
                <a:gd name="T1" fmla="*/ 11 h 24"/>
                <a:gd name="T2" fmla="*/ 14 w 26"/>
                <a:gd name="T3" fmla="*/ 23 h 24"/>
                <a:gd name="T4" fmla="*/ 2 w 26"/>
                <a:gd name="T5" fmla="*/ 13 h 24"/>
                <a:gd name="T6" fmla="*/ 14 w 26"/>
                <a:gd name="T7" fmla="*/ 0 h 24"/>
                <a:gd name="T8" fmla="*/ 24 w 26"/>
                <a:gd name="T9" fmla="*/ 6 h 24"/>
                <a:gd name="T10" fmla="*/ 26 w 26"/>
                <a:gd name="T11" fmla="*/ 1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26" y="11"/>
                  </a:moveTo>
                  <a:cubicBezTo>
                    <a:pt x="26" y="17"/>
                    <a:pt x="20" y="23"/>
                    <a:pt x="14" y="23"/>
                  </a:cubicBezTo>
                  <a:cubicBezTo>
                    <a:pt x="9" y="24"/>
                    <a:pt x="3" y="19"/>
                    <a:pt x="2" y="13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18" y="1"/>
                    <a:pt x="22" y="3"/>
                    <a:pt x="24" y="6"/>
                  </a:cubicBezTo>
                  <a:cubicBezTo>
                    <a:pt x="25" y="8"/>
                    <a:pt x="26" y="9"/>
                    <a:pt x="26" y="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</p:grpSp>
      <p:sp>
        <p:nvSpPr>
          <p:cNvPr id="33" name="テキスト ボックス 32"/>
          <p:cNvSpPr txBox="1"/>
          <p:nvPr/>
        </p:nvSpPr>
        <p:spPr>
          <a:xfrm>
            <a:off x="827729" y="2299464"/>
            <a:ext cx="19701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クライアント秘密鍵</a:t>
            </a:r>
          </a:p>
        </p:txBody>
      </p:sp>
      <p:sp>
        <p:nvSpPr>
          <p:cNvPr id="34" name="正方形/長方形 33"/>
          <p:cNvSpPr/>
          <p:nvPr/>
        </p:nvSpPr>
        <p:spPr bwMode="auto">
          <a:xfrm>
            <a:off x="3233840" y="2158312"/>
            <a:ext cx="2524400" cy="58182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  <a:effectLst/>
          <a:ex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2400" b="1" dirty="0">
              <a:latin typeface="+mj-ea"/>
              <a:ea typeface="+mj-ea"/>
            </a:endParaRPr>
          </a:p>
        </p:txBody>
      </p:sp>
      <p:grpSp>
        <p:nvGrpSpPr>
          <p:cNvPr id="35" name="グループ化 34"/>
          <p:cNvGrpSpPr/>
          <p:nvPr/>
        </p:nvGrpSpPr>
        <p:grpSpPr>
          <a:xfrm>
            <a:off x="4251056" y="2194136"/>
            <a:ext cx="237067" cy="512233"/>
            <a:chOff x="1167606" y="1608139"/>
            <a:chExt cx="177800" cy="384175"/>
          </a:xfrm>
          <a:solidFill>
            <a:schemeClr val="accent6">
              <a:lumMod val="50000"/>
              <a:lumOff val="50000"/>
            </a:schemeClr>
          </a:solidFill>
        </p:grpSpPr>
        <p:sp>
          <p:nvSpPr>
            <p:cNvPr id="36" name="Freeform 6"/>
            <p:cNvSpPr>
              <a:spLocks/>
            </p:cNvSpPr>
            <p:nvPr/>
          </p:nvSpPr>
          <p:spPr bwMode="auto">
            <a:xfrm>
              <a:off x="1167606" y="1608139"/>
              <a:ext cx="177800" cy="384175"/>
            </a:xfrm>
            <a:custGeom>
              <a:avLst/>
              <a:gdLst>
                <a:gd name="T0" fmla="*/ 69 w 69"/>
                <a:gd name="T1" fmla="*/ 41 h 149"/>
                <a:gd name="T2" fmla="*/ 52 w 69"/>
                <a:gd name="T3" fmla="*/ 71 h 149"/>
                <a:gd name="T4" fmla="*/ 50 w 69"/>
                <a:gd name="T5" fmla="*/ 74 h 149"/>
                <a:gd name="T6" fmla="*/ 50 w 69"/>
                <a:gd name="T7" fmla="*/ 82 h 149"/>
                <a:gd name="T8" fmla="*/ 49 w 69"/>
                <a:gd name="T9" fmla="*/ 86 h 149"/>
                <a:gd name="T10" fmla="*/ 40 w 69"/>
                <a:gd name="T11" fmla="*/ 96 h 149"/>
                <a:gd name="T12" fmla="*/ 40 w 69"/>
                <a:gd name="T13" fmla="*/ 99 h 149"/>
                <a:gd name="T14" fmla="*/ 49 w 69"/>
                <a:gd name="T15" fmla="*/ 109 h 149"/>
                <a:gd name="T16" fmla="*/ 49 w 69"/>
                <a:gd name="T17" fmla="*/ 112 h 149"/>
                <a:gd name="T18" fmla="*/ 41 w 69"/>
                <a:gd name="T19" fmla="*/ 121 h 149"/>
                <a:gd name="T20" fmla="*/ 41 w 69"/>
                <a:gd name="T21" fmla="*/ 124 h 149"/>
                <a:gd name="T22" fmla="*/ 49 w 69"/>
                <a:gd name="T23" fmla="*/ 132 h 149"/>
                <a:gd name="T24" fmla="*/ 49 w 69"/>
                <a:gd name="T25" fmla="*/ 135 h 149"/>
                <a:gd name="T26" fmla="*/ 36 w 69"/>
                <a:gd name="T27" fmla="*/ 148 h 149"/>
                <a:gd name="T28" fmla="*/ 34 w 69"/>
                <a:gd name="T29" fmla="*/ 148 h 149"/>
                <a:gd name="T30" fmla="*/ 21 w 69"/>
                <a:gd name="T31" fmla="*/ 134 h 149"/>
                <a:gd name="T32" fmla="*/ 20 w 69"/>
                <a:gd name="T33" fmla="*/ 131 h 149"/>
                <a:gd name="T34" fmla="*/ 20 w 69"/>
                <a:gd name="T35" fmla="*/ 75 h 149"/>
                <a:gd name="T36" fmla="*/ 18 w 69"/>
                <a:gd name="T37" fmla="*/ 71 h 149"/>
                <a:gd name="T38" fmla="*/ 2 w 69"/>
                <a:gd name="T39" fmla="*/ 36 h 149"/>
                <a:gd name="T40" fmla="*/ 24 w 69"/>
                <a:gd name="T41" fmla="*/ 6 h 149"/>
                <a:gd name="T42" fmla="*/ 65 w 69"/>
                <a:gd name="T43" fmla="*/ 24 h 149"/>
                <a:gd name="T44" fmla="*/ 69 w 69"/>
                <a:gd name="T45" fmla="*/ 41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9" h="149">
                  <a:moveTo>
                    <a:pt x="69" y="41"/>
                  </a:moveTo>
                  <a:cubicBezTo>
                    <a:pt x="68" y="54"/>
                    <a:pt x="63" y="64"/>
                    <a:pt x="52" y="71"/>
                  </a:cubicBezTo>
                  <a:cubicBezTo>
                    <a:pt x="51" y="72"/>
                    <a:pt x="50" y="73"/>
                    <a:pt x="50" y="74"/>
                  </a:cubicBezTo>
                  <a:cubicBezTo>
                    <a:pt x="50" y="77"/>
                    <a:pt x="50" y="80"/>
                    <a:pt x="50" y="82"/>
                  </a:cubicBezTo>
                  <a:cubicBezTo>
                    <a:pt x="50" y="84"/>
                    <a:pt x="50" y="85"/>
                    <a:pt x="49" y="86"/>
                  </a:cubicBezTo>
                  <a:cubicBezTo>
                    <a:pt x="46" y="89"/>
                    <a:pt x="43" y="92"/>
                    <a:pt x="40" y="96"/>
                  </a:cubicBezTo>
                  <a:cubicBezTo>
                    <a:pt x="39" y="97"/>
                    <a:pt x="39" y="97"/>
                    <a:pt x="40" y="99"/>
                  </a:cubicBezTo>
                  <a:cubicBezTo>
                    <a:pt x="43" y="102"/>
                    <a:pt x="46" y="105"/>
                    <a:pt x="49" y="109"/>
                  </a:cubicBezTo>
                  <a:cubicBezTo>
                    <a:pt x="50" y="110"/>
                    <a:pt x="51" y="111"/>
                    <a:pt x="49" y="112"/>
                  </a:cubicBezTo>
                  <a:cubicBezTo>
                    <a:pt x="46" y="115"/>
                    <a:pt x="44" y="118"/>
                    <a:pt x="41" y="121"/>
                  </a:cubicBezTo>
                  <a:cubicBezTo>
                    <a:pt x="40" y="122"/>
                    <a:pt x="39" y="123"/>
                    <a:pt x="41" y="124"/>
                  </a:cubicBezTo>
                  <a:cubicBezTo>
                    <a:pt x="44" y="126"/>
                    <a:pt x="46" y="129"/>
                    <a:pt x="49" y="132"/>
                  </a:cubicBezTo>
                  <a:cubicBezTo>
                    <a:pt x="50" y="133"/>
                    <a:pt x="50" y="134"/>
                    <a:pt x="49" y="135"/>
                  </a:cubicBezTo>
                  <a:cubicBezTo>
                    <a:pt x="44" y="139"/>
                    <a:pt x="40" y="144"/>
                    <a:pt x="36" y="148"/>
                  </a:cubicBezTo>
                  <a:cubicBezTo>
                    <a:pt x="35" y="149"/>
                    <a:pt x="35" y="149"/>
                    <a:pt x="34" y="148"/>
                  </a:cubicBezTo>
                  <a:cubicBezTo>
                    <a:pt x="30" y="143"/>
                    <a:pt x="25" y="139"/>
                    <a:pt x="21" y="134"/>
                  </a:cubicBezTo>
                  <a:cubicBezTo>
                    <a:pt x="20" y="133"/>
                    <a:pt x="20" y="132"/>
                    <a:pt x="20" y="131"/>
                  </a:cubicBezTo>
                  <a:cubicBezTo>
                    <a:pt x="20" y="112"/>
                    <a:pt x="20" y="94"/>
                    <a:pt x="20" y="75"/>
                  </a:cubicBezTo>
                  <a:cubicBezTo>
                    <a:pt x="20" y="73"/>
                    <a:pt x="19" y="72"/>
                    <a:pt x="18" y="71"/>
                  </a:cubicBezTo>
                  <a:cubicBezTo>
                    <a:pt x="5" y="62"/>
                    <a:pt x="0" y="50"/>
                    <a:pt x="2" y="36"/>
                  </a:cubicBezTo>
                  <a:cubicBezTo>
                    <a:pt x="3" y="22"/>
                    <a:pt x="11" y="11"/>
                    <a:pt x="24" y="6"/>
                  </a:cubicBezTo>
                  <a:cubicBezTo>
                    <a:pt x="40" y="0"/>
                    <a:pt x="58" y="8"/>
                    <a:pt x="65" y="24"/>
                  </a:cubicBezTo>
                  <a:cubicBezTo>
                    <a:pt x="68" y="29"/>
                    <a:pt x="69" y="35"/>
                    <a:pt x="69" y="41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37" name="Freeform 7"/>
            <p:cNvSpPr>
              <a:spLocks/>
            </p:cNvSpPr>
            <p:nvPr/>
          </p:nvSpPr>
          <p:spPr bwMode="auto">
            <a:xfrm>
              <a:off x="1224756" y="1657352"/>
              <a:ext cx="66675" cy="61913"/>
            </a:xfrm>
            <a:custGeom>
              <a:avLst/>
              <a:gdLst>
                <a:gd name="T0" fmla="*/ 26 w 26"/>
                <a:gd name="T1" fmla="*/ 11 h 24"/>
                <a:gd name="T2" fmla="*/ 14 w 26"/>
                <a:gd name="T3" fmla="*/ 23 h 24"/>
                <a:gd name="T4" fmla="*/ 2 w 26"/>
                <a:gd name="T5" fmla="*/ 13 h 24"/>
                <a:gd name="T6" fmla="*/ 14 w 26"/>
                <a:gd name="T7" fmla="*/ 0 h 24"/>
                <a:gd name="T8" fmla="*/ 24 w 26"/>
                <a:gd name="T9" fmla="*/ 6 h 24"/>
                <a:gd name="T10" fmla="*/ 26 w 26"/>
                <a:gd name="T11" fmla="*/ 1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26" y="11"/>
                  </a:moveTo>
                  <a:cubicBezTo>
                    <a:pt x="26" y="17"/>
                    <a:pt x="20" y="23"/>
                    <a:pt x="14" y="23"/>
                  </a:cubicBezTo>
                  <a:cubicBezTo>
                    <a:pt x="9" y="24"/>
                    <a:pt x="3" y="19"/>
                    <a:pt x="2" y="13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18" y="1"/>
                    <a:pt x="22" y="3"/>
                    <a:pt x="24" y="6"/>
                  </a:cubicBezTo>
                  <a:cubicBezTo>
                    <a:pt x="25" y="8"/>
                    <a:pt x="26" y="9"/>
                    <a:pt x="26" y="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</p:grpSp>
      <p:sp>
        <p:nvSpPr>
          <p:cNvPr id="38" name="テキスト ボックス 37"/>
          <p:cNvSpPr txBox="1"/>
          <p:nvPr/>
        </p:nvSpPr>
        <p:spPr>
          <a:xfrm>
            <a:off x="4460130" y="2222944"/>
            <a:ext cx="1322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クライアント</a:t>
            </a:r>
            <a:endParaRPr lang="en-US" altLang="ja-JP" sz="1400" dirty="0"/>
          </a:p>
          <a:p>
            <a:r>
              <a:rPr lang="ja-JP" altLang="en-US" sz="1400" dirty="0"/>
              <a:t>秘密鍵</a:t>
            </a:r>
          </a:p>
        </p:txBody>
      </p:sp>
      <p:grpSp>
        <p:nvGrpSpPr>
          <p:cNvPr id="39" name="グループ化 38"/>
          <p:cNvGrpSpPr/>
          <p:nvPr/>
        </p:nvGrpSpPr>
        <p:grpSpPr>
          <a:xfrm>
            <a:off x="3317408" y="2194580"/>
            <a:ext cx="237067" cy="512233"/>
            <a:chOff x="1167606" y="1608139"/>
            <a:chExt cx="177800" cy="384175"/>
          </a:xfrm>
          <a:solidFill>
            <a:srgbClr val="FF0000"/>
          </a:solidFill>
        </p:grpSpPr>
        <p:sp>
          <p:nvSpPr>
            <p:cNvPr id="40" name="Freeform 6"/>
            <p:cNvSpPr>
              <a:spLocks/>
            </p:cNvSpPr>
            <p:nvPr/>
          </p:nvSpPr>
          <p:spPr bwMode="auto">
            <a:xfrm>
              <a:off x="1167606" y="1608139"/>
              <a:ext cx="177800" cy="384175"/>
            </a:xfrm>
            <a:custGeom>
              <a:avLst/>
              <a:gdLst>
                <a:gd name="T0" fmla="*/ 69 w 69"/>
                <a:gd name="T1" fmla="*/ 41 h 149"/>
                <a:gd name="T2" fmla="*/ 52 w 69"/>
                <a:gd name="T3" fmla="*/ 71 h 149"/>
                <a:gd name="T4" fmla="*/ 50 w 69"/>
                <a:gd name="T5" fmla="*/ 74 h 149"/>
                <a:gd name="T6" fmla="*/ 50 w 69"/>
                <a:gd name="T7" fmla="*/ 82 h 149"/>
                <a:gd name="T8" fmla="*/ 49 w 69"/>
                <a:gd name="T9" fmla="*/ 86 h 149"/>
                <a:gd name="T10" fmla="*/ 40 w 69"/>
                <a:gd name="T11" fmla="*/ 96 h 149"/>
                <a:gd name="T12" fmla="*/ 40 w 69"/>
                <a:gd name="T13" fmla="*/ 99 h 149"/>
                <a:gd name="T14" fmla="*/ 49 w 69"/>
                <a:gd name="T15" fmla="*/ 109 h 149"/>
                <a:gd name="T16" fmla="*/ 49 w 69"/>
                <a:gd name="T17" fmla="*/ 112 h 149"/>
                <a:gd name="T18" fmla="*/ 41 w 69"/>
                <a:gd name="T19" fmla="*/ 121 h 149"/>
                <a:gd name="T20" fmla="*/ 41 w 69"/>
                <a:gd name="T21" fmla="*/ 124 h 149"/>
                <a:gd name="T22" fmla="*/ 49 w 69"/>
                <a:gd name="T23" fmla="*/ 132 h 149"/>
                <a:gd name="T24" fmla="*/ 49 w 69"/>
                <a:gd name="T25" fmla="*/ 135 h 149"/>
                <a:gd name="T26" fmla="*/ 36 w 69"/>
                <a:gd name="T27" fmla="*/ 148 h 149"/>
                <a:gd name="T28" fmla="*/ 34 w 69"/>
                <a:gd name="T29" fmla="*/ 148 h 149"/>
                <a:gd name="T30" fmla="*/ 21 w 69"/>
                <a:gd name="T31" fmla="*/ 134 h 149"/>
                <a:gd name="T32" fmla="*/ 20 w 69"/>
                <a:gd name="T33" fmla="*/ 131 h 149"/>
                <a:gd name="T34" fmla="*/ 20 w 69"/>
                <a:gd name="T35" fmla="*/ 75 h 149"/>
                <a:gd name="T36" fmla="*/ 18 w 69"/>
                <a:gd name="T37" fmla="*/ 71 h 149"/>
                <a:gd name="T38" fmla="*/ 2 w 69"/>
                <a:gd name="T39" fmla="*/ 36 h 149"/>
                <a:gd name="T40" fmla="*/ 24 w 69"/>
                <a:gd name="T41" fmla="*/ 6 h 149"/>
                <a:gd name="T42" fmla="*/ 65 w 69"/>
                <a:gd name="T43" fmla="*/ 24 h 149"/>
                <a:gd name="T44" fmla="*/ 69 w 69"/>
                <a:gd name="T45" fmla="*/ 41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9" h="149">
                  <a:moveTo>
                    <a:pt x="69" y="41"/>
                  </a:moveTo>
                  <a:cubicBezTo>
                    <a:pt x="68" y="54"/>
                    <a:pt x="63" y="64"/>
                    <a:pt x="52" y="71"/>
                  </a:cubicBezTo>
                  <a:cubicBezTo>
                    <a:pt x="51" y="72"/>
                    <a:pt x="50" y="73"/>
                    <a:pt x="50" y="74"/>
                  </a:cubicBezTo>
                  <a:cubicBezTo>
                    <a:pt x="50" y="77"/>
                    <a:pt x="50" y="80"/>
                    <a:pt x="50" y="82"/>
                  </a:cubicBezTo>
                  <a:cubicBezTo>
                    <a:pt x="50" y="84"/>
                    <a:pt x="50" y="85"/>
                    <a:pt x="49" y="86"/>
                  </a:cubicBezTo>
                  <a:cubicBezTo>
                    <a:pt x="46" y="89"/>
                    <a:pt x="43" y="92"/>
                    <a:pt x="40" y="96"/>
                  </a:cubicBezTo>
                  <a:cubicBezTo>
                    <a:pt x="39" y="97"/>
                    <a:pt x="39" y="97"/>
                    <a:pt x="40" y="99"/>
                  </a:cubicBezTo>
                  <a:cubicBezTo>
                    <a:pt x="43" y="102"/>
                    <a:pt x="46" y="105"/>
                    <a:pt x="49" y="109"/>
                  </a:cubicBezTo>
                  <a:cubicBezTo>
                    <a:pt x="50" y="110"/>
                    <a:pt x="51" y="111"/>
                    <a:pt x="49" y="112"/>
                  </a:cubicBezTo>
                  <a:cubicBezTo>
                    <a:pt x="46" y="115"/>
                    <a:pt x="44" y="118"/>
                    <a:pt x="41" y="121"/>
                  </a:cubicBezTo>
                  <a:cubicBezTo>
                    <a:pt x="40" y="122"/>
                    <a:pt x="39" y="123"/>
                    <a:pt x="41" y="124"/>
                  </a:cubicBezTo>
                  <a:cubicBezTo>
                    <a:pt x="44" y="126"/>
                    <a:pt x="46" y="129"/>
                    <a:pt x="49" y="132"/>
                  </a:cubicBezTo>
                  <a:cubicBezTo>
                    <a:pt x="50" y="133"/>
                    <a:pt x="50" y="134"/>
                    <a:pt x="49" y="135"/>
                  </a:cubicBezTo>
                  <a:cubicBezTo>
                    <a:pt x="44" y="139"/>
                    <a:pt x="40" y="144"/>
                    <a:pt x="36" y="148"/>
                  </a:cubicBezTo>
                  <a:cubicBezTo>
                    <a:pt x="35" y="149"/>
                    <a:pt x="35" y="149"/>
                    <a:pt x="34" y="148"/>
                  </a:cubicBezTo>
                  <a:cubicBezTo>
                    <a:pt x="30" y="143"/>
                    <a:pt x="25" y="139"/>
                    <a:pt x="21" y="134"/>
                  </a:cubicBezTo>
                  <a:cubicBezTo>
                    <a:pt x="20" y="133"/>
                    <a:pt x="20" y="132"/>
                    <a:pt x="20" y="131"/>
                  </a:cubicBezTo>
                  <a:cubicBezTo>
                    <a:pt x="20" y="112"/>
                    <a:pt x="20" y="94"/>
                    <a:pt x="20" y="75"/>
                  </a:cubicBezTo>
                  <a:cubicBezTo>
                    <a:pt x="20" y="73"/>
                    <a:pt x="19" y="72"/>
                    <a:pt x="18" y="71"/>
                  </a:cubicBezTo>
                  <a:cubicBezTo>
                    <a:pt x="5" y="62"/>
                    <a:pt x="0" y="50"/>
                    <a:pt x="2" y="36"/>
                  </a:cubicBezTo>
                  <a:cubicBezTo>
                    <a:pt x="3" y="22"/>
                    <a:pt x="11" y="11"/>
                    <a:pt x="24" y="6"/>
                  </a:cubicBezTo>
                  <a:cubicBezTo>
                    <a:pt x="40" y="0"/>
                    <a:pt x="58" y="8"/>
                    <a:pt x="65" y="24"/>
                  </a:cubicBezTo>
                  <a:cubicBezTo>
                    <a:pt x="68" y="29"/>
                    <a:pt x="69" y="35"/>
                    <a:pt x="69" y="41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41" name="Freeform 7"/>
            <p:cNvSpPr>
              <a:spLocks/>
            </p:cNvSpPr>
            <p:nvPr/>
          </p:nvSpPr>
          <p:spPr bwMode="auto">
            <a:xfrm>
              <a:off x="1224756" y="1657352"/>
              <a:ext cx="66675" cy="61913"/>
            </a:xfrm>
            <a:custGeom>
              <a:avLst/>
              <a:gdLst>
                <a:gd name="T0" fmla="*/ 26 w 26"/>
                <a:gd name="T1" fmla="*/ 11 h 24"/>
                <a:gd name="T2" fmla="*/ 14 w 26"/>
                <a:gd name="T3" fmla="*/ 23 h 24"/>
                <a:gd name="T4" fmla="*/ 2 w 26"/>
                <a:gd name="T5" fmla="*/ 13 h 24"/>
                <a:gd name="T6" fmla="*/ 14 w 26"/>
                <a:gd name="T7" fmla="*/ 0 h 24"/>
                <a:gd name="T8" fmla="*/ 24 w 26"/>
                <a:gd name="T9" fmla="*/ 6 h 24"/>
                <a:gd name="T10" fmla="*/ 26 w 26"/>
                <a:gd name="T11" fmla="*/ 1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26" y="11"/>
                  </a:moveTo>
                  <a:cubicBezTo>
                    <a:pt x="26" y="17"/>
                    <a:pt x="20" y="23"/>
                    <a:pt x="14" y="23"/>
                  </a:cubicBezTo>
                  <a:cubicBezTo>
                    <a:pt x="9" y="24"/>
                    <a:pt x="3" y="19"/>
                    <a:pt x="2" y="13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18" y="1"/>
                    <a:pt x="22" y="3"/>
                    <a:pt x="24" y="6"/>
                  </a:cubicBezTo>
                  <a:cubicBezTo>
                    <a:pt x="25" y="8"/>
                    <a:pt x="26" y="9"/>
                    <a:pt x="26" y="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</p:grpSp>
      <p:sp>
        <p:nvSpPr>
          <p:cNvPr id="42" name="テキスト ボックス 41"/>
          <p:cNvSpPr txBox="1"/>
          <p:nvPr/>
        </p:nvSpPr>
        <p:spPr>
          <a:xfrm>
            <a:off x="3541213" y="2203295"/>
            <a:ext cx="840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Krbtgt</a:t>
            </a:r>
          </a:p>
          <a:p>
            <a:r>
              <a:rPr lang="ja-JP" altLang="en-US" sz="1400" dirty="0"/>
              <a:t>秘密鍵</a:t>
            </a:r>
          </a:p>
        </p:txBody>
      </p:sp>
      <p:grpSp>
        <p:nvGrpSpPr>
          <p:cNvPr id="43" name="グループ化 42"/>
          <p:cNvGrpSpPr/>
          <p:nvPr/>
        </p:nvGrpSpPr>
        <p:grpSpPr>
          <a:xfrm>
            <a:off x="9729229" y="2205629"/>
            <a:ext cx="237067" cy="512233"/>
            <a:chOff x="1167606" y="1608139"/>
            <a:chExt cx="177800" cy="384175"/>
          </a:xfrm>
          <a:solidFill>
            <a:srgbClr val="00B050"/>
          </a:solidFill>
        </p:grpSpPr>
        <p:sp>
          <p:nvSpPr>
            <p:cNvPr id="44" name="Freeform 6"/>
            <p:cNvSpPr>
              <a:spLocks/>
            </p:cNvSpPr>
            <p:nvPr/>
          </p:nvSpPr>
          <p:spPr bwMode="auto">
            <a:xfrm>
              <a:off x="1167606" y="1608139"/>
              <a:ext cx="177800" cy="384175"/>
            </a:xfrm>
            <a:custGeom>
              <a:avLst/>
              <a:gdLst>
                <a:gd name="T0" fmla="*/ 69 w 69"/>
                <a:gd name="T1" fmla="*/ 41 h 149"/>
                <a:gd name="T2" fmla="*/ 52 w 69"/>
                <a:gd name="T3" fmla="*/ 71 h 149"/>
                <a:gd name="T4" fmla="*/ 50 w 69"/>
                <a:gd name="T5" fmla="*/ 74 h 149"/>
                <a:gd name="T6" fmla="*/ 50 w 69"/>
                <a:gd name="T7" fmla="*/ 82 h 149"/>
                <a:gd name="T8" fmla="*/ 49 w 69"/>
                <a:gd name="T9" fmla="*/ 86 h 149"/>
                <a:gd name="T10" fmla="*/ 40 w 69"/>
                <a:gd name="T11" fmla="*/ 96 h 149"/>
                <a:gd name="T12" fmla="*/ 40 w 69"/>
                <a:gd name="T13" fmla="*/ 99 h 149"/>
                <a:gd name="T14" fmla="*/ 49 w 69"/>
                <a:gd name="T15" fmla="*/ 109 h 149"/>
                <a:gd name="T16" fmla="*/ 49 w 69"/>
                <a:gd name="T17" fmla="*/ 112 h 149"/>
                <a:gd name="T18" fmla="*/ 41 w 69"/>
                <a:gd name="T19" fmla="*/ 121 h 149"/>
                <a:gd name="T20" fmla="*/ 41 w 69"/>
                <a:gd name="T21" fmla="*/ 124 h 149"/>
                <a:gd name="T22" fmla="*/ 49 w 69"/>
                <a:gd name="T23" fmla="*/ 132 h 149"/>
                <a:gd name="T24" fmla="*/ 49 w 69"/>
                <a:gd name="T25" fmla="*/ 135 h 149"/>
                <a:gd name="T26" fmla="*/ 36 w 69"/>
                <a:gd name="T27" fmla="*/ 148 h 149"/>
                <a:gd name="T28" fmla="*/ 34 w 69"/>
                <a:gd name="T29" fmla="*/ 148 h 149"/>
                <a:gd name="T30" fmla="*/ 21 w 69"/>
                <a:gd name="T31" fmla="*/ 134 h 149"/>
                <a:gd name="T32" fmla="*/ 20 w 69"/>
                <a:gd name="T33" fmla="*/ 131 h 149"/>
                <a:gd name="T34" fmla="*/ 20 w 69"/>
                <a:gd name="T35" fmla="*/ 75 h 149"/>
                <a:gd name="T36" fmla="*/ 18 w 69"/>
                <a:gd name="T37" fmla="*/ 71 h 149"/>
                <a:gd name="T38" fmla="*/ 2 w 69"/>
                <a:gd name="T39" fmla="*/ 36 h 149"/>
                <a:gd name="T40" fmla="*/ 24 w 69"/>
                <a:gd name="T41" fmla="*/ 6 h 149"/>
                <a:gd name="T42" fmla="*/ 65 w 69"/>
                <a:gd name="T43" fmla="*/ 24 h 149"/>
                <a:gd name="T44" fmla="*/ 69 w 69"/>
                <a:gd name="T45" fmla="*/ 41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9" h="149">
                  <a:moveTo>
                    <a:pt x="69" y="41"/>
                  </a:moveTo>
                  <a:cubicBezTo>
                    <a:pt x="68" y="54"/>
                    <a:pt x="63" y="64"/>
                    <a:pt x="52" y="71"/>
                  </a:cubicBezTo>
                  <a:cubicBezTo>
                    <a:pt x="51" y="72"/>
                    <a:pt x="50" y="73"/>
                    <a:pt x="50" y="74"/>
                  </a:cubicBezTo>
                  <a:cubicBezTo>
                    <a:pt x="50" y="77"/>
                    <a:pt x="50" y="80"/>
                    <a:pt x="50" y="82"/>
                  </a:cubicBezTo>
                  <a:cubicBezTo>
                    <a:pt x="50" y="84"/>
                    <a:pt x="50" y="85"/>
                    <a:pt x="49" y="86"/>
                  </a:cubicBezTo>
                  <a:cubicBezTo>
                    <a:pt x="46" y="89"/>
                    <a:pt x="43" y="92"/>
                    <a:pt x="40" y="96"/>
                  </a:cubicBezTo>
                  <a:cubicBezTo>
                    <a:pt x="39" y="97"/>
                    <a:pt x="39" y="97"/>
                    <a:pt x="40" y="99"/>
                  </a:cubicBezTo>
                  <a:cubicBezTo>
                    <a:pt x="43" y="102"/>
                    <a:pt x="46" y="105"/>
                    <a:pt x="49" y="109"/>
                  </a:cubicBezTo>
                  <a:cubicBezTo>
                    <a:pt x="50" y="110"/>
                    <a:pt x="51" y="111"/>
                    <a:pt x="49" y="112"/>
                  </a:cubicBezTo>
                  <a:cubicBezTo>
                    <a:pt x="46" y="115"/>
                    <a:pt x="44" y="118"/>
                    <a:pt x="41" y="121"/>
                  </a:cubicBezTo>
                  <a:cubicBezTo>
                    <a:pt x="40" y="122"/>
                    <a:pt x="39" y="123"/>
                    <a:pt x="41" y="124"/>
                  </a:cubicBezTo>
                  <a:cubicBezTo>
                    <a:pt x="44" y="126"/>
                    <a:pt x="46" y="129"/>
                    <a:pt x="49" y="132"/>
                  </a:cubicBezTo>
                  <a:cubicBezTo>
                    <a:pt x="50" y="133"/>
                    <a:pt x="50" y="134"/>
                    <a:pt x="49" y="135"/>
                  </a:cubicBezTo>
                  <a:cubicBezTo>
                    <a:pt x="44" y="139"/>
                    <a:pt x="40" y="144"/>
                    <a:pt x="36" y="148"/>
                  </a:cubicBezTo>
                  <a:cubicBezTo>
                    <a:pt x="35" y="149"/>
                    <a:pt x="35" y="149"/>
                    <a:pt x="34" y="148"/>
                  </a:cubicBezTo>
                  <a:cubicBezTo>
                    <a:pt x="30" y="143"/>
                    <a:pt x="25" y="139"/>
                    <a:pt x="21" y="134"/>
                  </a:cubicBezTo>
                  <a:cubicBezTo>
                    <a:pt x="20" y="133"/>
                    <a:pt x="20" y="132"/>
                    <a:pt x="20" y="131"/>
                  </a:cubicBezTo>
                  <a:cubicBezTo>
                    <a:pt x="20" y="112"/>
                    <a:pt x="20" y="94"/>
                    <a:pt x="20" y="75"/>
                  </a:cubicBezTo>
                  <a:cubicBezTo>
                    <a:pt x="20" y="73"/>
                    <a:pt x="19" y="72"/>
                    <a:pt x="18" y="71"/>
                  </a:cubicBezTo>
                  <a:cubicBezTo>
                    <a:pt x="5" y="62"/>
                    <a:pt x="0" y="50"/>
                    <a:pt x="2" y="36"/>
                  </a:cubicBezTo>
                  <a:cubicBezTo>
                    <a:pt x="3" y="22"/>
                    <a:pt x="11" y="11"/>
                    <a:pt x="24" y="6"/>
                  </a:cubicBezTo>
                  <a:cubicBezTo>
                    <a:pt x="40" y="0"/>
                    <a:pt x="58" y="8"/>
                    <a:pt x="65" y="24"/>
                  </a:cubicBezTo>
                  <a:cubicBezTo>
                    <a:pt x="68" y="29"/>
                    <a:pt x="69" y="35"/>
                    <a:pt x="69" y="41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45" name="Freeform 7"/>
            <p:cNvSpPr>
              <a:spLocks/>
            </p:cNvSpPr>
            <p:nvPr/>
          </p:nvSpPr>
          <p:spPr bwMode="auto">
            <a:xfrm>
              <a:off x="1224756" y="1657352"/>
              <a:ext cx="66675" cy="61913"/>
            </a:xfrm>
            <a:custGeom>
              <a:avLst/>
              <a:gdLst>
                <a:gd name="T0" fmla="*/ 26 w 26"/>
                <a:gd name="T1" fmla="*/ 11 h 24"/>
                <a:gd name="T2" fmla="*/ 14 w 26"/>
                <a:gd name="T3" fmla="*/ 23 h 24"/>
                <a:gd name="T4" fmla="*/ 2 w 26"/>
                <a:gd name="T5" fmla="*/ 13 h 24"/>
                <a:gd name="T6" fmla="*/ 14 w 26"/>
                <a:gd name="T7" fmla="*/ 0 h 24"/>
                <a:gd name="T8" fmla="*/ 24 w 26"/>
                <a:gd name="T9" fmla="*/ 6 h 24"/>
                <a:gd name="T10" fmla="*/ 26 w 26"/>
                <a:gd name="T11" fmla="*/ 1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26" y="11"/>
                  </a:moveTo>
                  <a:cubicBezTo>
                    <a:pt x="26" y="17"/>
                    <a:pt x="20" y="23"/>
                    <a:pt x="14" y="23"/>
                  </a:cubicBezTo>
                  <a:cubicBezTo>
                    <a:pt x="9" y="24"/>
                    <a:pt x="3" y="19"/>
                    <a:pt x="2" y="13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18" y="1"/>
                    <a:pt x="22" y="3"/>
                    <a:pt x="24" y="6"/>
                  </a:cubicBezTo>
                  <a:cubicBezTo>
                    <a:pt x="25" y="8"/>
                    <a:pt x="26" y="9"/>
                    <a:pt x="26" y="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</p:grpSp>
      <p:sp>
        <p:nvSpPr>
          <p:cNvPr id="46" name="テキスト ボックス 45"/>
          <p:cNvSpPr txBox="1"/>
          <p:nvPr/>
        </p:nvSpPr>
        <p:spPr>
          <a:xfrm>
            <a:off x="9961030" y="2302155"/>
            <a:ext cx="15848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サービス 秘密鍵</a:t>
            </a:r>
          </a:p>
        </p:txBody>
      </p:sp>
      <p:sp>
        <p:nvSpPr>
          <p:cNvPr id="47" name="正方形/長方形 46"/>
          <p:cNvSpPr/>
          <p:nvPr/>
        </p:nvSpPr>
        <p:spPr bwMode="auto">
          <a:xfrm>
            <a:off x="9540270" y="2157985"/>
            <a:ext cx="2069805" cy="58215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  <a:effectLst/>
          <a:ex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2400" b="1" dirty="0">
              <a:latin typeface="+mj-ea"/>
              <a:ea typeface="+mj-ea"/>
            </a:endParaRPr>
          </a:p>
        </p:txBody>
      </p:sp>
      <p:grpSp>
        <p:nvGrpSpPr>
          <p:cNvPr id="48" name="グループ化 47"/>
          <p:cNvGrpSpPr/>
          <p:nvPr/>
        </p:nvGrpSpPr>
        <p:grpSpPr>
          <a:xfrm>
            <a:off x="7508453" y="2191742"/>
            <a:ext cx="237067" cy="512233"/>
            <a:chOff x="1167606" y="1608139"/>
            <a:chExt cx="177800" cy="384175"/>
          </a:xfrm>
          <a:solidFill>
            <a:srgbClr val="00B050"/>
          </a:solidFill>
        </p:grpSpPr>
        <p:sp>
          <p:nvSpPr>
            <p:cNvPr id="49" name="Freeform 6"/>
            <p:cNvSpPr>
              <a:spLocks/>
            </p:cNvSpPr>
            <p:nvPr/>
          </p:nvSpPr>
          <p:spPr bwMode="auto">
            <a:xfrm>
              <a:off x="1167606" y="1608139"/>
              <a:ext cx="177800" cy="384175"/>
            </a:xfrm>
            <a:custGeom>
              <a:avLst/>
              <a:gdLst>
                <a:gd name="T0" fmla="*/ 69 w 69"/>
                <a:gd name="T1" fmla="*/ 41 h 149"/>
                <a:gd name="T2" fmla="*/ 52 w 69"/>
                <a:gd name="T3" fmla="*/ 71 h 149"/>
                <a:gd name="T4" fmla="*/ 50 w 69"/>
                <a:gd name="T5" fmla="*/ 74 h 149"/>
                <a:gd name="T6" fmla="*/ 50 w 69"/>
                <a:gd name="T7" fmla="*/ 82 h 149"/>
                <a:gd name="T8" fmla="*/ 49 w 69"/>
                <a:gd name="T9" fmla="*/ 86 h 149"/>
                <a:gd name="T10" fmla="*/ 40 w 69"/>
                <a:gd name="T11" fmla="*/ 96 h 149"/>
                <a:gd name="T12" fmla="*/ 40 w 69"/>
                <a:gd name="T13" fmla="*/ 99 h 149"/>
                <a:gd name="T14" fmla="*/ 49 w 69"/>
                <a:gd name="T15" fmla="*/ 109 h 149"/>
                <a:gd name="T16" fmla="*/ 49 w 69"/>
                <a:gd name="T17" fmla="*/ 112 h 149"/>
                <a:gd name="T18" fmla="*/ 41 w 69"/>
                <a:gd name="T19" fmla="*/ 121 h 149"/>
                <a:gd name="T20" fmla="*/ 41 w 69"/>
                <a:gd name="T21" fmla="*/ 124 h 149"/>
                <a:gd name="T22" fmla="*/ 49 w 69"/>
                <a:gd name="T23" fmla="*/ 132 h 149"/>
                <a:gd name="T24" fmla="*/ 49 w 69"/>
                <a:gd name="T25" fmla="*/ 135 h 149"/>
                <a:gd name="T26" fmla="*/ 36 w 69"/>
                <a:gd name="T27" fmla="*/ 148 h 149"/>
                <a:gd name="T28" fmla="*/ 34 w 69"/>
                <a:gd name="T29" fmla="*/ 148 h 149"/>
                <a:gd name="T30" fmla="*/ 21 w 69"/>
                <a:gd name="T31" fmla="*/ 134 h 149"/>
                <a:gd name="T32" fmla="*/ 20 w 69"/>
                <a:gd name="T33" fmla="*/ 131 h 149"/>
                <a:gd name="T34" fmla="*/ 20 w 69"/>
                <a:gd name="T35" fmla="*/ 75 h 149"/>
                <a:gd name="T36" fmla="*/ 18 w 69"/>
                <a:gd name="T37" fmla="*/ 71 h 149"/>
                <a:gd name="T38" fmla="*/ 2 w 69"/>
                <a:gd name="T39" fmla="*/ 36 h 149"/>
                <a:gd name="T40" fmla="*/ 24 w 69"/>
                <a:gd name="T41" fmla="*/ 6 h 149"/>
                <a:gd name="T42" fmla="*/ 65 w 69"/>
                <a:gd name="T43" fmla="*/ 24 h 149"/>
                <a:gd name="T44" fmla="*/ 69 w 69"/>
                <a:gd name="T45" fmla="*/ 41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9" h="149">
                  <a:moveTo>
                    <a:pt x="69" y="41"/>
                  </a:moveTo>
                  <a:cubicBezTo>
                    <a:pt x="68" y="54"/>
                    <a:pt x="63" y="64"/>
                    <a:pt x="52" y="71"/>
                  </a:cubicBezTo>
                  <a:cubicBezTo>
                    <a:pt x="51" y="72"/>
                    <a:pt x="50" y="73"/>
                    <a:pt x="50" y="74"/>
                  </a:cubicBezTo>
                  <a:cubicBezTo>
                    <a:pt x="50" y="77"/>
                    <a:pt x="50" y="80"/>
                    <a:pt x="50" y="82"/>
                  </a:cubicBezTo>
                  <a:cubicBezTo>
                    <a:pt x="50" y="84"/>
                    <a:pt x="50" y="85"/>
                    <a:pt x="49" y="86"/>
                  </a:cubicBezTo>
                  <a:cubicBezTo>
                    <a:pt x="46" y="89"/>
                    <a:pt x="43" y="92"/>
                    <a:pt x="40" y="96"/>
                  </a:cubicBezTo>
                  <a:cubicBezTo>
                    <a:pt x="39" y="97"/>
                    <a:pt x="39" y="97"/>
                    <a:pt x="40" y="99"/>
                  </a:cubicBezTo>
                  <a:cubicBezTo>
                    <a:pt x="43" y="102"/>
                    <a:pt x="46" y="105"/>
                    <a:pt x="49" y="109"/>
                  </a:cubicBezTo>
                  <a:cubicBezTo>
                    <a:pt x="50" y="110"/>
                    <a:pt x="51" y="111"/>
                    <a:pt x="49" y="112"/>
                  </a:cubicBezTo>
                  <a:cubicBezTo>
                    <a:pt x="46" y="115"/>
                    <a:pt x="44" y="118"/>
                    <a:pt x="41" y="121"/>
                  </a:cubicBezTo>
                  <a:cubicBezTo>
                    <a:pt x="40" y="122"/>
                    <a:pt x="39" y="123"/>
                    <a:pt x="41" y="124"/>
                  </a:cubicBezTo>
                  <a:cubicBezTo>
                    <a:pt x="44" y="126"/>
                    <a:pt x="46" y="129"/>
                    <a:pt x="49" y="132"/>
                  </a:cubicBezTo>
                  <a:cubicBezTo>
                    <a:pt x="50" y="133"/>
                    <a:pt x="50" y="134"/>
                    <a:pt x="49" y="135"/>
                  </a:cubicBezTo>
                  <a:cubicBezTo>
                    <a:pt x="44" y="139"/>
                    <a:pt x="40" y="144"/>
                    <a:pt x="36" y="148"/>
                  </a:cubicBezTo>
                  <a:cubicBezTo>
                    <a:pt x="35" y="149"/>
                    <a:pt x="35" y="149"/>
                    <a:pt x="34" y="148"/>
                  </a:cubicBezTo>
                  <a:cubicBezTo>
                    <a:pt x="30" y="143"/>
                    <a:pt x="25" y="139"/>
                    <a:pt x="21" y="134"/>
                  </a:cubicBezTo>
                  <a:cubicBezTo>
                    <a:pt x="20" y="133"/>
                    <a:pt x="20" y="132"/>
                    <a:pt x="20" y="131"/>
                  </a:cubicBezTo>
                  <a:cubicBezTo>
                    <a:pt x="20" y="112"/>
                    <a:pt x="20" y="94"/>
                    <a:pt x="20" y="75"/>
                  </a:cubicBezTo>
                  <a:cubicBezTo>
                    <a:pt x="20" y="73"/>
                    <a:pt x="19" y="72"/>
                    <a:pt x="18" y="71"/>
                  </a:cubicBezTo>
                  <a:cubicBezTo>
                    <a:pt x="5" y="62"/>
                    <a:pt x="0" y="50"/>
                    <a:pt x="2" y="36"/>
                  </a:cubicBezTo>
                  <a:cubicBezTo>
                    <a:pt x="3" y="22"/>
                    <a:pt x="11" y="11"/>
                    <a:pt x="24" y="6"/>
                  </a:cubicBezTo>
                  <a:cubicBezTo>
                    <a:pt x="40" y="0"/>
                    <a:pt x="58" y="8"/>
                    <a:pt x="65" y="24"/>
                  </a:cubicBezTo>
                  <a:cubicBezTo>
                    <a:pt x="68" y="29"/>
                    <a:pt x="69" y="35"/>
                    <a:pt x="69" y="41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50" name="Freeform 7"/>
            <p:cNvSpPr>
              <a:spLocks/>
            </p:cNvSpPr>
            <p:nvPr/>
          </p:nvSpPr>
          <p:spPr bwMode="auto">
            <a:xfrm>
              <a:off x="1224756" y="1657352"/>
              <a:ext cx="66675" cy="61913"/>
            </a:xfrm>
            <a:custGeom>
              <a:avLst/>
              <a:gdLst>
                <a:gd name="T0" fmla="*/ 26 w 26"/>
                <a:gd name="T1" fmla="*/ 11 h 24"/>
                <a:gd name="T2" fmla="*/ 14 w 26"/>
                <a:gd name="T3" fmla="*/ 23 h 24"/>
                <a:gd name="T4" fmla="*/ 2 w 26"/>
                <a:gd name="T5" fmla="*/ 13 h 24"/>
                <a:gd name="T6" fmla="*/ 14 w 26"/>
                <a:gd name="T7" fmla="*/ 0 h 24"/>
                <a:gd name="T8" fmla="*/ 24 w 26"/>
                <a:gd name="T9" fmla="*/ 6 h 24"/>
                <a:gd name="T10" fmla="*/ 26 w 26"/>
                <a:gd name="T11" fmla="*/ 1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26" y="11"/>
                  </a:moveTo>
                  <a:cubicBezTo>
                    <a:pt x="26" y="17"/>
                    <a:pt x="20" y="23"/>
                    <a:pt x="14" y="23"/>
                  </a:cubicBezTo>
                  <a:cubicBezTo>
                    <a:pt x="9" y="24"/>
                    <a:pt x="3" y="19"/>
                    <a:pt x="2" y="13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18" y="1"/>
                    <a:pt x="22" y="3"/>
                    <a:pt x="24" y="6"/>
                  </a:cubicBezTo>
                  <a:cubicBezTo>
                    <a:pt x="25" y="8"/>
                    <a:pt x="26" y="9"/>
                    <a:pt x="26" y="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</p:grpSp>
      <p:sp>
        <p:nvSpPr>
          <p:cNvPr id="51" name="テキスト ボックス 50"/>
          <p:cNvSpPr txBox="1"/>
          <p:nvPr/>
        </p:nvSpPr>
        <p:spPr>
          <a:xfrm>
            <a:off x="7802826" y="2229887"/>
            <a:ext cx="997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サービス</a:t>
            </a:r>
            <a:endParaRPr lang="en-US" altLang="ja-JP" sz="1400" dirty="0"/>
          </a:p>
          <a:p>
            <a:r>
              <a:rPr lang="ja-JP" altLang="en-US" sz="1400" dirty="0"/>
              <a:t>秘密鍵</a:t>
            </a:r>
          </a:p>
        </p:txBody>
      </p:sp>
      <p:grpSp>
        <p:nvGrpSpPr>
          <p:cNvPr id="52" name="グループ化 51"/>
          <p:cNvGrpSpPr/>
          <p:nvPr/>
        </p:nvGrpSpPr>
        <p:grpSpPr>
          <a:xfrm>
            <a:off x="1002231" y="986665"/>
            <a:ext cx="1200216" cy="894644"/>
            <a:chOff x="10501313" y="446088"/>
            <a:chExt cx="636587" cy="466724"/>
          </a:xfrm>
          <a:solidFill>
            <a:srgbClr val="002060"/>
          </a:solidFill>
        </p:grpSpPr>
        <p:sp>
          <p:nvSpPr>
            <p:cNvPr id="53" name="Freeform 55"/>
            <p:cNvSpPr>
              <a:spLocks/>
            </p:cNvSpPr>
            <p:nvPr/>
          </p:nvSpPr>
          <p:spPr bwMode="auto">
            <a:xfrm>
              <a:off x="10501313" y="446088"/>
              <a:ext cx="511175" cy="430212"/>
            </a:xfrm>
            <a:custGeom>
              <a:avLst/>
              <a:gdLst>
                <a:gd name="T0" fmla="*/ 153 w 197"/>
                <a:gd name="T1" fmla="*/ 115 h 164"/>
                <a:gd name="T2" fmla="*/ 147 w 197"/>
                <a:gd name="T3" fmla="*/ 118 h 164"/>
                <a:gd name="T4" fmla="*/ 137 w 197"/>
                <a:gd name="T5" fmla="*/ 126 h 164"/>
                <a:gd name="T6" fmla="*/ 134 w 197"/>
                <a:gd name="T7" fmla="*/ 128 h 164"/>
                <a:gd name="T8" fmla="*/ 123 w 197"/>
                <a:gd name="T9" fmla="*/ 128 h 164"/>
                <a:gd name="T10" fmla="*/ 120 w 197"/>
                <a:gd name="T11" fmla="*/ 129 h 164"/>
                <a:gd name="T12" fmla="*/ 119 w 197"/>
                <a:gd name="T13" fmla="*/ 137 h 164"/>
                <a:gd name="T14" fmla="*/ 127 w 197"/>
                <a:gd name="T15" fmla="*/ 149 h 164"/>
                <a:gd name="T16" fmla="*/ 129 w 197"/>
                <a:gd name="T17" fmla="*/ 152 h 164"/>
                <a:gd name="T18" fmla="*/ 128 w 197"/>
                <a:gd name="T19" fmla="*/ 161 h 164"/>
                <a:gd name="T20" fmla="*/ 125 w 197"/>
                <a:gd name="T21" fmla="*/ 164 h 164"/>
                <a:gd name="T22" fmla="*/ 108 w 197"/>
                <a:gd name="T23" fmla="*/ 163 h 164"/>
                <a:gd name="T24" fmla="*/ 50 w 197"/>
                <a:gd name="T25" fmla="*/ 163 h 164"/>
                <a:gd name="T26" fmla="*/ 47 w 197"/>
                <a:gd name="T27" fmla="*/ 163 h 164"/>
                <a:gd name="T28" fmla="*/ 41 w 197"/>
                <a:gd name="T29" fmla="*/ 157 h 164"/>
                <a:gd name="T30" fmla="*/ 47 w 197"/>
                <a:gd name="T31" fmla="*/ 151 h 164"/>
                <a:gd name="T32" fmla="*/ 62 w 197"/>
                <a:gd name="T33" fmla="*/ 150 h 164"/>
                <a:gd name="T34" fmla="*/ 71 w 197"/>
                <a:gd name="T35" fmla="*/ 148 h 164"/>
                <a:gd name="T36" fmla="*/ 78 w 197"/>
                <a:gd name="T37" fmla="*/ 138 h 164"/>
                <a:gd name="T38" fmla="*/ 77 w 197"/>
                <a:gd name="T39" fmla="*/ 130 h 164"/>
                <a:gd name="T40" fmla="*/ 74 w 197"/>
                <a:gd name="T41" fmla="*/ 128 h 164"/>
                <a:gd name="T42" fmla="*/ 12 w 197"/>
                <a:gd name="T43" fmla="*/ 128 h 164"/>
                <a:gd name="T44" fmla="*/ 0 w 197"/>
                <a:gd name="T45" fmla="*/ 116 h 164"/>
                <a:gd name="T46" fmla="*/ 0 w 197"/>
                <a:gd name="T47" fmla="*/ 11 h 164"/>
                <a:gd name="T48" fmla="*/ 11 w 197"/>
                <a:gd name="T49" fmla="*/ 0 h 164"/>
                <a:gd name="T50" fmla="*/ 185 w 197"/>
                <a:gd name="T51" fmla="*/ 0 h 164"/>
                <a:gd name="T52" fmla="*/ 197 w 197"/>
                <a:gd name="T53" fmla="*/ 11 h 164"/>
                <a:gd name="T54" fmla="*/ 197 w 197"/>
                <a:gd name="T55" fmla="*/ 49 h 164"/>
                <a:gd name="T56" fmla="*/ 197 w 197"/>
                <a:gd name="T57" fmla="*/ 51 h 164"/>
                <a:gd name="T58" fmla="*/ 185 w 197"/>
                <a:gd name="T59" fmla="*/ 50 h 164"/>
                <a:gd name="T60" fmla="*/ 184 w 197"/>
                <a:gd name="T61" fmla="*/ 48 h 164"/>
                <a:gd name="T62" fmla="*/ 184 w 197"/>
                <a:gd name="T63" fmla="*/ 28 h 164"/>
                <a:gd name="T64" fmla="*/ 184 w 197"/>
                <a:gd name="T65" fmla="*/ 15 h 164"/>
                <a:gd name="T66" fmla="*/ 182 w 197"/>
                <a:gd name="T67" fmla="*/ 12 h 164"/>
                <a:gd name="T68" fmla="*/ 181 w 197"/>
                <a:gd name="T69" fmla="*/ 12 h 164"/>
                <a:gd name="T70" fmla="*/ 16 w 197"/>
                <a:gd name="T71" fmla="*/ 12 h 164"/>
                <a:gd name="T72" fmla="*/ 13 w 197"/>
                <a:gd name="T73" fmla="*/ 15 h 164"/>
                <a:gd name="T74" fmla="*/ 13 w 197"/>
                <a:gd name="T75" fmla="*/ 112 h 164"/>
                <a:gd name="T76" fmla="*/ 16 w 197"/>
                <a:gd name="T77" fmla="*/ 115 h 164"/>
                <a:gd name="T78" fmla="*/ 150 w 197"/>
                <a:gd name="T79" fmla="*/ 115 h 164"/>
                <a:gd name="T80" fmla="*/ 153 w 197"/>
                <a:gd name="T81" fmla="*/ 115 h 164"/>
                <a:gd name="T82" fmla="*/ 153 w 197"/>
                <a:gd name="T83" fmla="*/ 115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97" h="164">
                  <a:moveTo>
                    <a:pt x="153" y="115"/>
                  </a:moveTo>
                  <a:cubicBezTo>
                    <a:pt x="151" y="116"/>
                    <a:pt x="149" y="117"/>
                    <a:pt x="147" y="118"/>
                  </a:cubicBezTo>
                  <a:cubicBezTo>
                    <a:pt x="143" y="120"/>
                    <a:pt x="140" y="123"/>
                    <a:pt x="137" y="126"/>
                  </a:cubicBezTo>
                  <a:cubicBezTo>
                    <a:pt x="136" y="127"/>
                    <a:pt x="136" y="128"/>
                    <a:pt x="134" y="128"/>
                  </a:cubicBezTo>
                  <a:cubicBezTo>
                    <a:pt x="130" y="128"/>
                    <a:pt x="126" y="128"/>
                    <a:pt x="123" y="128"/>
                  </a:cubicBezTo>
                  <a:cubicBezTo>
                    <a:pt x="121" y="128"/>
                    <a:pt x="121" y="128"/>
                    <a:pt x="120" y="129"/>
                  </a:cubicBezTo>
                  <a:cubicBezTo>
                    <a:pt x="120" y="132"/>
                    <a:pt x="119" y="134"/>
                    <a:pt x="119" y="137"/>
                  </a:cubicBezTo>
                  <a:cubicBezTo>
                    <a:pt x="118" y="143"/>
                    <a:pt x="120" y="147"/>
                    <a:pt x="127" y="149"/>
                  </a:cubicBezTo>
                  <a:cubicBezTo>
                    <a:pt x="129" y="149"/>
                    <a:pt x="129" y="150"/>
                    <a:pt x="129" y="152"/>
                  </a:cubicBezTo>
                  <a:cubicBezTo>
                    <a:pt x="128" y="155"/>
                    <a:pt x="128" y="158"/>
                    <a:pt x="128" y="161"/>
                  </a:cubicBezTo>
                  <a:cubicBezTo>
                    <a:pt x="128" y="163"/>
                    <a:pt x="127" y="164"/>
                    <a:pt x="125" y="164"/>
                  </a:cubicBezTo>
                  <a:cubicBezTo>
                    <a:pt x="119" y="163"/>
                    <a:pt x="114" y="163"/>
                    <a:pt x="108" y="163"/>
                  </a:cubicBezTo>
                  <a:cubicBezTo>
                    <a:pt x="88" y="163"/>
                    <a:pt x="69" y="163"/>
                    <a:pt x="50" y="163"/>
                  </a:cubicBezTo>
                  <a:cubicBezTo>
                    <a:pt x="49" y="163"/>
                    <a:pt x="48" y="163"/>
                    <a:pt x="47" y="163"/>
                  </a:cubicBezTo>
                  <a:cubicBezTo>
                    <a:pt x="43" y="163"/>
                    <a:pt x="41" y="160"/>
                    <a:pt x="41" y="157"/>
                  </a:cubicBezTo>
                  <a:cubicBezTo>
                    <a:pt x="41" y="153"/>
                    <a:pt x="44" y="151"/>
                    <a:pt x="47" y="151"/>
                  </a:cubicBezTo>
                  <a:cubicBezTo>
                    <a:pt x="52" y="151"/>
                    <a:pt x="57" y="151"/>
                    <a:pt x="62" y="150"/>
                  </a:cubicBezTo>
                  <a:cubicBezTo>
                    <a:pt x="65" y="150"/>
                    <a:pt x="68" y="150"/>
                    <a:pt x="71" y="148"/>
                  </a:cubicBezTo>
                  <a:cubicBezTo>
                    <a:pt x="76" y="147"/>
                    <a:pt x="78" y="143"/>
                    <a:pt x="78" y="138"/>
                  </a:cubicBezTo>
                  <a:cubicBezTo>
                    <a:pt x="78" y="135"/>
                    <a:pt x="77" y="133"/>
                    <a:pt x="77" y="130"/>
                  </a:cubicBezTo>
                  <a:cubicBezTo>
                    <a:pt x="76" y="128"/>
                    <a:pt x="75" y="128"/>
                    <a:pt x="74" y="128"/>
                  </a:cubicBezTo>
                  <a:cubicBezTo>
                    <a:pt x="53" y="128"/>
                    <a:pt x="32" y="128"/>
                    <a:pt x="12" y="128"/>
                  </a:cubicBezTo>
                  <a:cubicBezTo>
                    <a:pt x="4" y="128"/>
                    <a:pt x="0" y="124"/>
                    <a:pt x="0" y="116"/>
                  </a:cubicBezTo>
                  <a:cubicBezTo>
                    <a:pt x="0" y="81"/>
                    <a:pt x="0" y="46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69" y="0"/>
                    <a:pt x="127" y="0"/>
                    <a:pt x="185" y="0"/>
                  </a:cubicBezTo>
                  <a:cubicBezTo>
                    <a:pt x="193" y="0"/>
                    <a:pt x="197" y="4"/>
                    <a:pt x="197" y="11"/>
                  </a:cubicBezTo>
                  <a:cubicBezTo>
                    <a:pt x="197" y="24"/>
                    <a:pt x="197" y="36"/>
                    <a:pt x="197" y="49"/>
                  </a:cubicBezTo>
                  <a:cubicBezTo>
                    <a:pt x="197" y="49"/>
                    <a:pt x="197" y="50"/>
                    <a:pt x="197" y="51"/>
                  </a:cubicBezTo>
                  <a:cubicBezTo>
                    <a:pt x="193" y="50"/>
                    <a:pt x="189" y="50"/>
                    <a:pt x="185" y="50"/>
                  </a:cubicBezTo>
                  <a:cubicBezTo>
                    <a:pt x="184" y="50"/>
                    <a:pt x="184" y="49"/>
                    <a:pt x="184" y="48"/>
                  </a:cubicBezTo>
                  <a:cubicBezTo>
                    <a:pt x="184" y="41"/>
                    <a:pt x="184" y="34"/>
                    <a:pt x="184" y="28"/>
                  </a:cubicBezTo>
                  <a:cubicBezTo>
                    <a:pt x="184" y="23"/>
                    <a:pt x="184" y="19"/>
                    <a:pt x="184" y="15"/>
                  </a:cubicBezTo>
                  <a:cubicBezTo>
                    <a:pt x="184" y="13"/>
                    <a:pt x="184" y="12"/>
                    <a:pt x="182" y="12"/>
                  </a:cubicBezTo>
                  <a:cubicBezTo>
                    <a:pt x="182" y="12"/>
                    <a:pt x="182" y="12"/>
                    <a:pt x="181" y="12"/>
                  </a:cubicBezTo>
                  <a:cubicBezTo>
                    <a:pt x="126" y="12"/>
                    <a:pt x="71" y="12"/>
                    <a:pt x="16" y="12"/>
                  </a:cubicBezTo>
                  <a:cubicBezTo>
                    <a:pt x="13" y="12"/>
                    <a:pt x="13" y="13"/>
                    <a:pt x="13" y="15"/>
                  </a:cubicBezTo>
                  <a:cubicBezTo>
                    <a:pt x="13" y="47"/>
                    <a:pt x="13" y="79"/>
                    <a:pt x="13" y="112"/>
                  </a:cubicBezTo>
                  <a:cubicBezTo>
                    <a:pt x="13" y="115"/>
                    <a:pt x="12" y="115"/>
                    <a:pt x="16" y="115"/>
                  </a:cubicBezTo>
                  <a:cubicBezTo>
                    <a:pt x="61" y="115"/>
                    <a:pt x="105" y="115"/>
                    <a:pt x="150" y="115"/>
                  </a:cubicBezTo>
                  <a:cubicBezTo>
                    <a:pt x="151" y="115"/>
                    <a:pt x="152" y="115"/>
                    <a:pt x="153" y="115"/>
                  </a:cubicBezTo>
                  <a:cubicBezTo>
                    <a:pt x="153" y="115"/>
                    <a:pt x="153" y="115"/>
                    <a:pt x="153" y="1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54" name="Freeform 56"/>
            <p:cNvSpPr>
              <a:spLocks/>
            </p:cNvSpPr>
            <p:nvPr/>
          </p:nvSpPr>
          <p:spPr bwMode="auto">
            <a:xfrm>
              <a:off x="10848975" y="755650"/>
              <a:ext cx="288925" cy="157162"/>
            </a:xfrm>
            <a:custGeom>
              <a:avLst/>
              <a:gdLst>
                <a:gd name="T0" fmla="*/ 56 w 111"/>
                <a:gd name="T1" fmla="*/ 59 h 60"/>
                <a:gd name="T2" fmla="*/ 3 w 111"/>
                <a:gd name="T3" fmla="*/ 59 h 60"/>
                <a:gd name="T4" fmla="*/ 0 w 111"/>
                <a:gd name="T5" fmla="*/ 57 h 60"/>
                <a:gd name="T6" fmla="*/ 5 w 111"/>
                <a:gd name="T7" fmla="*/ 22 h 60"/>
                <a:gd name="T8" fmla="*/ 16 w 111"/>
                <a:gd name="T9" fmla="*/ 7 h 60"/>
                <a:gd name="T10" fmla="*/ 25 w 111"/>
                <a:gd name="T11" fmla="*/ 2 h 60"/>
                <a:gd name="T12" fmla="*/ 33 w 111"/>
                <a:gd name="T13" fmla="*/ 3 h 60"/>
                <a:gd name="T14" fmla="*/ 70 w 111"/>
                <a:gd name="T15" fmla="*/ 7 h 60"/>
                <a:gd name="T16" fmla="*/ 78 w 111"/>
                <a:gd name="T17" fmla="*/ 2 h 60"/>
                <a:gd name="T18" fmla="*/ 83 w 111"/>
                <a:gd name="T19" fmla="*/ 2 h 60"/>
                <a:gd name="T20" fmla="*/ 98 w 111"/>
                <a:gd name="T21" fmla="*/ 11 h 60"/>
                <a:gd name="T22" fmla="*/ 106 w 111"/>
                <a:gd name="T23" fmla="*/ 28 h 60"/>
                <a:gd name="T24" fmla="*/ 111 w 111"/>
                <a:gd name="T25" fmla="*/ 57 h 60"/>
                <a:gd name="T26" fmla="*/ 109 w 111"/>
                <a:gd name="T27" fmla="*/ 59 h 60"/>
                <a:gd name="T28" fmla="*/ 56 w 111"/>
                <a:gd name="T29" fmla="*/ 59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1" h="60">
                  <a:moveTo>
                    <a:pt x="56" y="59"/>
                  </a:moveTo>
                  <a:cubicBezTo>
                    <a:pt x="38" y="59"/>
                    <a:pt x="20" y="59"/>
                    <a:pt x="3" y="59"/>
                  </a:cubicBezTo>
                  <a:cubicBezTo>
                    <a:pt x="1" y="59"/>
                    <a:pt x="0" y="59"/>
                    <a:pt x="0" y="57"/>
                  </a:cubicBezTo>
                  <a:cubicBezTo>
                    <a:pt x="2" y="45"/>
                    <a:pt x="3" y="33"/>
                    <a:pt x="5" y="22"/>
                  </a:cubicBezTo>
                  <a:cubicBezTo>
                    <a:pt x="7" y="15"/>
                    <a:pt x="10" y="10"/>
                    <a:pt x="16" y="7"/>
                  </a:cubicBezTo>
                  <a:cubicBezTo>
                    <a:pt x="19" y="6"/>
                    <a:pt x="22" y="4"/>
                    <a:pt x="25" y="2"/>
                  </a:cubicBezTo>
                  <a:cubicBezTo>
                    <a:pt x="28" y="0"/>
                    <a:pt x="30" y="1"/>
                    <a:pt x="33" y="3"/>
                  </a:cubicBezTo>
                  <a:cubicBezTo>
                    <a:pt x="44" y="12"/>
                    <a:pt x="58" y="14"/>
                    <a:pt x="70" y="7"/>
                  </a:cubicBezTo>
                  <a:cubicBezTo>
                    <a:pt x="73" y="6"/>
                    <a:pt x="76" y="4"/>
                    <a:pt x="78" y="2"/>
                  </a:cubicBezTo>
                  <a:cubicBezTo>
                    <a:pt x="79" y="1"/>
                    <a:pt x="81" y="1"/>
                    <a:pt x="83" y="2"/>
                  </a:cubicBezTo>
                  <a:cubicBezTo>
                    <a:pt x="88" y="5"/>
                    <a:pt x="93" y="7"/>
                    <a:pt x="98" y="11"/>
                  </a:cubicBezTo>
                  <a:cubicBezTo>
                    <a:pt x="103" y="15"/>
                    <a:pt x="105" y="22"/>
                    <a:pt x="106" y="28"/>
                  </a:cubicBezTo>
                  <a:cubicBezTo>
                    <a:pt x="108" y="38"/>
                    <a:pt x="109" y="48"/>
                    <a:pt x="111" y="57"/>
                  </a:cubicBezTo>
                  <a:cubicBezTo>
                    <a:pt x="111" y="60"/>
                    <a:pt x="110" y="59"/>
                    <a:pt x="109" y="59"/>
                  </a:cubicBezTo>
                  <a:cubicBezTo>
                    <a:pt x="91" y="59"/>
                    <a:pt x="73" y="59"/>
                    <a:pt x="56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55" name="Freeform 57"/>
            <p:cNvSpPr>
              <a:spLocks/>
            </p:cNvSpPr>
            <p:nvPr/>
          </p:nvSpPr>
          <p:spPr bwMode="auto">
            <a:xfrm>
              <a:off x="10914063" y="587375"/>
              <a:ext cx="160338" cy="165100"/>
            </a:xfrm>
            <a:custGeom>
              <a:avLst/>
              <a:gdLst>
                <a:gd name="T0" fmla="*/ 28 w 62"/>
                <a:gd name="T1" fmla="*/ 63 h 63"/>
                <a:gd name="T2" fmla="*/ 10 w 62"/>
                <a:gd name="T3" fmla="*/ 54 h 63"/>
                <a:gd name="T4" fmla="*/ 9 w 62"/>
                <a:gd name="T5" fmla="*/ 14 h 63"/>
                <a:gd name="T6" fmla="*/ 50 w 62"/>
                <a:gd name="T7" fmla="*/ 13 h 63"/>
                <a:gd name="T8" fmla="*/ 41 w 62"/>
                <a:gd name="T9" fmla="*/ 61 h 63"/>
                <a:gd name="T10" fmla="*/ 28 w 62"/>
                <a:gd name="T11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2" h="63">
                  <a:moveTo>
                    <a:pt x="28" y="63"/>
                  </a:moveTo>
                  <a:cubicBezTo>
                    <a:pt x="22" y="63"/>
                    <a:pt x="15" y="60"/>
                    <a:pt x="10" y="54"/>
                  </a:cubicBezTo>
                  <a:cubicBezTo>
                    <a:pt x="0" y="43"/>
                    <a:pt x="0" y="25"/>
                    <a:pt x="9" y="14"/>
                  </a:cubicBezTo>
                  <a:cubicBezTo>
                    <a:pt x="20" y="0"/>
                    <a:pt x="39" y="0"/>
                    <a:pt x="50" y="13"/>
                  </a:cubicBezTo>
                  <a:cubicBezTo>
                    <a:pt x="62" y="29"/>
                    <a:pt x="57" y="52"/>
                    <a:pt x="41" y="61"/>
                  </a:cubicBezTo>
                  <a:cubicBezTo>
                    <a:pt x="37" y="62"/>
                    <a:pt x="33" y="63"/>
                    <a:pt x="28" y="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</p:grpSp>
      <p:sp>
        <p:nvSpPr>
          <p:cNvPr id="56" name="正方形/長方形 55"/>
          <p:cNvSpPr/>
          <p:nvPr/>
        </p:nvSpPr>
        <p:spPr bwMode="auto">
          <a:xfrm>
            <a:off x="6429775" y="2158312"/>
            <a:ext cx="2370976" cy="58182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  <a:effectLst/>
          <a:ex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2400" b="1" dirty="0">
              <a:latin typeface="+mj-ea"/>
              <a:ea typeface="+mj-ea"/>
            </a:endParaRPr>
          </a:p>
        </p:txBody>
      </p:sp>
      <p:grpSp>
        <p:nvGrpSpPr>
          <p:cNvPr id="57" name="グループ化 56"/>
          <p:cNvGrpSpPr/>
          <p:nvPr/>
        </p:nvGrpSpPr>
        <p:grpSpPr>
          <a:xfrm>
            <a:off x="6513343" y="2194580"/>
            <a:ext cx="237067" cy="512233"/>
            <a:chOff x="1167606" y="1608139"/>
            <a:chExt cx="177800" cy="384175"/>
          </a:xfrm>
          <a:solidFill>
            <a:srgbClr val="FF0000"/>
          </a:solidFill>
        </p:grpSpPr>
        <p:sp>
          <p:nvSpPr>
            <p:cNvPr id="58" name="Freeform 6"/>
            <p:cNvSpPr>
              <a:spLocks/>
            </p:cNvSpPr>
            <p:nvPr/>
          </p:nvSpPr>
          <p:spPr bwMode="auto">
            <a:xfrm>
              <a:off x="1167606" y="1608139"/>
              <a:ext cx="177800" cy="384175"/>
            </a:xfrm>
            <a:custGeom>
              <a:avLst/>
              <a:gdLst>
                <a:gd name="T0" fmla="*/ 69 w 69"/>
                <a:gd name="T1" fmla="*/ 41 h 149"/>
                <a:gd name="T2" fmla="*/ 52 w 69"/>
                <a:gd name="T3" fmla="*/ 71 h 149"/>
                <a:gd name="T4" fmla="*/ 50 w 69"/>
                <a:gd name="T5" fmla="*/ 74 h 149"/>
                <a:gd name="T6" fmla="*/ 50 w 69"/>
                <a:gd name="T7" fmla="*/ 82 h 149"/>
                <a:gd name="T8" fmla="*/ 49 w 69"/>
                <a:gd name="T9" fmla="*/ 86 h 149"/>
                <a:gd name="T10" fmla="*/ 40 w 69"/>
                <a:gd name="T11" fmla="*/ 96 h 149"/>
                <a:gd name="T12" fmla="*/ 40 w 69"/>
                <a:gd name="T13" fmla="*/ 99 h 149"/>
                <a:gd name="T14" fmla="*/ 49 w 69"/>
                <a:gd name="T15" fmla="*/ 109 h 149"/>
                <a:gd name="T16" fmla="*/ 49 w 69"/>
                <a:gd name="T17" fmla="*/ 112 h 149"/>
                <a:gd name="T18" fmla="*/ 41 w 69"/>
                <a:gd name="T19" fmla="*/ 121 h 149"/>
                <a:gd name="T20" fmla="*/ 41 w 69"/>
                <a:gd name="T21" fmla="*/ 124 h 149"/>
                <a:gd name="T22" fmla="*/ 49 w 69"/>
                <a:gd name="T23" fmla="*/ 132 h 149"/>
                <a:gd name="T24" fmla="*/ 49 w 69"/>
                <a:gd name="T25" fmla="*/ 135 h 149"/>
                <a:gd name="T26" fmla="*/ 36 w 69"/>
                <a:gd name="T27" fmla="*/ 148 h 149"/>
                <a:gd name="T28" fmla="*/ 34 w 69"/>
                <a:gd name="T29" fmla="*/ 148 h 149"/>
                <a:gd name="T30" fmla="*/ 21 w 69"/>
                <a:gd name="T31" fmla="*/ 134 h 149"/>
                <a:gd name="T32" fmla="*/ 20 w 69"/>
                <a:gd name="T33" fmla="*/ 131 h 149"/>
                <a:gd name="T34" fmla="*/ 20 w 69"/>
                <a:gd name="T35" fmla="*/ 75 h 149"/>
                <a:gd name="T36" fmla="*/ 18 w 69"/>
                <a:gd name="T37" fmla="*/ 71 h 149"/>
                <a:gd name="T38" fmla="*/ 2 w 69"/>
                <a:gd name="T39" fmla="*/ 36 h 149"/>
                <a:gd name="T40" fmla="*/ 24 w 69"/>
                <a:gd name="T41" fmla="*/ 6 h 149"/>
                <a:gd name="T42" fmla="*/ 65 w 69"/>
                <a:gd name="T43" fmla="*/ 24 h 149"/>
                <a:gd name="T44" fmla="*/ 69 w 69"/>
                <a:gd name="T45" fmla="*/ 41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9" h="149">
                  <a:moveTo>
                    <a:pt x="69" y="41"/>
                  </a:moveTo>
                  <a:cubicBezTo>
                    <a:pt x="68" y="54"/>
                    <a:pt x="63" y="64"/>
                    <a:pt x="52" y="71"/>
                  </a:cubicBezTo>
                  <a:cubicBezTo>
                    <a:pt x="51" y="72"/>
                    <a:pt x="50" y="73"/>
                    <a:pt x="50" y="74"/>
                  </a:cubicBezTo>
                  <a:cubicBezTo>
                    <a:pt x="50" y="77"/>
                    <a:pt x="50" y="80"/>
                    <a:pt x="50" y="82"/>
                  </a:cubicBezTo>
                  <a:cubicBezTo>
                    <a:pt x="50" y="84"/>
                    <a:pt x="50" y="85"/>
                    <a:pt x="49" y="86"/>
                  </a:cubicBezTo>
                  <a:cubicBezTo>
                    <a:pt x="46" y="89"/>
                    <a:pt x="43" y="92"/>
                    <a:pt x="40" y="96"/>
                  </a:cubicBezTo>
                  <a:cubicBezTo>
                    <a:pt x="39" y="97"/>
                    <a:pt x="39" y="97"/>
                    <a:pt x="40" y="99"/>
                  </a:cubicBezTo>
                  <a:cubicBezTo>
                    <a:pt x="43" y="102"/>
                    <a:pt x="46" y="105"/>
                    <a:pt x="49" y="109"/>
                  </a:cubicBezTo>
                  <a:cubicBezTo>
                    <a:pt x="50" y="110"/>
                    <a:pt x="51" y="111"/>
                    <a:pt x="49" y="112"/>
                  </a:cubicBezTo>
                  <a:cubicBezTo>
                    <a:pt x="46" y="115"/>
                    <a:pt x="44" y="118"/>
                    <a:pt x="41" y="121"/>
                  </a:cubicBezTo>
                  <a:cubicBezTo>
                    <a:pt x="40" y="122"/>
                    <a:pt x="39" y="123"/>
                    <a:pt x="41" y="124"/>
                  </a:cubicBezTo>
                  <a:cubicBezTo>
                    <a:pt x="44" y="126"/>
                    <a:pt x="46" y="129"/>
                    <a:pt x="49" y="132"/>
                  </a:cubicBezTo>
                  <a:cubicBezTo>
                    <a:pt x="50" y="133"/>
                    <a:pt x="50" y="134"/>
                    <a:pt x="49" y="135"/>
                  </a:cubicBezTo>
                  <a:cubicBezTo>
                    <a:pt x="44" y="139"/>
                    <a:pt x="40" y="144"/>
                    <a:pt x="36" y="148"/>
                  </a:cubicBezTo>
                  <a:cubicBezTo>
                    <a:pt x="35" y="149"/>
                    <a:pt x="35" y="149"/>
                    <a:pt x="34" y="148"/>
                  </a:cubicBezTo>
                  <a:cubicBezTo>
                    <a:pt x="30" y="143"/>
                    <a:pt x="25" y="139"/>
                    <a:pt x="21" y="134"/>
                  </a:cubicBezTo>
                  <a:cubicBezTo>
                    <a:pt x="20" y="133"/>
                    <a:pt x="20" y="132"/>
                    <a:pt x="20" y="131"/>
                  </a:cubicBezTo>
                  <a:cubicBezTo>
                    <a:pt x="20" y="112"/>
                    <a:pt x="20" y="94"/>
                    <a:pt x="20" y="75"/>
                  </a:cubicBezTo>
                  <a:cubicBezTo>
                    <a:pt x="20" y="73"/>
                    <a:pt x="19" y="72"/>
                    <a:pt x="18" y="71"/>
                  </a:cubicBezTo>
                  <a:cubicBezTo>
                    <a:pt x="5" y="62"/>
                    <a:pt x="0" y="50"/>
                    <a:pt x="2" y="36"/>
                  </a:cubicBezTo>
                  <a:cubicBezTo>
                    <a:pt x="3" y="22"/>
                    <a:pt x="11" y="11"/>
                    <a:pt x="24" y="6"/>
                  </a:cubicBezTo>
                  <a:cubicBezTo>
                    <a:pt x="40" y="0"/>
                    <a:pt x="58" y="8"/>
                    <a:pt x="65" y="24"/>
                  </a:cubicBezTo>
                  <a:cubicBezTo>
                    <a:pt x="68" y="29"/>
                    <a:pt x="69" y="35"/>
                    <a:pt x="69" y="41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59" name="Freeform 7"/>
            <p:cNvSpPr>
              <a:spLocks/>
            </p:cNvSpPr>
            <p:nvPr/>
          </p:nvSpPr>
          <p:spPr bwMode="auto">
            <a:xfrm>
              <a:off x="1224756" y="1657352"/>
              <a:ext cx="66675" cy="61913"/>
            </a:xfrm>
            <a:custGeom>
              <a:avLst/>
              <a:gdLst>
                <a:gd name="T0" fmla="*/ 26 w 26"/>
                <a:gd name="T1" fmla="*/ 11 h 24"/>
                <a:gd name="T2" fmla="*/ 14 w 26"/>
                <a:gd name="T3" fmla="*/ 23 h 24"/>
                <a:gd name="T4" fmla="*/ 2 w 26"/>
                <a:gd name="T5" fmla="*/ 13 h 24"/>
                <a:gd name="T6" fmla="*/ 14 w 26"/>
                <a:gd name="T7" fmla="*/ 0 h 24"/>
                <a:gd name="T8" fmla="*/ 24 w 26"/>
                <a:gd name="T9" fmla="*/ 6 h 24"/>
                <a:gd name="T10" fmla="*/ 26 w 26"/>
                <a:gd name="T11" fmla="*/ 1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26" y="11"/>
                  </a:moveTo>
                  <a:cubicBezTo>
                    <a:pt x="26" y="17"/>
                    <a:pt x="20" y="23"/>
                    <a:pt x="14" y="23"/>
                  </a:cubicBezTo>
                  <a:cubicBezTo>
                    <a:pt x="9" y="24"/>
                    <a:pt x="3" y="19"/>
                    <a:pt x="2" y="13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18" y="1"/>
                    <a:pt x="22" y="3"/>
                    <a:pt x="24" y="6"/>
                  </a:cubicBezTo>
                  <a:cubicBezTo>
                    <a:pt x="25" y="8"/>
                    <a:pt x="26" y="9"/>
                    <a:pt x="26" y="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</p:grpSp>
      <p:sp>
        <p:nvSpPr>
          <p:cNvPr id="60" name="テキスト ボックス 59"/>
          <p:cNvSpPr txBox="1"/>
          <p:nvPr/>
        </p:nvSpPr>
        <p:spPr>
          <a:xfrm>
            <a:off x="6696040" y="2229887"/>
            <a:ext cx="840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Krbtgt</a:t>
            </a:r>
          </a:p>
          <a:p>
            <a:r>
              <a:rPr lang="ja-JP" altLang="en-US" sz="1400" dirty="0"/>
              <a:t>秘密鍵</a:t>
            </a:r>
          </a:p>
        </p:txBody>
      </p:sp>
      <p:cxnSp>
        <p:nvCxnSpPr>
          <p:cNvPr id="61" name="直線コネクタ 60"/>
          <p:cNvCxnSpPr>
            <a:stCxn id="29" idx="2"/>
          </p:cNvCxnSpPr>
          <p:nvPr/>
        </p:nvCxnSpPr>
        <p:spPr bwMode="auto">
          <a:xfrm>
            <a:off x="1583583" y="2728971"/>
            <a:ext cx="0" cy="3768964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cxnSp>
        <p:nvCxnSpPr>
          <p:cNvPr id="62" name="直線コネクタ 61"/>
          <p:cNvCxnSpPr/>
          <p:nvPr/>
        </p:nvCxnSpPr>
        <p:spPr bwMode="auto">
          <a:xfrm>
            <a:off x="4549979" y="2757293"/>
            <a:ext cx="0" cy="3768964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cxnSp>
        <p:nvCxnSpPr>
          <p:cNvPr id="63" name="直線コネクタ 62"/>
          <p:cNvCxnSpPr/>
          <p:nvPr/>
        </p:nvCxnSpPr>
        <p:spPr bwMode="auto">
          <a:xfrm>
            <a:off x="7584653" y="2757293"/>
            <a:ext cx="0" cy="3768964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cxnSp>
        <p:nvCxnSpPr>
          <p:cNvPr id="64" name="直線コネクタ 63"/>
          <p:cNvCxnSpPr/>
          <p:nvPr/>
        </p:nvCxnSpPr>
        <p:spPr bwMode="auto">
          <a:xfrm>
            <a:off x="10575172" y="2757293"/>
            <a:ext cx="0" cy="3768964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cxnSp>
        <p:nvCxnSpPr>
          <p:cNvPr id="65" name="直線コネクタ 64"/>
          <p:cNvCxnSpPr/>
          <p:nvPr/>
        </p:nvCxnSpPr>
        <p:spPr bwMode="auto">
          <a:xfrm>
            <a:off x="1583583" y="3261360"/>
            <a:ext cx="2966396" cy="0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sp>
        <p:nvSpPr>
          <p:cNvPr id="66" name="1 つの角を切り取った四角形 65"/>
          <p:cNvSpPr/>
          <p:nvPr/>
        </p:nvSpPr>
        <p:spPr bwMode="auto">
          <a:xfrm>
            <a:off x="2075275" y="2995130"/>
            <a:ext cx="1987060" cy="791005"/>
          </a:xfrm>
          <a:prstGeom prst="snip1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  <a:ex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ja-JP" altLang="en-US" sz="1600" dirty="0">
                <a:latin typeface="+mj-ea"/>
                <a:ea typeface="+mj-ea"/>
              </a:rPr>
              <a:t>・アカウント名</a:t>
            </a:r>
            <a:endParaRPr lang="en-US" altLang="ja-JP" sz="1600" dirty="0">
              <a:latin typeface="+mj-ea"/>
              <a:ea typeface="+mj-ea"/>
            </a:endParaRPr>
          </a:p>
          <a:p>
            <a:r>
              <a:rPr lang="ja-JP" altLang="en-US" sz="1600" dirty="0">
                <a:latin typeface="+mj-ea"/>
                <a:ea typeface="+mj-ea"/>
              </a:rPr>
              <a:t>・</a:t>
            </a:r>
            <a:r>
              <a:rPr lang="en-US" altLang="ja-JP" sz="1600" dirty="0">
                <a:latin typeface="+mj-ea"/>
                <a:ea typeface="+mj-ea"/>
              </a:rPr>
              <a:t>Timestamp 1</a:t>
            </a:r>
            <a:endParaRPr lang="ja-JP" altLang="en-US" sz="1600" dirty="0">
              <a:latin typeface="+mj-ea"/>
              <a:ea typeface="+mj-ea"/>
            </a:endParaRPr>
          </a:p>
        </p:txBody>
      </p:sp>
      <p:grpSp>
        <p:nvGrpSpPr>
          <p:cNvPr id="67" name="グループ化 66"/>
          <p:cNvGrpSpPr/>
          <p:nvPr/>
        </p:nvGrpSpPr>
        <p:grpSpPr>
          <a:xfrm>
            <a:off x="3692542" y="2820411"/>
            <a:ext cx="445676" cy="533847"/>
            <a:chOff x="2206943" y="3301676"/>
            <a:chExt cx="404938" cy="496211"/>
          </a:xfrm>
        </p:grpSpPr>
        <p:sp>
          <p:nvSpPr>
            <p:cNvPr id="68" name="Freeform 260"/>
            <p:cNvSpPr>
              <a:spLocks/>
            </p:cNvSpPr>
            <p:nvPr/>
          </p:nvSpPr>
          <p:spPr bwMode="auto">
            <a:xfrm>
              <a:off x="2206943" y="3301676"/>
              <a:ext cx="404938" cy="496211"/>
            </a:xfrm>
            <a:custGeom>
              <a:avLst/>
              <a:gdLst>
                <a:gd name="T0" fmla="*/ 25 w 190"/>
                <a:gd name="T1" fmla="*/ 98 h 246"/>
                <a:gd name="T2" fmla="*/ 14 w 190"/>
                <a:gd name="T3" fmla="*/ 98 h 246"/>
                <a:gd name="T4" fmla="*/ 0 w 190"/>
                <a:gd name="T5" fmla="*/ 112 h 246"/>
                <a:gd name="T6" fmla="*/ 0 w 190"/>
                <a:gd name="T7" fmla="*/ 232 h 246"/>
                <a:gd name="T8" fmla="*/ 14 w 190"/>
                <a:gd name="T9" fmla="*/ 246 h 246"/>
                <a:gd name="T10" fmla="*/ 175 w 190"/>
                <a:gd name="T11" fmla="*/ 246 h 246"/>
                <a:gd name="T12" fmla="*/ 190 w 190"/>
                <a:gd name="T13" fmla="*/ 231 h 246"/>
                <a:gd name="T14" fmla="*/ 190 w 190"/>
                <a:gd name="T15" fmla="*/ 113 h 246"/>
                <a:gd name="T16" fmla="*/ 174 w 190"/>
                <a:gd name="T17" fmla="*/ 98 h 246"/>
                <a:gd name="T18" fmla="*/ 165 w 190"/>
                <a:gd name="T19" fmla="*/ 98 h 246"/>
                <a:gd name="T20" fmla="*/ 165 w 190"/>
                <a:gd name="T21" fmla="*/ 74 h 246"/>
                <a:gd name="T22" fmla="*/ 157 w 190"/>
                <a:gd name="T23" fmla="*/ 38 h 246"/>
                <a:gd name="T24" fmla="*/ 116 w 190"/>
                <a:gd name="T25" fmla="*/ 4 h 246"/>
                <a:gd name="T26" fmla="*/ 73 w 190"/>
                <a:gd name="T27" fmla="*/ 4 h 246"/>
                <a:gd name="T28" fmla="*/ 43 w 190"/>
                <a:gd name="T29" fmla="*/ 21 h 246"/>
                <a:gd name="T30" fmla="*/ 25 w 190"/>
                <a:gd name="T31" fmla="*/ 69 h 246"/>
                <a:gd name="T32" fmla="*/ 25 w 190"/>
                <a:gd name="T33" fmla="*/ 95 h 246"/>
                <a:gd name="T34" fmla="*/ 25 w 190"/>
                <a:gd name="T35" fmla="*/ 98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0" h="246">
                  <a:moveTo>
                    <a:pt x="25" y="98"/>
                  </a:moveTo>
                  <a:cubicBezTo>
                    <a:pt x="21" y="98"/>
                    <a:pt x="18" y="98"/>
                    <a:pt x="14" y="98"/>
                  </a:cubicBezTo>
                  <a:cubicBezTo>
                    <a:pt x="7" y="97"/>
                    <a:pt x="0" y="105"/>
                    <a:pt x="0" y="112"/>
                  </a:cubicBezTo>
                  <a:cubicBezTo>
                    <a:pt x="0" y="152"/>
                    <a:pt x="0" y="192"/>
                    <a:pt x="0" y="232"/>
                  </a:cubicBezTo>
                  <a:cubicBezTo>
                    <a:pt x="0" y="239"/>
                    <a:pt x="8" y="246"/>
                    <a:pt x="14" y="246"/>
                  </a:cubicBezTo>
                  <a:cubicBezTo>
                    <a:pt x="68" y="246"/>
                    <a:pt x="121" y="246"/>
                    <a:pt x="175" y="246"/>
                  </a:cubicBezTo>
                  <a:cubicBezTo>
                    <a:pt x="183" y="246"/>
                    <a:pt x="190" y="240"/>
                    <a:pt x="190" y="231"/>
                  </a:cubicBezTo>
                  <a:cubicBezTo>
                    <a:pt x="190" y="192"/>
                    <a:pt x="189" y="153"/>
                    <a:pt x="190" y="113"/>
                  </a:cubicBezTo>
                  <a:cubicBezTo>
                    <a:pt x="190" y="105"/>
                    <a:pt x="182" y="97"/>
                    <a:pt x="174" y="98"/>
                  </a:cubicBezTo>
                  <a:cubicBezTo>
                    <a:pt x="171" y="98"/>
                    <a:pt x="168" y="98"/>
                    <a:pt x="165" y="98"/>
                  </a:cubicBezTo>
                  <a:cubicBezTo>
                    <a:pt x="165" y="90"/>
                    <a:pt x="165" y="82"/>
                    <a:pt x="165" y="74"/>
                  </a:cubicBezTo>
                  <a:cubicBezTo>
                    <a:pt x="164" y="62"/>
                    <a:pt x="162" y="49"/>
                    <a:pt x="157" y="38"/>
                  </a:cubicBezTo>
                  <a:cubicBezTo>
                    <a:pt x="149" y="20"/>
                    <a:pt x="135" y="9"/>
                    <a:pt x="116" y="4"/>
                  </a:cubicBezTo>
                  <a:cubicBezTo>
                    <a:pt x="101" y="0"/>
                    <a:pt x="87" y="0"/>
                    <a:pt x="73" y="4"/>
                  </a:cubicBezTo>
                  <a:cubicBezTo>
                    <a:pt x="61" y="7"/>
                    <a:pt x="52" y="12"/>
                    <a:pt x="43" y="21"/>
                  </a:cubicBezTo>
                  <a:cubicBezTo>
                    <a:pt x="31" y="35"/>
                    <a:pt x="26" y="51"/>
                    <a:pt x="25" y="69"/>
                  </a:cubicBezTo>
                  <a:cubicBezTo>
                    <a:pt x="25" y="78"/>
                    <a:pt x="25" y="86"/>
                    <a:pt x="25" y="95"/>
                  </a:cubicBezTo>
                  <a:cubicBezTo>
                    <a:pt x="25" y="96"/>
                    <a:pt x="25" y="97"/>
                    <a:pt x="25" y="98"/>
                  </a:cubicBezTo>
                  <a:close/>
                </a:path>
              </a:pathLst>
            </a:custGeom>
            <a:solidFill>
              <a:schemeClr val="accent6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69" name="Freeform 261"/>
            <p:cNvSpPr>
              <a:spLocks/>
            </p:cNvSpPr>
            <p:nvPr/>
          </p:nvSpPr>
          <p:spPr bwMode="auto">
            <a:xfrm>
              <a:off x="2206943" y="3301676"/>
              <a:ext cx="404938" cy="496211"/>
            </a:xfrm>
            <a:custGeom>
              <a:avLst/>
              <a:gdLst>
                <a:gd name="T0" fmla="*/ 25 w 190"/>
                <a:gd name="T1" fmla="*/ 98 h 246"/>
                <a:gd name="T2" fmla="*/ 25 w 190"/>
                <a:gd name="T3" fmla="*/ 95 h 246"/>
                <a:gd name="T4" fmla="*/ 25 w 190"/>
                <a:gd name="T5" fmla="*/ 69 h 246"/>
                <a:gd name="T6" fmla="*/ 43 w 190"/>
                <a:gd name="T7" fmla="*/ 21 h 246"/>
                <a:gd name="T8" fmla="*/ 73 w 190"/>
                <a:gd name="T9" fmla="*/ 4 h 246"/>
                <a:gd name="T10" fmla="*/ 116 w 190"/>
                <a:gd name="T11" fmla="*/ 4 h 246"/>
                <a:gd name="T12" fmla="*/ 157 w 190"/>
                <a:gd name="T13" fmla="*/ 38 h 246"/>
                <a:gd name="T14" fmla="*/ 165 w 190"/>
                <a:gd name="T15" fmla="*/ 74 h 246"/>
                <a:gd name="T16" fmla="*/ 165 w 190"/>
                <a:gd name="T17" fmla="*/ 98 h 246"/>
                <a:gd name="T18" fmla="*/ 174 w 190"/>
                <a:gd name="T19" fmla="*/ 98 h 246"/>
                <a:gd name="T20" fmla="*/ 190 w 190"/>
                <a:gd name="T21" fmla="*/ 113 h 246"/>
                <a:gd name="T22" fmla="*/ 190 w 190"/>
                <a:gd name="T23" fmla="*/ 231 h 246"/>
                <a:gd name="T24" fmla="*/ 175 w 190"/>
                <a:gd name="T25" fmla="*/ 246 h 246"/>
                <a:gd name="T26" fmla="*/ 14 w 190"/>
                <a:gd name="T27" fmla="*/ 246 h 246"/>
                <a:gd name="T28" fmla="*/ 0 w 190"/>
                <a:gd name="T29" fmla="*/ 232 h 246"/>
                <a:gd name="T30" fmla="*/ 0 w 190"/>
                <a:gd name="T31" fmla="*/ 112 h 246"/>
                <a:gd name="T32" fmla="*/ 14 w 190"/>
                <a:gd name="T33" fmla="*/ 98 h 246"/>
                <a:gd name="T34" fmla="*/ 25 w 190"/>
                <a:gd name="T35" fmla="*/ 98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0" h="246">
                  <a:moveTo>
                    <a:pt x="25" y="98"/>
                  </a:moveTo>
                  <a:cubicBezTo>
                    <a:pt x="25" y="97"/>
                    <a:pt x="25" y="96"/>
                    <a:pt x="25" y="95"/>
                  </a:cubicBezTo>
                  <a:cubicBezTo>
                    <a:pt x="25" y="86"/>
                    <a:pt x="25" y="78"/>
                    <a:pt x="25" y="69"/>
                  </a:cubicBezTo>
                  <a:cubicBezTo>
                    <a:pt x="26" y="51"/>
                    <a:pt x="31" y="35"/>
                    <a:pt x="43" y="21"/>
                  </a:cubicBezTo>
                  <a:cubicBezTo>
                    <a:pt x="52" y="12"/>
                    <a:pt x="61" y="7"/>
                    <a:pt x="73" y="4"/>
                  </a:cubicBezTo>
                  <a:cubicBezTo>
                    <a:pt x="87" y="0"/>
                    <a:pt x="101" y="0"/>
                    <a:pt x="116" y="4"/>
                  </a:cubicBezTo>
                  <a:cubicBezTo>
                    <a:pt x="135" y="9"/>
                    <a:pt x="149" y="20"/>
                    <a:pt x="157" y="38"/>
                  </a:cubicBezTo>
                  <a:cubicBezTo>
                    <a:pt x="162" y="49"/>
                    <a:pt x="164" y="62"/>
                    <a:pt x="165" y="74"/>
                  </a:cubicBezTo>
                  <a:cubicBezTo>
                    <a:pt x="165" y="82"/>
                    <a:pt x="165" y="90"/>
                    <a:pt x="165" y="98"/>
                  </a:cubicBezTo>
                  <a:cubicBezTo>
                    <a:pt x="168" y="98"/>
                    <a:pt x="171" y="98"/>
                    <a:pt x="174" y="98"/>
                  </a:cubicBezTo>
                  <a:cubicBezTo>
                    <a:pt x="182" y="97"/>
                    <a:pt x="190" y="105"/>
                    <a:pt x="190" y="113"/>
                  </a:cubicBezTo>
                  <a:cubicBezTo>
                    <a:pt x="189" y="153"/>
                    <a:pt x="190" y="192"/>
                    <a:pt x="190" y="231"/>
                  </a:cubicBezTo>
                  <a:cubicBezTo>
                    <a:pt x="190" y="240"/>
                    <a:pt x="183" y="246"/>
                    <a:pt x="175" y="246"/>
                  </a:cubicBezTo>
                  <a:cubicBezTo>
                    <a:pt x="121" y="246"/>
                    <a:pt x="68" y="246"/>
                    <a:pt x="14" y="246"/>
                  </a:cubicBezTo>
                  <a:cubicBezTo>
                    <a:pt x="8" y="246"/>
                    <a:pt x="0" y="239"/>
                    <a:pt x="0" y="232"/>
                  </a:cubicBezTo>
                  <a:cubicBezTo>
                    <a:pt x="0" y="192"/>
                    <a:pt x="0" y="152"/>
                    <a:pt x="0" y="112"/>
                  </a:cubicBezTo>
                  <a:cubicBezTo>
                    <a:pt x="0" y="105"/>
                    <a:pt x="7" y="97"/>
                    <a:pt x="14" y="98"/>
                  </a:cubicBezTo>
                  <a:cubicBezTo>
                    <a:pt x="18" y="98"/>
                    <a:pt x="21" y="98"/>
                    <a:pt x="25" y="98"/>
                  </a:cubicBezTo>
                  <a:close/>
                </a:path>
              </a:pathLst>
            </a:custGeom>
            <a:solidFill>
              <a:schemeClr val="accent6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70" name="Freeform 262"/>
            <p:cNvSpPr>
              <a:spLocks/>
            </p:cNvSpPr>
            <p:nvPr/>
          </p:nvSpPr>
          <p:spPr bwMode="auto">
            <a:xfrm>
              <a:off x="2306539" y="3348698"/>
              <a:ext cx="203124" cy="150967"/>
            </a:xfrm>
            <a:custGeom>
              <a:avLst/>
              <a:gdLst>
                <a:gd name="T0" fmla="*/ 95 w 95"/>
                <a:gd name="T1" fmla="*/ 75 h 75"/>
                <a:gd name="T2" fmla="*/ 95 w 95"/>
                <a:gd name="T3" fmla="*/ 49 h 75"/>
                <a:gd name="T4" fmla="*/ 91 w 95"/>
                <a:gd name="T5" fmla="*/ 27 h 75"/>
                <a:gd name="T6" fmla="*/ 66 w 95"/>
                <a:gd name="T7" fmla="*/ 3 h 75"/>
                <a:gd name="T8" fmla="*/ 41 w 95"/>
                <a:gd name="T9" fmla="*/ 0 h 75"/>
                <a:gd name="T10" fmla="*/ 21 w 95"/>
                <a:gd name="T11" fmla="*/ 7 h 75"/>
                <a:gd name="T12" fmla="*/ 3 w 95"/>
                <a:gd name="T13" fmla="*/ 36 h 75"/>
                <a:gd name="T14" fmla="*/ 1 w 95"/>
                <a:gd name="T15" fmla="*/ 74 h 75"/>
                <a:gd name="T16" fmla="*/ 1 w 95"/>
                <a:gd name="T17" fmla="*/ 75 h 75"/>
                <a:gd name="T18" fmla="*/ 95 w 95"/>
                <a:gd name="T19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5" h="75">
                  <a:moveTo>
                    <a:pt x="95" y="75"/>
                  </a:moveTo>
                  <a:cubicBezTo>
                    <a:pt x="95" y="66"/>
                    <a:pt x="95" y="58"/>
                    <a:pt x="95" y="49"/>
                  </a:cubicBezTo>
                  <a:cubicBezTo>
                    <a:pt x="95" y="42"/>
                    <a:pt x="93" y="34"/>
                    <a:pt x="91" y="27"/>
                  </a:cubicBezTo>
                  <a:cubicBezTo>
                    <a:pt x="86" y="15"/>
                    <a:pt x="78" y="7"/>
                    <a:pt x="66" y="3"/>
                  </a:cubicBezTo>
                  <a:cubicBezTo>
                    <a:pt x="58" y="0"/>
                    <a:pt x="50" y="0"/>
                    <a:pt x="41" y="0"/>
                  </a:cubicBezTo>
                  <a:cubicBezTo>
                    <a:pt x="34" y="1"/>
                    <a:pt x="27" y="3"/>
                    <a:pt x="21" y="7"/>
                  </a:cubicBezTo>
                  <a:cubicBezTo>
                    <a:pt x="11" y="14"/>
                    <a:pt x="5" y="24"/>
                    <a:pt x="3" y="36"/>
                  </a:cubicBezTo>
                  <a:cubicBezTo>
                    <a:pt x="0" y="48"/>
                    <a:pt x="1" y="61"/>
                    <a:pt x="1" y="74"/>
                  </a:cubicBezTo>
                  <a:cubicBezTo>
                    <a:pt x="1" y="74"/>
                    <a:pt x="1" y="75"/>
                    <a:pt x="1" y="75"/>
                  </a:cubicBezTo>
                  <a:cubicBezTo>
                    <a:pt x="32" y="75"/>
                    <a:pt x="63" y="75"/>
                    <a:pt x="95" y="75"/>
                  </a:cubicBezTo>
                  <a:close/>
                </a:path>
              </a:pathLst>
            </a:custGeom>
            <a:solidFill>
              <a:schemeClr val="accent6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71" name="Freeform 263"/>
            <p:cNvSpPr>
              <a:spLocks/>
            </p:cNvSpPr>
            <p:nvPr/>
          </p:nvSpPr>
          <p:spPr bwMode="auto">
            <a:xfrm>
              <a:off x="2360268" y="3560300"/>
              <a:ext cx="95665" cy="189328"/>
            </a:xfrm>
            <a:custGeom>
              <a:avLst/>
              <a:gdLst>
                <a:gd name="T0" fmla="*/ 32 w 45"/>
                <a:gd name="T1" fmla="*/ 94 h 94"/>
                <a:gd name="T2" fmla="*/ 32 w 45"/>
                <a:gd name="T3" fmla="*/ 91 h 94"/>
                <a:gd name="T4" fmla="*/ 32 w 45"/>
                <a:gd name="T5" fmla="*/ 45 h 94"/>
                <a:gd name="T6" fmla="*/ 34 w 45"/>
                <a:gd name="T7" fmla="*/ 42 h 94"/>
                <a:gd name="T8" fmla="*/ 45 w 45"/>
                <a:gd name="T9" fmla="*/ 22 h 94"/>
                <a:gd name="T10" fmla="*/ 19 w 45"/>
                <a:gd name="T11" fmla="*/ 2 h 94"/>
                <a:gd name="T12" fmla="*/ 2 w 45"/>
                <a:gd name="T13" fmla="*/ 20 h 94"/>
                <a:gd name="T14" fmla="*/ 12 w 45"/>
                <a:gd name="T15" fmla="*/ 41 h 94"/>
                <a:gd name="T16" fmla="*/ 14 w 45"/>
                <a:gd name="T17" fmla="*/ 46 h 94"/>
                <a:gd name="T18" fmla="*/ 14 w 45"/>
                <a:gd name="T19" fmla="*/ 91 h 94"/>
                <a:gd name="T20" fmla="*/ 14 w 45"/>
                <a:gd name="T21" fmla="*/ 94 h 94"/>
                <a:gd name="T22" fmla="*/ 32 w 45"/>
                <a:gd name="T23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5" h="94">
                  <a:moveTo>
                    <a:pt x="32" y="94"/>
                  </a:moveTo>
                  <a:cubicBezTo>
                    <a:pt x="32" y="93"/>
                    <a:pt x="32" y="92"/>
                    <a:pt x="32" y="91"/>
                  </a:cubicBezTo>
                  <a:cubicBezTo>
                    <a:pt x="32" y="76"/>
                    <a:pt x="32" y="60"/>
                    <a:pt x="32" y="45"/>
                  </a:cubicBezTo>
                  <a:cubicBezTo>
                    <a:pt x="32" y="44"/>
                    <a:pt x="33" y="43"/>
                    <a:pt x="34" y="42"/>
                  </a:cubicBezTo>
                  <a:cubicBezTo>
                    <a:pt x="41" y="37"/>
                    <a:pt x="45" y="30"/>
                    <a:pt x="45" y="22"/>
                  </a:cubicBezTo>
                  <a:cubicBezTo>
                    <a:pt x="44" y="9"/>
                    <a:pt x="32" y="0"/>
                    <a:pt x="19" y="2"/>
                  </a:cubicBezTo>
                  <a:cubicBezTo>
                    <a:pt x="10" y="4"/>
                    <a:pt x="3" y="11"/>
                    <a:pt x="2" y="20"/>
                  </a:cubicBezTo>
                  <a:cubicBezTo>
                    <a:pt x="0" y="28"/>
                    <a:pt x="4" y="37"/>
                    <a:pt x="12" y="41"/>
                  </a:cubicBezTo>
                  <a:cubicBezTo>
                    <a:pt x="13" y="43"/>
                    <a:pt x="14" y="44"/>
                    <a:pt x="14" y="46"/>
                  </a:cubicBezTo>
                  <a:cubicBezTo>
                    <a:pt x="14" y="61"/>
                    <a:pt x="14" y="76"/>
                    <a:pt x="14" y="91"/>
                  </a:cubicBezTo>
                  <a:cubicBezTo>
                    <a:pt x="14" y="92"/>
                    <a:pt x="14" y="93"/>
                    <a:pt x="14" y="94"/>
                  </a:cubicBezTo>
                  <a:cubicBezTo>
                    <a:pt x="20" y="94"/>
                    <a:pt x="26" y="94"/>
                    <a:pt x="32" y="9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72" name="Freeform 264"/>
            <p:cNvSpPr>
              <a:spLocks/>
            </p:cNvSpPr>
            <p:nvPr/>
          </p:nvSpPr>
          <p:spPr bwMode="auto">
            <a:xfrm>
              <a:off x="2306539" y="3348698"/>
              <a:ext cx="203124" cy="150967"/>
            </a:xfrm>
            <a:custGeom>
              <a:avLst/>
              <a:gdLst>
                <a:gd name="T0" fmla="*/ 95 w 95"/>
                <a:gd name="T1" fmla="*/ 75 h 75"/>
                <a:gd name="T2" fmla="*/ 1 w 95"/>
                <a:gd name="T3" fmla="*/ 75 h 75"/>
                <a:gd name="T4" fmla="*/ 1 w 95"/>
                <a:gd name="T5" fmla="*/ 74 h 75"/>
                <a:gd name="T6" fmla="*/ 3 w 95"/>
                <a:gd name="T7" fmla="*/ 36 h 75"/>
                <a:gd name="T8" fmla="*/ 21 w 95"/>
                <a:gd name="T9" fmla="*/ 7 h 75"/>
                <a:gd name="T10" fmla="*/ 41 w 95"/>
                <a:gd name="T11" fmla="*/ 0 h 75"/>
                <a:gd name="T12" fmla="*/ 66 w 95"/>
                <a:gd name="T13" fmla="*/ 3 h 75"/>
                <a:gd name="T14" fmla="*/ 91 w 95"/>
                <a:gd name="T15" fmla="*/ 27 h 75"/>
                <a:gd name="T16" fmla="*/ 95 w 95"/>
                <a:gd name="T17" fmla="*/ 49 h 75"/>
                <a:gd name="T18" fmla="*/ 95 w 95"/>
                <a:gd name="T19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5" h="75">
                  <a:moveTo>
                    <a:pt x="95" y="75"/>
                  </a:moveTo>
                  <a:cubicBezTo>
                    <a:pt x="63" y="75"/>
                    <a:pt x="32" y="75"/>
                    <a:pt x="1" y="75"/>
                  </a:cubicBezTo>
                  <a:cubicBezTo>
                    <a:pt x="1" y="75"/>
                    <a:pt x="1" y="74"/>
                    <a:pt x="1" y="74"/>
                  </a:cubicBezTo>
                  <a:cubicBezTo>
                    <a:pt x="1" y="61"/>
                    <a:pt x="0" y="48"/>
                    <a:pt x="3" y="36"/>
                  </a:cubicBezTo>
                  <a:cubicBezTo>
                    <a:pt x="5" y="24"/>
                    <a:pt x="11" y="14"/>
                    <a:pt x="21" y="7"/>
                  </a:cubicBezTo>
                  <a:cubicBezTo>
                    <a:pt x="27" y="3"/>
                    <a:pt x="34" y="1"/>
                    <a:pt x="41" y="0"/>
                  </a:cubicBezTo>
                  <a:cubicBezTo>
                    <a:pt x="50" y="0"/>
                    <a:pt x="58" y="0"/>
                    <a:pt x="66" y="3"/>
                  </a:cubicBezTo>
                  <a:cubicBezTo>
                    <a:pt x="78" y="7"/>
                    <a:pt x="86" y="15"/>
                    <a:pt x="91" y="27"/>
                  </a:cubicBezTo>
                  <a:cubicBezTo>
                    <a:pt x="93" y="34"/>
                    <a:pt x="95" y="42"/>
                    <a:pt x="95" y="49"/>
                  </a:cubicBezTo>
                  <a:cubicBezTo>
                    <a:pt x="95" y="58"/>
                    <a:pt x="95" y="66"/>
                    <a:pt x="95" y="7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73" name="Freeform 265"/>
            <p:cNvSpPr>
              <a:spLocks/>
            </p:cNvSpPr>
            <p:nvPr/>
          </p:nvSpPr>
          <p:spPr bwMode="auto">
            <a:xfrm>
              <a:off x="2360268" y="3560300"/>
              <a:ext cx="95665" cy="189328"/>
            </a:xfrm>
            <a:custGeom>
              <a:avLst/>
              <a:gdLst>
                <a:gd name="T0" fmla="*/ 32 w 45"/>
                <a:gd name="T1" fmla="*/ 94 h 94"/>
                <a:gd name="T2" fmla="*/ 14 w 45"/>
                <a:gd name="T3" fmla="*/ 94 h 94"/>
                <a:gd name="T4" fmla="*/ 14 w 45"/>
                <a:gd name="T5" fmla="*/ 91 h 94"/>
                <a:gd name="T6" fmla="*/ 14 w 45"/>
                <a:gd name="T7" fmla="*/ 46 h 94"/>
                <a:gd name="T8" fmla="*/ 12 w 45"/>
                <a:gd name="T9" fmla="*/ 41 h 94"/>
                <a:gd name="T10" fmla="*/ 2 w 45"/>
                <a:gd name="T11" fmla="*/ 20 h 94"/>
                <a:gd name="T12" fmla="*/ 19 w 45"/>
                <a:gd name="T13" fmla="*/ 2 h 94"/>
                <a:gd name="T14" fmla="*/ 45 w 45"/>
                <a:gd name="T15" fmla="*/ 22 h 94"/>
                <a:gd name="T16" fmla="*/ 34 w 45"/>
                <a:gd name="T17" fmla="*/ 42 h 94"/>
                <a:gd name="T18" fmla="*/ 32 w 45"/>
                <a:gd name="T19" fmla="*/ 45 h 94"/>
                <a:gd name="T20" fmla="*/ 32 w 45"/>
                <a:gd name="T21" fmla="*/ 91 h 94"/>
                <a:gd name="T22" fmla="*/ 32 w 45"/>
                <a:gd name="T23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5" h="94">
                  <a:moveTo>
                    <a:pt x="32" y="94"/>
                  </a:moveTo>
                  <a:cubicBezTo>
                    <a:pt x="26" y="94"/>
                    <a:pt x="20" y="94"/>
                    <a:pt x="14" y="94"/>
                  </a:cubicBezTo>
                  <a:cubicBezTo>
                    <a:pt x="14" y="93"/>
                    <a:pt x="14" y="92"/>
                    <a:pt x="14" y="91"/>
                  </a:cubicBezTo>
                  <a:cubicBezTo>
                    <a:pt x="14" y="76"/>
                    <a:pt x="14" y="61"/>
                    <a:pt x="14" y="46"/>
                  </a:cubicBezTo>
                  <a:cubicBezTo>
                    <a:pt x="14" y="44"/>
                    <a:pt x="13" y="43"/>
                    <a:pt x="12" y="41"/>
                  </a:cubicBezTo>
                  <a:cubicBezTo>
                    <a:pt x="4" y="37"/>
                    <a:pt x="0" y="28"/>
                    <a:pt x="2" y="20"/>
                  </a:cubicBezTo>
                  <a:cubicBezTo>
                    <a:pt x="3" y="11"/>
                    <a:pt x="10" y="4"/>
                    <a:pt x="19" y="2"/>
                  </a:cubicBezTo>
                  <a:cubicBezTo>
                    <a:pt x="32" y="0"/>
                    <a:pt x="44" y="9"/>
                    <a:pt x="45" y="22"/>
                  </a:cubicBezTo>
                  <a:cubicBezTo>
                    <a:pt x="45" y="30"/>
                    <a:pt x="41" y="37"/>
                    <a:pt x="34" y="42"/>
                  </a:cubicBezTo>
                  <a:cubicBezTo>
                    <a:pt x="33" y="43"/>
                    <a:pt x="32" y="44"/>
                    <a:pt x="32" y="45"/>
                  </a:cubicBezTo>
                  <a:cubicBezTo>
                    <a:pt x="32" y="60"/>
                    <a:pt x="32" y="76"/>
                    <a:pt x="32" y="91"/>
                  </a:cubicBezTo>
                  <a:cubicBezTo>
                    <a:pt x="32" y="92"/>
                    <a:pt x="32" y="93"/>
                    <a:pt x="32" y="9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</p:grpSp>
      <p:cxnSp>
        <p:nvCxnSpPr>
          <p:cNvPr id="74" name="直線コネクタ 73"/>
          <p:cNvCxnSpPr/>
          <p:nvPr/>
        </p:nvCxnSpPr>
        <p:spPr bwMode="auto">
          <a:xfrm>
            <a:off x="4549979" y="3647440"/>
            <a:ext cx="702876" cy="0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cxnSp>
        <p:nvCxnSpPr>
          <p:cNvPr id="75" name="直線コネクタ 74"/>
          <p:cNvCxnSpPr/>
          <p:nvPr/>
        </p:nvCxnSpPr>
        <p:spPr bwMode="auto">
          <a:xfrm>
            <a:off x="5252855" y="3637280"/>
            <a:ext cx="0" cy="386080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cxnSp>
        <p:nvCxnSpPr>
          <p:cNvPr id="76" name="直線コネクタ 75"/>
          <p:cNvCxnSpPr/>
          <p:nvPr/>
        </p:nvCxnSpPr>
        <p:spPr bwMode="auto">
          <a:xfrm flipH="1">
            <a:off x="4533936" y="4023360"/>
            <a:ext cx="718920" cy="0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sp>
        <p:nvSpPr>
          <p:cNvPr id="77" name="正方形/長方形 76"/>
          <p:cNvSpPr/>
          <p:nvPr/>
        </p:nvSpPr>
        <p:spPr>
          <a:xfrm>
            <a:off x="5605106" y="3694019"/>
            <a:ext cx="1670650" cy="3181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467" dirty="0"/>
              <a:t>TGT Session Key</a:t>
            </a:r>
            <a:endParaRPr lang="ja-JP" altLang="en-US" sz="1467" dirty="0"/>
          </a:p>
        </p:txBody>
      </p:sp>
      <p:cxnSp>
        <p:nvCxnSpPr>
          <p:cNvPr id="78" name="直線コネクタ 77"/>
          <p:cNvCxnSpPr/>
          <p:nvPr/>
        </p:nvCxnSpPr>
        <p:spPr bwMode="auto">
          <a:xfrm flipH="1" flipV="1">
            <a:off x="1583584" y="4704893"/>
            <a:ext cx="2950353" cy="1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sp>
        <p:nvSpPr>
          <p:cNvPr id="79" name="1 つの角を切り取った四角形 78"/>
          <p:cNvSpPr/>
          <p:nvPr/>
        </p:nvSpPr>
        <p:spPr bwMode="auto">
          <a:xfrm>
            <a:off x="2065229" y="4198763"/>
            <a:ext cx="1987060" cy="888797"/>
          </a:xfrm>
          <a:prstGeom prst="snip1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  <a:ex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ja-JP" altLang="en-US" sz="1600" dirty="0">
                <a:latin typeface="+mj-ea"/>
                <a:ea typeface="+mj-ea"/>
              </a:rPr>
              <a:t>・アカウント名</a:t>
            </a:r>
            <a:endParaRPr lang="en-US" altLang="ja-JP" sz="1600" dirty="0">
              <a:latin typeface="+mj-ea"/>
              <a:ea typeface="+mj-ea"/>
            </a:endParaRPr>
          </a:p>
          <a:p>
            <a:r>
              <a:rPr lang="ja-JP" altLang="en-US" sz="1600" dirty="0">
                <a:latin typeface="+mj-ea"/>
                <a:ea typeface="+mj-ea"/>
              </a:rPr>
              <a:t>・</a:t>
            </a:r>
            <a:r>
              <a:rPr lang="en-US" altLang="ja-JP" sz="1600" dirty="0">
                <a:latin typeface="+mj-ea"/>
              </a:rPr>
              <a:t>Timestamp 2</a:t>
            </a:r>
            <a:endParaRPr lang="ja-JP" altLang="en-US" sz="1600" dirty="0">
              <a:latin typeface="+mj-ea"/>
            </a:endParaRPr>
          </a:p>
          <a:p>
            <a:r>
              <a:rPr lang="ja-JP" altLang="en-US" sz="1600" dirty="0">
                <a:latin typeface="+mj-ea"/>
                <a:ea typeface="+mj-ea"/>
              </a:rPr>
              <a:t>・</a:t>
            </a:r>
            <a:r>
              <a:rPr lang="en-US" altLang="ja-JP" sz="1400" dirty="0">
                <a:latin typeface="+mj-ea"/>
                <a:ea typeface="+mj-ea"/>
              </a:rPr>
              <a:t>TGT Session Key</a:t>
            </a:r>
            <a:endParaRPr lang="ja-JP" altLang="en-US" sz="1600" dirty="0">
              <a:latin typeface="+mj-ea"/>
              <a:ea typeface="+mj-ea"/>
            </a:endParaRPr>
          </a:p>
        </p:txBody>
      </p:sp>
      <p:sp>
        <p:nvSpPr>
          <p:cNvPr id="80" name="Freeform 260"/>
          <p:cNvSpPr>
            <a:spLocks/>
          </p:cNvSpPr>
          <p:nvPr/>
        </p:nvSpPr>
        <p:spPr bwMode="auto">
          <a:xfrm>
            <a:off x="3726018" y="3935213"/>
            <a:ext cx="445676" cy="533847"/>
          </a:xfrm>
          <a:custGeom>
            <a:avLst/>
            <a:gdLst>
              <a:gd name="T0" fmla="*/ 25 w 190"/>
              <a:gd name="T1" fmla="*/ 98 h 246"/>
              <a:gd name="T2" fmla="*/ 14 w 190"/>
              <a:gd name="T3" fmla="*/ 98 h 246"/>
              <a:gd name="T4" fmla="*/ 0 w 190"/>
              <a:gd name="T5" fmla="*/ 112 h 246"/>
              <a:gd name="T6" fmla="*/ 0 w 190"/>
              <a:gd name="T7" fmla="*/ 232 h 246"/>
              <a:gd name="T8" fmla="*/ 14 w 190"/>
              <a:gd name="T9" fmla="*/ 246 h 246"/>
              <a:gd name="T10" fmla="*/ 175 w 190"/>
              <a:gd name="T11" fmla="*/ 246 h 246"/>
              <a:gd name="T12" fmla="*/ 190 w 190"/>
              <a:gd name="T13" fmla="*/ 231 h 246"/>
              <a:gd name="T14" fmla="*/ 190 w 190"/>
              <a:gd name="T15" fmla="*/ 113 h 246"/>
              <a:gd name="T16" fmla="*/ 174 w 190"/>
              <a:gd name="T17" fmla="*/ 98 h 246"/>
              <a:gd name="T18" fmla="*/ 165 w 190"/>
              <a:gd name="T19" fmla="*/ 98 h 246"/>
              <a:gd name="T20" fmla="*/ 165 w 190"/>
              <a:gd name="T21" fmla="*/ 74 h 246"/>
              <a:gd name="T22" fmla="*/ 157 w 190"/>
              <a:gd name="T23" fmla="*/ 38 h 246"/>
              <a:gd name="T24" fmla="*/ 116 w 190"/>
              <a:gd name="T25" fmla="*/ 4 h 246"/>
              <a:gd name="T26" fmla="*/ 73 w 190"/>
              <a:gd name="T27" fmla="*/ 4 h 246"/>
              <a:gd name="T28" fmla="*/ 43 w 190"/>
              <a:gd name="T29" fmla="*/ 21 h 246"/>
              <a:gd name="T30" fmla="*/ 25 w 190"/>
              <a:gd name="T31" fmla="*/ 69 h 246"/>
              <a:gd name="T32" fmla="*/ 25 w 190"/>
              <a:gd name="T33" fmla="*/ 95 h 246"/>
              <a:gd name="T34" fmla="*/ 25 w 190"/>
              <a:gd name="T35" fmla="*/ 98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90" h="246">
                <a:moveTo>
                  <a:pt x="25" y="98"/>
                </a:moveTo>
                <a:cubicBezTo>
                  <a:pt x="21" y="98"/>
                  <a:pt x="18" y="98"/>
                  <a:pt x="14" y="98"/>
                </a:cubicBezTo>
                <a:cubicBezTo>
                  <a:pt x="7" y="97"/>
                  <a:pt x="0" y="105"/>
                  <a:pt x="0" y="112"/>
                </a:cubicBezTo>
                <a:cubicBezTo>
                  <a:pt x="0" y="152"/>
                  <a:pt x="0" y="192"/>
                  <a:pt x="0" y="232"/>
                </a:cubicBezTo>
                <a:cubicBezTo>
                  <a:pt x="0" y="239"/>
                  <a:pt x="8" y="246"/>
                  <a:pt x="14" y="246"/>
                </a:cubicBezTo>
                <a:cubicBezTo>
                  <a:pt x="68" y="246"/>
                  <a:pt x="121" y="246"/>
                  <a:pt x="175" y="246"/>
                </a:cubicBezTo>
                <a:cubicBezTo>
                  <a:pt x="183" y="246"/>
                  <a:pt x="190" y="240"/>
                  <a:pt x="190" y="231"/>
                </a:cubicBezTo>
                <a:cubicBezTo>
                  <a:pt x="190" y="192"/>
                  <a:pt x="189" y="153"/>
                  <a:pt x="190" y="113"/>
                </a:cubicBezTo>
                <a:cubicBezTo>
                  <a:pt x="190" y="105"/>
                  <a:pt x="182" y="97"/>
                  <a:pt x="174" y="98"/>
                </a:cubicBezTo>
                <a:cubicBezTo>
                  <a:pt x="171" y="98"/>
                  <a:pt x="168" y="98"/>
                  <a:pt x="165" y="98"/>
                </a:cubicBezTo>
                <a:cubicBezTo>
                  <a:pt x="165" y="90"/>
                  <a:pt x="165" y="82"/>
                  <a:pt x="165" y="74"/>
                </a:cubicBezTo>
                <a:cubicBezTo>
                  <a:pt x="164" y="62"/>
                  <a:pt x="162" y="49"/>
                  <a:pt x="157" y="38"/>
                </a:cubicBezTo>
                <a:cubicBezTo>
                  <a:pt x="149" y="20"/>
                  <a:pt x="135" y="9"/>
                  <a:pt x="116" y="4"/>
                </a:cubicBezTo>
                <a:cubicBezTo>
                  <a:pt x="101" y="0"/>
                  <a:pt x="87" y="0"/>
                  <a:pt x="73" y="4"/>
                </a:cubicBezTo>
                <a:cubicBezTo>
                  <a:pt x="61" y="7"/>
                  <a:pt x="52" y="12"/>
                  <a:pt x="43" y="21"/>
                </a:cubicBezTo>
                <a:cubicBezTo>
                  <a:pt x="31" y="35"/>
                  <a:pt x="26" y="51"/>
                  <a:pt x="25" y="69"/>
                </a:cubicBezTo>
                <a:cubicBezTo>
                  <a:pt x="25" y="78"/>
                  <a:pt x="25" y="86"/>
                  <a:pt x="25" y="95"/>
                </a:cubicBezTo>
                <a:cubicBezTo>
                  <a:pt x="25" y="96"/>
                  <a:pt x="25" y="97"/>
                  <a:pt x="25" y="98"/>
                </a:cubicBezTo>
                <a:close/>
              </a:path>
            </a:pathLst>
          </a:custGeom>
          <a:solidFill>
            <a:schemeClr val="accent6">
              <a:lumMod val="50000"/>
              <a:lumOff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ja-JP" altLang="en-US" sz="2400"/>
          </a:p>
        </p:txBody>
      </p:sp>
      <p:sp>
        <p:nvSpPr>
          <p:cNvPr id="81" name="Freeform 261"/>
          <p:cNvSpPr>
            <a:spLocks/>
          </p:cNvSpPr>
          <p:nvPr/>
        </p:nvSpPr>
        <p:spPr bwMode="auto">
          <a:xfrm>
            <a:off x="3726018" y="3935213"/>
            <a:ext cx="445676" cy="533847"/>
          </a:xfrm>
          <a:custGeom>
            <a:avLst/>
            <a:gdLst>
              <a:gd name="T0" fmla="*/ 25 w 190"/>
              <a:gd name="T1" fmla="*/ 98 h 246"/>
              <a:gd name="T2" fmla="*/ 25 w 190"/>
              <a:gd name="T3" fmla="*/ 95 h 246"/>
              <a:gd name="T4" fmla="*/ 25 w 190"/>
              <a:gd name="T5" fmla="*/ 69 h 246"/>
              <a:gd name="T6" fmla="*/ 43 w 190"/>
              <a:gd name="T7" fmla="*/ 21 h 246"/>
              <a:gd name="T8" fmla="*/ 73 w 190"/>
              <a:gd name="T9" fmla="*/ 4 h 246"/>
              <a:gd name="T10" fmla="*/ 116 w 190"/>
              <a:gd name="T11" fmla="*/ 4 h 246"/>
              <a:gd name="T12" fmla="*/ 157 w 190"/>
              <a:gd name="T13" fmla="*/ 38 h 246"/>
              <a:gd name="T14" fmla="*/ 165 w 190"/>
              <a:gd name="T15" fmla="*/ 74 h 246"/>
              <a:gd name="T16" fmla="*/ 165 w 190"/>
              <a:gd name="T17" fmla="*/ 98 h 246"/>
              <a:gd name="T18" fmla="*/ 174 w 190"/>
              <a:gd name="T19" fmla="*/ 98 h 246"/>
              <a:gd name="T20" fmla="*/ 190 w 190"/>
              <a:gd name="T21" fmla="*/ 113 h 246"/>
              <a:gd name="T22" fmla="*/ 190 w 190"/>
              <a:gd name="T23" fmla="*/ 231 h 246"/>
              <a:gd name="T24" fmla="*/ 175 w 190"/>
              <a:gd name="T25" fmla="*/ 246 h 246"/>
              <a:gd name="T26" fmla="*/ 14 w 190"/>
              <a:gd name="T27" fmla="*/ 246 h 246"/>
              <a:gd name="T28" fmla="*/ 0 w 190"/>
              <a:gd name="T29" fmla="*/ 232 h 246"/>
              <a:gd name="T30" fmla="*/ 0 w 190"/>
              <a:gd name="T31" fmla="*/ 112 h 246"/>
              <a:gd name="T32" fmla="*/ 14 w 190"/>
              <a:gd name="T33" fmla="*/ 98 h 246"/>
              <a:gd name="T34" fmla="*/ 25 w 190"/>
              <a:gd name="T35" fmla="*/ 98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90" h="246">
                <a:moveTo>
                  <a:pt x="25" y="98"/>
                </a:moveTo>
                <a:cubicBezTo>
                  <a:pt x="25" y="97"/>
                  <a:pt x="25" y="96"/>
                  <a:pt x="25" y="95"/>
                </a:cubicBezTo>
                <a:cubicBezTo>
                  <a:pt x="25" y="86"/>
                  <a:pt x="25" y="78"/>
                  <a:pt x="25" y="69"/>
                </a:cubicBezTo>
                <a:cubicBezTo>
                  <a:pt x="26" y="51"/>
                  <a:pt x="31" y="35"/>
                  <a:pt x="43" y="21"/>
                </a:cubicBezTo>
                <a:cubicBezTo>
                  <a:pt x="52" y="12"/>
                  <a:pt x="61" y="7"/>
                  <a:pt x="73" y="4"/>
                </a:cubicBezTo>
                <a:cubicBezTo>
                  <a:pt x="87" y="0"/>
                  <a:pt x="101" y="0"/>
                  <a:pt x="116" y="4"/>
                </a:cubicBezTo>
                <a:cubicBezTo>
                  <a:pt x="135" y="9"/>
                  <a:pt x="149" y="20"/>
                  <a:pt x="157" y="38"/>
                </a:cubicBezTo>
                <a:cubicBezTo>
                  <a:pt x="162" y="49"/>
                  <a:pt x="164" y="62"/>
                  <a:pt x="165" y="74"/>
                </a:cubicBezTo>
                <a:cubicBezTo>
                  <a:pt x="165" y="82"/>
                  <a:pt x="165" y="90"/>
                  <a:pt x="165" y="98"/>
                </a:cubicBezTo>
                <a:cubicBezTo>
                  <a:pt x="168" y="98"/>
                  <a:pt x="171" y="98"/>
                  <a:pt x="174" y="98"/>
                </a:cubicBezTo>
                <a:cubicBezTo>
                  <a:pt x="182" y="97"/>
                  <a:pt x="190" y="105"/>
                  <a:pt x="190" y="113"/>
                </a:cubicBezTo>
                <a:cubicBezTo>
                  <a:pt x="189" y="153"/>
                  <a:pt x="190" y="192"/>
                  <a:pt x="190" y="231"/>
                </a:cubicBezTo>
                <a:cubicBezTo>
                  <a:pt x="190" y="240"/>
                  <a:pt x="183" y="246"/>
                  <a:pt x="175" y="246"/>
                </a:cubicBezTo>
                <a:cubicBezTo>
                  <a:pt x="121" y="246"/>
                  <a:pt x="68" y="246"/>
                  <a:pt x="14" y="246"/>
                </a:cubicBezTo>
                <a:cubicBezTo>
                  <a:pt x="8" y="246"/>
                  <a:pt x="0" y="239"/>
                  <a:pt x="0" y="232"/>
                </a:cubicBezTo>
                <a:cubicBezTo>
                  <a:pt x="0" y="192"/>
                  <a:pt x="0" y="152"/>
                  <a:pt x="0" y="112"/>
                </a:cubicBezTo>
                <a:cubicBezTo>
                  <a:pt x="0" y="105"/>
                  <a:pt x="7" y="97"/>
                  <a:pt x="14" y="98"/>
                </a:cubicBezTo>
                <a:cubicBezTo>
                  <a:pt x="18" y="98"/>
                  <a:pt x="21" y="98"/>
                  <a:pt x="25" y="98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xtLst/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ja-JP" altLang="en-US" sz="2400"/>
          </a:p>
        </p:txBody>
      </p:sp>
      <p:sp>
        <p:nvSpPr>
          <p:cNvPr id="82" name="Freeform 262"/>
          <p:cNvSpPr>
            <a:spLocks/>
          </p:cNvSpPr>
          <p:nvPr/>
        </p:nvSpPr>
        <p:spPr bwMode="auto">
          <a:xfrm>
            <a:off x="3835634" y="3985801"/>
            <a:ext cx="223559" cy="162417"/>
          </a:xfrm>
          <a:custGeom>
            <a:avLst/>
            <a:gdLst>
              <a:gd name="T0" fmla="*/ 95 w 95"/>
              <a:gd name="T1" fmla="*/ 75 h 75"/>
              <a:gd name="T2" fmla="*/ 95 w 95"/>
              <a:gd name="T3" fmla="*/ 49 h 75"/>
              <a:gd name="T4" fmla="*/ 91 w 95"/>
              <a:gd name="T5" fmla="*/ 27 h 75"/>
              <a:gd name="T6" fmla="*/ 66 w 95"/>
              <a:gd name="T7" fmla="*/ 3 h 75"/>
              <a:gd name="T8" fmla="*/ 41 w 95"/>
              <a:gd name="T9" fmla="*/ 0 h 75"/>
              <a:gd name="T10" fmla="*/ 21 w 95"/>
              <a:gd name="T11" fmla="*/ 7 h 75"/>
              <a:gd name="T12" fmla="*/ 3 w 95"/>
              <a:gd name="T13" fmla="*/ 36 h 75"/>
              <a:gd name="T14" fmla="*/ 1 w 95"/>
              <a:gd name="T15" fmla="*/ 74 h 75"/>
              <a:gd name="T16" fmla="*/ 1 w 95"/>
              <a:gd name="T17" fmla="*/ 75 h 75"/>
              <a:gd name="T18" fmla="*/ 95 w 95"/>
              <a:gd name="T19" fmla="*/ 75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5" h="75">
                <a:moveTo>
                  <a:pt x="95" y="75"/>
                </a:moveTo>
                <a:cubicBezTo>
                  <a:pt x="95" y="66"/>
                  <a:pt x="95" y="58"/>
                  <a:pt x="95" y="49"/>
                </a:cubicBezTo>
                <a:cubicBezTo>
                  <a:pt x="95" y="42"/>
                  <a:pt x="93" y="34"/>
                  <a:pt x="91" y="27"/>
                </a:cubicBezTo>
                <a:cubicBezTo>
                  <a:pt x="86" y="15"/>
                  <a:pt x="78" y="7"/>
                  <a:pt x="66" y="3"/>
                </a:cubicBezTo>
                <a:cubicBezTo>
                  <a:pt x="58" y="0"/>
                  <a:pt x="50" y="0"/>
                  <a:pt x="41" y="0"/>
                </a:cubicBezTo>
                <a:cubicBezTo>
                  <a:pt x="34" y="1"/>
                  <a:pt x="27" y="3"/>
                  <a:pt x="21" y="7"/>
                </a:cubicBezTo>
                <a:cubicBezTo>
                  <a:pt x="11" y="14"/>
                  <a:pt x="5" y="24"/>
                  <a:pt x="3" y="36"/>
                </a:cubicBezTo>
                <a:cubicBezTo>
                  <a:pt x="0" y="48"/>
                  <a:pt x="1" y="61"/>
                  <a:pt x="1" y="74"/>
                </a:cubicBezTo>
                <a:cubicBezTo>
                  <a:pt x="1" y="74"/>
                  <a:pt x="1" y="75"/>
                  <a:pt x="1" y="75"/>
                </a:cubicBezTo>
                <a:cubicBezTo>
                  <a:pt x="32" y="75"/>
                  <a:pt x="63" y="75"/>
                  <a:pt x="95" y="75"/>
                </a:cubicBezTo>
                <a:close/>
              </a:path>
            </a:pathLst>
          </a:custGeom>
          <a:solidFill>
            <a:schemeClr val="accent6">
              <a:lumMod val="50000"/>
              <a:lumOff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ja-JP" altLang="en-US" sz="2400"/>
          </a:p>
        </p:txBody>
      </p:sp>
      <p:sp>
        <p:nvSpPr>
          <p:cNvPr id="83" name="Freeform 263"/>
          <p:cNvSpPr>
            <a:spLocks/>
          </p:cNvSpPr>
          <p:nvPr/>
        </p:nvSpPr>
        <p:spPr bwMode="auto">
          <a:xfrm>
            <a:off x="3894768" y="4213452"/>
            <a:ext cx="105289" cy="203688"/>
          </a:xfrm>
          <a:custGeom>
            <a:avLst/>
            <a:gdLst>
              <a:gd name="T0" fmla="*/ 32 w 45"/>
              <a:gd name="T1" fmla="*/ 94 h 94"/>
              <a:gd name="T2" fmla="*/ 32 w 45"/>
              <a:gd name="T3" fmla="*/ 91 h 94"/>
              <a:gd name="T4" fmla="*/ 32 w 45"/>
              <a:gd name="T5" fmla="*/ 45 h 94"/>
              <a:gd name="T6" fmla="*/ 34 w 45"/>
              <a:gd name="T7" fmla="*/ 42 h 94"/>
              <a:gd name="T8" fmla="*/ 45 w 45"/>
              <a:gd name="T9" fmla="*/ 22 h 94"/>
              <a:gd name="T10" fmla="*/ 19 w 45"/>
              <a:gd name="T11" fmla="*/ 2 h 94"/>
              <a:gd name="T12" fmla="*/ 2 w 45"/>
              <a:gd name="T13" fmla="*/ 20 h 94"/>
              <a:gd name="T14" fmla="*/ 12 w 45"/>
              <a:gd name="T15" fmla="*/ 41 h 94"/>
              <a:gd name="T16" fmla="*/ 14 w 45"/>
              <a:gd name="T17" fmla="*/ 46 h 94"/>
              <a:gd name="T18" fmla="*/ 14 w 45"/>
              <a:gd name="T19" fmla="*/ 91 h 94"/>
              <a:gd name="T20" fmla="*/ 14 w 45"/>
              <a:gd name="T21" fmla="*/ 94 h 94"/>
              <a:gd name="T22" fmla="*/ 32 w 45"/>
              <a:gd name="T23" fmla="*/ 94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45" h="94">
                <a:moveTo>
                  <a:pt x="32" y="94"/>
                </a:moveTo>
                <a:cubicBezTo>
                  <a:pt x="32" y="93"/>
                  <a:pt x="32" y="92"/>
                  <a:pt x="32" y="91"/>
                </a:cubicBezTo>
                <a:cubicBezTo>
                  <a:pt x="32" y="76"/>
                  <a:pt x="32" y="60"/>
                  <a:pt x="32" y="45"/>
                </a:cubicBezTo>
                <a:cubicBezTo>
                  <a:pt x="32" y="44"/>
                  <a:pt x="33" y="43"/>
                  <a:pt x="34" y="42"/>
                </a:cubicBezTo>
                <a:cubicBezTo>
                  <a:pt x="41" y="37"/>
                  <a:pt x="45" y="30"/>
                  <a:pt x="45" y="22"/>
                </a:cubicBezTo>
                <a:cubicBezTo>
                  <a:pt x="44" y="9"/>
                  <a:pt x="32" y="0"/>
                  <a:pt x="19" y="2"/>
                </a:cubicBezTo>
                <a:cubicBezTo>
                  <a:pt x="10" y="4"/>
                  <a:pt x="3" y="11"/>
                  <a:pt x="2" y="20"/>
                </a:cubicBezTo>
                <a:cubicBezTo>
                  <a:pt x="0" y="28"/>
                  <a:pt x="4" y="37"/>
                  <a:pt x="12" y="41"/>
                </a:cubicBezTo>
                <a:cubicBezTo>
                  <a:pt x="13" y="43"/>
                  <a:pt x="14" y="44"/>
                  <a:pt x="14" y="46"/>
                </a:cubicBezTo>
                <a:cubicBezTo>
                  <a:pt x="14" y="61"/>
                  <a:pt x="14" y="76"/>
                  <a:pt x="14" y="91"/>
                </a:cubicBezTo>
                <a:cubicBezTo>
                  <a:pt x="14" y="92"/>
                  <a:pt x="14" y="93"/>
                  <a:pt x="14" y="94"/>
                </a:cubicBezTo>
                <a:cubicBezTo>
                  <a:pt x="20" y="94"/>
                  <a:pt x="26" y="94"/>
                  <a:pt x="32" y="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ja-JP" altLang="en-US" sz="2400"/>
          </a:p>
        </p:txBody>
      </p:sp>
      <p:sp>
        <p:nvSpPr>
          <p:cNvPr id="84" name="Freeform 264"/>
          <p:cNvSpPr>
            <a:spLocks/>
          </p:cNvSpPr>
          <p:nvPr/>
        </p:nvSpPr>
        <p:spPr bwMode="auto">
          <a:xfrm>
            <a:off x="3835634" y="3985801"/>
            <a:ext cx="223559" cy="162417"/>
          </a:xfrm>
          <a:custGeom>
            <a:avLst/>
            <a:gdLst>
              <a:gd name="T0" fmla="*/ 95 w 95"/>
              <a:gd name="T1" fmla="*/ 75 h 75"/>
              <a:gd name="T2" fmla="*/ 1 w 95"/>
              <a:gd name="T3" fmla="*/ 75 h 75"/>
              <a:gd name="T4" fmla="*/ 1 w 95"/>
              <a:gd name="T5" fmla="*/ 74 h 75"/>
              <a:gd name="T6" fmla="*/ 3 w 95"/>
              <a:gd name="T7" fmla="*/ 36 h 75"/>
              <a:gd name="T8" fmla="*/ 21 w 95"/>
              <a:gd name="T9" fmla="*/ 7 h 75"/>
              <a:gd name="T10" fmla="*/ 41 w 95"/>
              <a:gd name="T11" fmla="*/ 0 h 75"/>
              <a:gd name="T12" fmla="*/ 66 w 95"/>
              <a:gd name="T13" fmla="*/ 3 h 75"/>
              <a:gd name="T14" fmla="*/ 91 w 95"/>
              <a:gd name="T15" fmla="*/ 27 h 75"/>
              <a:gd name="T16" fmla="*/ 95 w 95"/>
              <a:gd name="T17" fmla="*/ 49 h 75"/>
              <a:gd name="T18" fmla="*/ 95 w 95"/>
              <a:gd name="T19" fmla="*/ 75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5" h="75">
                <a:moveTo>
                  <a:pt x="95" y="75"/>
                </a:moveTo>
                <a:cubicBezTo>
                  <a:pt x="63" y="75"/>
                  <a:pt x="32" y="75"/>
                  <a:pt x="1" y="75"/>
                </a:cubicBezTo>
                <a:cubicBezTo>
                  <a:pt x="1" y="75"/>
                  <a:pt x="1" y="74"/>
                  <a:pt x="1" y="74"/>
                </a:cubicBezTo>
                <a:cubicBezTo>
                  <a:pt x="1" y="61"/>
                  <a:pt x="0" y="48"/>
                  <a:pt x="3" y="36"/>
                </a:cubicBezTo>
                <a:cubicBezTo>
                  <a:pt x="5" y="24"/>
                  <a:pt x="11" y="14"/>
                  <a:pt x="21" y="7"/>
                </a:cubicBezTo>
                <a:cubicBezTo>
                  <a:pt x="27" y="3"/>
                  <a:pt x="34" y="1"/>
                  <a:pt x="41" y="0"/>
                </a:cubicBezTo>
                <a:cubicBezTo>
                  <a:pt x="50" y="0"/>
                  <a:pt x="58" y="0"/>
                  <a:pt x="66" y="3"/>
                </a:cubicBezTo>
                <a:cubicBezTo>
                  <a:pt x="78" y="7"/>
                  <a:pt x="86" y="15"/>
                  <a:pt x="91" y="27"/>
                </a:cubicBezTo>
                <a:cubicBezTo>
                  <a:pt x="93" y="34"/>
                  <a:pt x="95" y="42"/>
                  <a:pt x="95" y="49"/>
                </a:cubicBezTo>
                <a:cubicBezTo>
                  <a:pt x="95" y="58"/>
                  <a:pt x="95" y="66"/>
                  <a:pt x="95" y="7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ja-JP" altLang="en-US" sz="2400"/>
          </a:p>
        </p:txBody>
      </p:sp>
      <p:sp>
        <p:nvSpPr>
          <p:cNvPr id="85" name="Freeform 265"/>
          <p:cNvSpPr>
            <a:spLocks/>
          </p:cNvSpPr>
          <p:nvPr/>
        </p:nvSpPr>
        <p:spPr bwMode="auto">
          <a:xfrm>
            <a:off x="3894768" y="4213452"/>
            <a:ext cx="105289" cy="203688"/>
          </a:xfrm>
          <a:custGeom>
            <a:avLst/>
            <a:gdLst>
              <a:gd name="T0" fmla="*/ 32 w 45"/>
              <a:gd name="T1" fmla="*/ 94 h 94"/>
              <a:gd name="T2" fmla="*/ 14 w 45"/>
              <a:gd name="T3" fmla="*/ 94 h 94"/>
              <a:gd name="T4" fmla="*/ 14 w 45"/>
              <a:gd name="T5" fmla="*/ 91 h 94"/>
              <a:gd name="T6" fmla="*/ 14 w 45"/>
              <a:gd name="T7" fmla="*/ 46 h 94"/>
              <a:gd name="T8" fmla="*/ 12 w 45"/>
              <a:gd name="T9" fmla="*/ 41 h 94"/>
              <a:gd name="T10" fmla="*/ 2 w 45"/>
              <a:gd name="T11" fmla="*/ 20 h 94"/>
              <a:gd name="T12" fmla="*/ 19 w 45"/>
              <a:gd name="T13" fmla="*/ 2 h 94"/>
              <a:gd name="T14" fmla="*/ 45 w 45"/>
              <a:gd name="T15" fmla="*/ 22 h 94"/>
              <a:gd name="T16" fmla="*/ 34 w 45"/>
              <a:gd name="T17" fmla="*/ 42 h 94"/>
              <a:gd name="T18" fmla="*/ 32 w 45"/>
              <a:gd name="T19" fmla="*/ 45 h 94"/>
              <a:gd name="T20" fmla="*/ 32 w 45"/>
              <a:gd name="T21" fmla="*/ 91 h 94"/>
              <a:gd name="T22" fmla="*/ 32 w 45"/>
              <a:gd name="T23" fmla="*/ 94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45" h="94">
                <a:moveTo>
                  <a:pt x="32" y="94"/>
                </a:moveTo>
                <a:cubicBezTo>
                  <a:pt x="26" y="94"/>
                  <a:pt x="20" y="94"/>
                  <a:pt x="14" y="94"/>
                </a:cubicBezTo>
                <a:cubicBezTo>
                  <a:pt x="14" y="93"/>
                  <a:pt x="14" y="92"/>
                  <a:pt x="14" y="91"/>
                </a:cubicBezTo>
                <a:cubicBezTo>
                  <a:pt x="14" y="76"/>
                  <a:pt x="14" y="61"/>
                  <a:pt x="14" y="46"/>
                </a:cubicBezTo>
                <a:cubicBezTo>
                  <a:pt x="14" y="44"/>
                  <a:pt x="13" y="43"/>
                  <a:pt x="12" y="41"/>
                </a:cubicBezTo>
                <a:cubicBezTo>
                  <a:pt x="4" y="37"/>
                  <a:pt x="0" y="28"/>
                  <a:pt x="2" y="20"/>
                </a:cubicBezTo>
                <a:cubicBezTo>
                  <a:pt x="3" y="11"/>
                  <a:pt x="10" y="4"/>
                  <a:pt x="19" y="2"/>
                </a:cubicBezTo>
                <a:cubicBezTo>
                  <a:pt x="32" y="0"/>
                  <a:pt x="44" y="9"/>
                  <a:pt x="45" y="22"/>
                </a:cubicBezTo>
                <a:cubicBezTo>
                  <a:pt x="45" y="30"/>
                  <a:pt x="41" y="37"/>
                  <a:pt x="34" y="42"/>
                </a:cubicBezTo>
                <a:cubicBezTo>
                  <a:pt x="33" y="43"/>
                  <a:pt x="32" y="44"/>
                  <a:pt x="32" y="45"/>
                </a:cubicBezTo>
                <a:cubicBezTo>
                  <a:pt x="32" y="60"/>
                  <a:pt x="32" y="76"/>
                  <a:pt x="32" y="91"/>
                </a:cubicBezTo>
                <a:cubicBezTo>
                  <a:pt x="32" y="92"/>
                  <a:pt x="32" y="93"/>
                  <a:pt x="32" y="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ja-JP" altLang="en-US" sz="2400"/>
          </a:p>
        </p:txBody>
      </p:sp>
      <p:grpSp>
        <p:nvGrpSpPr>
          <p:cNvPr id="86" name="グループ化 85"/>
          <p:cNvGrpSpPr/>
          <p:nvPr/>
        </p:nvGrpSpPr>
        <p:grpSpPr>
          <a:xfrm rot="20340906">
            <a:off x="310458" y="4094590"/>
            <a:ext cx="1255364" cy="543867"/>
            <a:chOff x="1506400" y="3046040"/>
            <a:chExt cx="941523" cy="407900"/>
          </a:xfrm>
        </p:grpSpPr>
        <p:sp>
          <p:nvSpPr>
            <p:cNvPr id="87" name="正方形/長方形 86"/>
            <p:cNvSpPr/>
            <p:nvPr/>
          </p:nvSpPr>
          <p:spPr bwMode="auto">
            <a:xfrm rot="5400000">
              <a:off x="1763512" y="2798278"/>
              <a:ext cx="389199" cy="903423"/>
            </a:xfrm>
            <a:prstGeom prst="rect">
              <a:avLst/>
            </a:prstGeom>
            <a:solidFill>
              <a:schemeClr val="accent2">
                <a:lumMod val="10000"/>
                <a:lumOff val="90000"/>
              </a:schemeClr>
            </a:solidFill>
            <a:ln w="19050">
              <a:solidFill>
                <a:schemeClr val="accent6">
                  <a:lumMod val="90000"/>
                  <a:lumOff val="10000"/>
                </a:schemeClr>
              </a:solidFill>
            </a:ln>
            <a:effectLst/>
            <a:ex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400" b="1" dirty="0">
                <a:latin typeface="+mj-ea"/>
                <a:ea typeface="+mj-ea"/>
              </a:endParaRPr>
            </a:p>
          </p:txBody>
        </p:sp>
        <p:sp>
          <p:nvSpPr>
            <p:cNvPr id="88" name="テキスト ボックス 87"/>
            <p:cNvSpPr txBox="1"/>
            <p:nvPr/>
          </p:nvSpPr>
          <p:spPr>
            <a:xfrm>
              <a:off x="1693561" y="3046040"/>
              <a:ext cx="754362" cy="4079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467" b="1" dirty="0">
                  <a:solidFill>
                    <a:schemeClr val="accent6">
                      <a:lumMod val="90000"/>
                      <a:lumOff val="10000"/>
                    </a:schemeClr>
                  </a:solidFill>
                  <a:latin typeface="Arial Rounded MT Bold" panose="020F0704030504030204" pitchFamily="34" charset="0"/>
                </a:rPr>
                <a:t>TICKET</a:t>
              </a:r>
            </a:p>
            <a:p>
              <a:pPr algn="ctr"/>
              <a:r>
                <a:rPr lang="en-US" altLang="ja-JP" sz="1467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TGT</a:t>
              </a:r>
              <a:endParaRPr lang="ja-JP" altLang="en-US" sz="1467" b="1" dirty="0">
                <a:solidFill>
                  <a:srgbClr val="FF0000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89" name="正方形/長方形 88"/>
            <p:cNvSpPr/>
            <p:nvPr/>
          </p:nvSpPr>
          <p:spPr bwMode="auto">
            <a:xfrm>
              <a:off x="1506401" y="3055390"/>
              <a:ext cx="224664" cy="389199"/>
            </a:xfrm>
            <a:prstGeom prst="rect">
              <a:avLst/>
            </a:prstGeom>
            <a:solidFill>
              <a:schemeClr val="accent6">
                <a:lumMod val="90000"/>
                <a:lumOff val="10000"/>
              </a:schemeClr>
            </a:solidFill>
            <a:ln>
              <a:noFill/>
            </a:ln>
            <a:effectLst/>
            <a:ex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400" b="1" dirty="0">
                <a:latin typeface="+mj-ea"/>
                <a:ea typeface="+mj-ea"/>
              </a:endParaRPr>
            </a:p>
          </p:txBody>
        </p:sp>
        <p:cxnSp>
          <p:nvCxnSpPr>
            <p:cNvPr id="90" name="直線コネクタ 89"/>
            <p:cNvCxnSpPr/>
            <p:nvPr/>
          </p:nvCxnSpPr>
          <p:spPr bwMode="auto">
            <a:xfrm>
              <a:off x="1731065" y="3055390"/>
              <a:ext cx="7730" cy="389199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bg1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>
                        <a:alpha val="50000"/>
                      </a:schemeClr>
                    </a:outerShdw>
                  </a:effectLst>
                </a14:hiddenEffects>
              </a:ext>
            </a:extLst>
          </p:spPr>
        </p:cxnSp>
      </p:grpSp>
      <p:sp>
        <p:nvSpPr>
          <p:cNvPr id="91" name="角丸四角形 90"/>
          <p:cNvSpPr/>
          <p:nvPr/>
        </p:nvSpPr>
        <p:spPr bwMode="auto">
          <a:xfrm>
            <a:off x="1996476" y="4132155"/>
            <a:ext cx="2126501" cy="1050828"/>
          </a:xfrm>
          <a:prstGeom prst="roundRect">
            <a:avLst>
              <a:gd name="adj" fmla="val 7825"/>
            </a:avLst>
          </a:prstGeom>
          <a:noFill/>
          <a:ln>
            <a:solidFill>
              <a:srgbClr val="FF0000"/>
            </a:solidFill>
            <a:prstDash val="dash"/>
          </a:ln>
          <a:effectLst/>
          <a:ex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2400" b="1" dirty="0">
              <a:latin typeface="+mj-ea"/>
              <a:ea typeface="+mj-ea"/>
            </a:endParaRPr>
          </a:p>
        </p:txBody>
      </p:sp>
      <p:sp>
        <p:nvSpPr>
          <p:cNvPr id="92" name="下カーブ矢印 91"/>
          <p:cNvSpPr/>
          <p:nvPr/>
        </p:nvSpPr>
        <p:spPr bwMode="auto">
          <a:xfrm rot="817376" flipH="1">
            <a:off x="1423041" y="3736243"/>
            <a:ext cx="694748" cy="321811"/>
          </a:xfrm>
          <a:prstGeom prst="curvedDownArrow">
            <a:avLst/>
          </a:prstGeom>
          <a:solidFill>
            <a:schemeClr val="accent6"/>
          </a:solidFill>
          <a:ln>
            <a:noFill/>
          </a:ln>
          <a:effectLst/>
          <a:ex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2400" b="1" dirty="0">
              <a:latin typeface="+mj-ea"/>
              <a:ea typeface="+mj-ea"/>
            </a:endParaRPr>
          </a:p>
        </p:txBody>
      </p:sp>
      <p:cxnSp>
        <p:nvCxnSpPr>
          <p:cNvPr id="93" name="直線コネクタ 92"/>
          <p:cNvCxnSpPr/>
          <p:nvPr/>
        </p:nvCxnSpPr>
        <p:spPr bwMode="auto">
          <a:xfrm flipH="1" flipV="1">
            <a:off x="1619458" y="5896632"/>
            <a:ext cx="2950353" cy="1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sp>
        <p:nvSpPr>
          <p:cNvPr id="94" name="1 つの角を切り取った四角形 93"/>
          <p:cNvSpPr/>
          <p:nvPr/>
        </p:nvSpPr>
        <p:spPr bwMode="auto">
          <a:xfrm>
            <a:off x="2086946" y="5579859"/>
            <a:ext cx="1987060" cy="552685"/>
          </a:xfrm>
          <a:prstGeom prst="snip1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  <a:ex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ja-JP" altLang="en-US" sz="1600" dirty="0">
                <a:latin typeface="+mj-ea"/>
                <a:ea typeface="+mj-ea"/>
              </a:rPr>
              <a:t>・</a:t>
            </a:r>
            <a:r>
              <a:rPr lang="en-US" altLang="ja-JP" sz="1400" dirty="0">
                <a:latin typeface="+mj-ea"/>
                <a:ea typeface="+mj-ea"/>
              </a:rPr>
              <a:t>TGT Session</a:t>
            </a:r>
          </a:p>
          <a:p>
            <a:r>
              <a:rPr lang="en-US" altLang="ja-JP" sz="1400" dirty="0">
                <a:latin typeface="+mj-ea"/>
                <a:ea typeface="+mj-ea"/>
              </a:rPr>
              <a:t>   Key</a:t>
            </a:r>
            <a:endParaRPr lang="ja-JP" altLang="en-US" sz="1400" dirty="0">
              <a:latin typeface="+mj-ea"/>
              <a:ea typeface="+mj-ea"/>
            </a:endParaRPr>
          </a:p>
        </p:txBody>
      </p:sp>
      <p:grpSp>
        <p:nvGrpSpPr>
          <p:cNvPr id="95" name="グループ化 94"/>
          <p:cNvGrpSpPr/>
          <p:nvPr/>
        </p:nvGrpSpPr>
        <p:grpSpPr>
          <a:xfrm>
            <a:off x="830339" y="5239631"/>
            <a:ext cx="494192" cy="532948"/>
            <a:chOff x="10606088" y="3933825"/>
            <a:chExt cx="471488" cy="636588"/>
          </a:xfrm>
        </p:grpSpPr>
        <p:sp>
          <p:nvSpPr>
            <p:cNvPr id="96" name="Freeform 257"/>
            <p:cNvSpPr>
              <a:spLocks/>
            </p:cNvSpPr>
            <p:nvPr/>
          </p:nvSpPr>
          <p:spPr bwMode="auto">
            <a:xfrm>
              <a:off x="10606088" y="3933825"/>
              <a:ext cx="471488" cy="636588"/>
            </a:xfrm>
            <a:custGeom>
              <a:avLst/>
              <a:gdLst>
                <a:gd name="T0" fmla="*/ 137 w 182"/>
                <a:gd name="T1" fmla="*/ 103 h 246"/>
                <a:gd name="T2" fmla="*/ 137 w 182"/>
                <a:gd name="T3" fmla="*/ 101 h 246"/>
                <a:gd name="T4" fmla="*/ 137 w 182"/>
                <a:gd name="T5" fmla="*/ 67 h 246"/>
                <a:gd name="T6" fmla="*/ 127 w 182"/>
                <a:gd name="T7" fmla="*/ 36 h 246"/>
                <a:gd name="T8" fmla="*/ 103 w 182"/>
                <a:gd name="T9" fmla="*/ 22 h 246"/>
                <a:gd name="T10" fmla="*/ 79 w 182"/>
                <a:gd name="T11" fmla="*/ 23 h 246"/>
                <a:gd name="T12" fmla="*/ 51 w 182"/>
                <a:gd name="T13" fmla="*/ 48 h 246"/>
                <a:gd name="T14" fmla="*/ 47 w 182"/>
                <a:gd name="T15" fmla="*/ 68 h 246"/>
                <a:gd name="T16" fmla="*/ 47 w 182"/>
                <a:gd name="T17" fmla="*/ 73 h 246"/>
                <a:gd name="T18" fmla="*/ 24 w 182"/>
                <a:gd name="T19" fmla="*/ 73 h 246"/>
                <a:gd name="T20" fmla="*/ 25 w 182"/>
                <a:gd name="T21" fmla="*/ 60 h 246"/>
                <a:gd name="T22" fmla="*/ 37 w 182"/>
                <a:gd name="T23" fmla="*/ 26 h 246"/>
                <a:gd name="T24" fmla="*/ 71 w 182"/>
                <a:gd name="T25" fmla="*/ 3 h 246"/>
                <a:gd name="T26" fmla="*/ 117 w 182"/>
                <a:gd name="T27" fmla="*/ 5 h 246"/>
                <a:gd name="T28" fmla="*/ 151 w 182"/>
                <a:gd name="T29" fmla="*/ 36 h 246"/>
                <a:gd name="T30" fmla="*/ 158 w 182"/>
                <a:gd name="T31" fmla="*/ 73 h 246"/>
                <a:gd name="T32" fmla="*/ 158 w 182"/>
                <a:gd name="T33" fmla="*/ 100 h 246"/>
                <a:gd name="T34" fmla="*/ 158 w 182"/>
                <a:gd name="T35" fmla="*/ 103 h 246"/>
                <a:gd name="T36" fmla="*/ 168 w 182"/>
                <a:gd name="T37" fmla="*/ 103 h 246"/>
                <a:gd name="T38" fmla="*/ 180 w 182"/>
                <a:gd name="T39" fmla="*/ 110 h 246"/>
                <a:gd name="T40" fmla="*/ 182 w 182"/>
                <a:gd name="T41" fmla="*/ 116 h 246"/>
                <a:gd name="T42" fmla="*/ 182 w 182"/>
                <a:gd name="T43" fmla="*/ 233 h 246"/>
                <a:gd name="T44" fmla="*/ 169 w 182"/>
                <a:gd name="T45" fmla="*/ 245 h 246"/>
                <a:gd name="T46" fmla="*/ 13 w 182"/>
                <a:gd name="T47" fmla="*/ 246 h 246"/>
                <a:gd name="T48" fmla="*/ 0 w 182"/>
                <a:gd name="T49" fmla="*/ 233 h 246"/>
                <a:gd name="T50" fmla="*/ 0 w 182"/>
                <a:gd name="T51" fmla="*/ 116 h 246"/>
                <a:gd name="T52" fmla="*/ 14 w 182"/>
                <a:gd name="T53" fmla="*/ 103 h 246"/>
                <a:gd name="T54" fmla="*/ 133 w 182"/>
                <a:gd name="T55" fmla="*/ 103 h 246"/>
                <a:gd name="T56" fmla="*/ 137 w 182"/>
                <a:gd name="T57" fmla="*/ 103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82" h="246">
                  <a:moveTo>
                    <a:pt x="137" y="103"/>
                  </a:moveTo>
                  <a:cubicBezTo>
                    <a:pt x="137" y="103"/>
                    <a:pt x="137" y="102"/>
                    <a:pt x="137" y="101"/>
                  </a:cubicBezTo>
                  <a:cubicBezTo>
                    <a:pt x="137" y="90"/>
                    <a:pt x="137" y="79"/>
                    <a:pt x="137" y="67"/>
                  </a:cubicBezTo>
                  <a:cubicBezTo>
                    <a:pt x="136" y="56"/>
                    <a:pt x="134" y="46"/>
                    <a:pt x="127" y="36"/>
                  </a:cubicBezTo>
                  <a:cubicBezTo>
                    <a:pt x="121" y="28"/>
                    <a:pt x="113" y="24"/>
                    <a:pt x="103" y="22"/>
                  </a:cubicBezTo>
                  <a:cubicBezTo>
                    <a:pt x="95" y="21"/>
                    <a:pt x="87" y="21"/>
                    <a:pt x="79" y="23"/>
                  </a:cubicBezTo>
                  <a:cubicBezTo>
                    <a:pt x="65" y="26"/>
                    <a:pt x="56" y="35"/>
                    <a:pt x="51" y="48"/>
                  </a:cubicBezTo>
                  <a:cubicBezTo>
                    <a:pt x="48" y="54"/>
                    <a:pt x="47" y="61"/>
                    <a:pt x="47" y="68"/>
                  </a:cubicBezTo>
                  <a:cubicBezTo>
                    <a:pt x="47" y="70"/>
                    <a:pt x="47" y="71"/>
                    <a:pt x="47" y="73"/>
                  </a:cubicBezTo>
                  <a:cubicBezTo>
                    <a:pt x="39" y="73"/>
                    <a:pt x="32" y="73"/>
                    <a:pt x="24" y="73"/>
                  </a:cubicBezTo>
                  <a:cubicBezTo>
                    <a:pt x="24" y="68"/>
                    <a:pt x="24" y="64"/>
                    <a:pt x="25" y="60"/>
                  </a:cubicBezTo>
                  <a:cubicBezTo>
                    <a:pt x="26" y="47"/>
                    <a:pt x="30" y="36"/>
                    <a:pt x="37" y="26"/>
                  </a:cubicBezTo>
                  <a:cubicBezTo>
                    <a:pt x="45" y="14"/>
                    <a:pt x="57" y="6"/>
                    <a:pt x="71" y="3"/>
                  </a:cubicBezTo>
                  <a:cubicBezTo>
                    <a:pt x="87" y="0"/>
                    <a:pt x="102" y="0"/>
                    <a:pt x="117" y="5"/>
                  </a:cubicBezTo>
                  <a:cubicBezTo>
                    <a:pt x="133" y="11"/>
                    <a:pt x="144" y="21"/>
                    <a:pt x="151" y="36"/>
                  </a:cubicBezTo>
                  <a:cubicBezTo>
                    <a:pt x="156" y="47"/>
                    <a:pt x="158" y="60"/>
                    <a:pt x="158" y="73"/>
                  </a:cubicBezTo>
                  <a:cubicBezTo>
                    <a:pt x="158" y="82"/>
                    <a:pt x="158" y="91"/>
                    <a:pt x="158" y="100"/>
                  </a:cubicBezTo>
                  <a:cubicBezTo>
                    <a:pt x="158" y="101"/>
                    <a:pt x="158" y="102"/>
                    <a:pt x="158" y="103"/>
                  </a:cubicBezTo>
                  <a:cubicBezTo>
                    <a:pt x="161" y="103"/>
                    <a:pt x="164" y="104"/>
                    <a:pt x="168" y="103"/>
                  </a:cubicBezTo>
                  <a:cubicBezTo>
                    <a:pt x="173" y="103"/>
                    <a:pt x="177" y="106"/>
                    <a:pt x="180" y="110"/>
                  </a:cubicBezTo>
                  <a:cubicBezTo>
                    <a:pt x="181" y="112"/>
                    <a:pt x="182" y="114"/>
                    <a:pt x="182" y="116"/>
                  </a:cubicBezTo>
                  <a:cubicBezTo>
                    <a:pt x="182" y="155"/>
                    <a:pt x="182" y="194"/>
                    <a:pt x="182" y="233"/>
                  </a:cubicBezTo>
                  <a:cubicBezTo>
                    <a:pt x="182" y="239"/>
                    <a:pt x="175" y="245"/>
                    <a:pt x="169" y="245"/>
                  </a:cubicBezTo>
                  <a:cubicBezTo>
                    <a:pt x="117" y="245"/>
                    <a:pt x="65" y="245"/>
                    <a:pt x="13" y="246"/>
                  </a:cubicBezTo>
                  <a:cubicBezTo>
                    <a:pt x="8" y="246"/>
                    <a:pt x="0" y="239"/>
                    <a:pt x="0" y="233"/>
                  </a:cubicBezTo>
                  <a:cubicBezTo>
                    <a:pt x="0" y="194"/>
                    <a:pt x="0" y="155"/>
                    <a:pt x="0" y="116"/>
                  </a:cubicBezTo>
                  <a:cubicBezTo>
                    <a:pt x="0" y="111"/>
                    <a:pt x="7" y="103"/>
                    <a:pt x="14" y="103"/>
                  </a:cubicBezTo>
                  <a:cubicBezTo>
                    <a:pt x="54" y="104"/>
                    <a:pt x="93" y="103"/>
                    <a:pt x="133" y="103"/>
                  </a:cubicBezTo>
                  <a:cubicBezTo>
                    <a:pt x="134" y="103"/>
                    <a:pt x="135" y="103"/>
                    <a:pt x="137" y="103"/>
                  </a:cubicBezTo>
                  <a:close/>
                </a:path>
              </a:pathLst>
            </a:custGeom>
            <a:solidFill>
              <a:schemeClr val="accent6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97" name="Freeform 258"/>
            <p:cNvSpPr>
              <a:spLocks/>
            </p:cNvSpPr>
            <p:nvPr/>
          </p:nvSpPr>
          <p:spPr bwMode="auto">
            <a:xfrm>
              <a:off x="10787063" y="4278313"/>
              <a:ext cx="117475" cy="230188"/>
            </a:xfrm>
            <a:custGeom>
              <a:avLst/>
              <a:gdLst>
                <a:gd name="T0" fmla="*/ 30 w 45"/>
                <a:gd name="T1" fmla="*/ 89 h 89"/>
                <a:gd name="T2" fmla="*/ 30 w 45"/>
                <a:gd name="T3" fmla="*/ 86 h 89"/>
                <a:gd name="T4" fmla="*/ 30 w 45"/>
                <a:gd name="T5" fmla="*/ 42 h 89"/>
                <a:gd name="T6" fmla="*/ 32 w 45"/>
                <a:gd name="T7" fmla="*/ 39 h 89"/>
                <a:gd name="T8" fmla="*/ 37 w 45"/>
                <a:gd name="T9" fmla="*/ 9 h 89"/>
                <a:gd name="T10" fmla="*/ 16 w 45"/>
                <a:gd name="T11" fmla="*/ 2 h 89"/>
                <a:gd name="T12" fmla="*/ 1 w 45"/>
                <a:gd name="T13" fmla="*/ 19 h 89"/>
                <a:gd name="T14" fmla="*/ 11 w 45"/>
                <a:gd name="T15" fmla="*/ 39 h 89"/>
                <a:gd name="T16" fmla="*/ 12 w 45"/>
                <a:gd name="T17" fmla="*/ 42 h 89"/>
                <a:gd name="T18" fmla="*/ 12 w 45"/>
                <a:gd name="T19" fmla="*/ 71 h 89"/>
                <a:gd name="T20" fmla="*/ 13 w 45"/>
                <a:gd name="T21" fmla="*/ 87 h 89"/>
                <a:gd name="T22" fmla="*/ 14 w 45"/>
                <a:gd name="T23" fmla="*/ 89 h 89"/>
                <a:gd name="T24" fmla="*/ 30 w 45"/>
                <a:gd name="T25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89">
                  <a:moveTo>
                    <a:pt x="30" y="89"/>
                  </a:moveTo>
                  <a:cubicBezTo>
                    <a:pt x="30" y="88"/>
                    <a:pt x="30" y="87"/>
                    <a:pt x="30" y="86"/>
                  </a:cubicBezTo>
                  <a:cubicBezTo>
                    <a:pt x="30" y="72"/>
                    <a:pt x="30" y="57"/>
                    <a:pt x="30" y="42"/>
                  </a:cubicBezTo>
                  <a:cubicBezTo>
                    <a:pt x="30" y="41"/>
                    <a:pt x="31" y="40"/>
                    <a:pt x="32" y="39"/>
                  </a:cubicBezTo>
                  <a:cubicBezTo>
                    <a:pt x="43" y="33"/>
                    <a:pt x="45" y="18"/>
                    <a:pt x="37" y="9"/>
                  </a:cubicBezTo>
                  <a:cubicBezTo>
                    <a:pt x="32" y="2"/>
                    <a:pt x="24" y="0"/>
                    <a:pt x="16" y="2"/>
                  </a:cubicBezTo>
                  <a:cubicBezTo>
                    <a:pt x="8" y="4"/>
                    <a:pt x="2" y="10"/>
                    <a:pt x="1" y="19"/>
                  </a:cubicBezTo>
                  <a:cubicBezTo>
                    <a:pt x="0" y="27"/>
                    <a:pt x="3" y="35"/>
                    <a:pt x="11" y="39"/>
                  </a:cubicBezTo>
                  <a:cubicBezTo>
                    <a:pt x="12" y="40"/>
                    <a:pt x="12" y="41"/>
                    <a:pt x="12" y="42"/>
                  </a:cubicBezTo>
                  <a:cubicBezTo>
                    <a:pt x="12" y="52"/>
                    <a:pt x="12" y="62"/>
                    <a:pt x="12" y="71"/>
                  </a:cubicBezTo>
                  <a:cubicBezTo>
                    <a:pt x="12" y="77"/>
                    <a:pt x="12" y="82"/>
                    <a:pt x="13" y="87"/>
                  </a:cubicBezTo>
                  <a:cubicBezTo>
                    <a:pt x="13" y="88"/>
                    <a:pt x="13" y="89"/>
                    <a:pt x="14" y="89"/>
                  </a:cubicBezTo>
                  <a:cubicBezTo>
                    <a:pt x="19" y="89"/>
                    <a:pt x="25" y="89"/>
                    <a:pt x="30" y="89"/>
                  </a:cubicBezTo>
                  <a:close/>
                </a:path>
              </a:pathLst>
            </a:custGeom>
            <a:solidFill>
              <a:srgbClr val="0018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98" name="Freeform 259"/>
            <p:cNvSpPr>
              <a:spLocks/>
            </p:cNvSpPr>
            <p:nvPr/>
          </p:nvSpPr>
          <p:spPr bwMode="auto">
            <a:xfrm>
              <a:off x="10787063" y="4278313"/>
              <a:ext cx="117475" cy="230188"/>
            </a:xfrm>
            <a:custGeom>
              <a:avLst/>
              <a:gdLst>
                <a:gd name="T0" fmla="*/ 30 w 45"/>
                <a:gd name="T1" fmla="*/ 89 h 89"/>
                <a:gd name="T2" fmla="*/ 14 w 45"/>
                <a:gd name="T3" fmla="*/ 89 h 89"/>
                <a:gd name="T4" fmla="*/ 13 w 45"/>
                <a:gd name="T5" fmla="*/ 87 h 89"/>
                <a:gd name="T6" fmla="*/ 12 w 45"/>
                <a:gd name="T7" fmla="*/ 71 h 89"/>
                <a:gd name="T8" fmla="*/ 12 w 45"/>
                <a:gd name="T9" fmla="*/ 42 h 89"/>
                <a:gd name="T10" fmla="*/ 11 w 45"/>
                <a:gd name="T11" fmla="*/ 39 h 89"/>
                <a:gd name="T12" fmla="*/ 1 w 45"/>
                <a:gd name="T13" fmla="*/ 19 h 89"/>
                <a:gd name="T14" fmla="*/ 16 w 45"/>
                <a:gd name="T15" fmla="*/ 2 h 89"/>
                <a:gd name="T16" fmla="*/ 37 w 45"/>
                <a:gd name="T17" fmla="*/ 9 h 89"/>
                <a:gd name="T18" fmla="*/ 32 w 45"/>
                <a:gd name="T19" fmla="*/ 39 h 89"/>
                <a:gd name="T20" fmla="*/ 30 w 45"/>
                <a:gd name="T21" fmla="*/ 42 h 89"/>
                <a:gd name="T22" fmla="*/ 30 w 45"/>
                <a:gd name="T23" fmla="*/ 86 h 89"/>
                <a:gd name="T24" fmla="*/ 30 w 45"/>
                <a:gd name="T25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89">
                  <a:moveTo>
                    <a:pt x="30" y="89"/>
                  </a:moveTo>
                  <a:cubicBezTo>
                    <a:pt x="25" y="89"/>
                    <a:pt x="19" y="89"/>
                    <a:pt x="14" y="89"/>
                  </a:cubicBezTo>
                  <a:cubicBezTo>
                    <a:pt x="13" y="89"/>
                    <a:pt x="13" y="88"/>
                    <a:pt x="13" y="87"/>
                  </a:cubicBezTo>
                  <a:cubicBezTo>
                    <a:pt x="12" y="82"/>
                    <a:pt x="12" y="77"/>
                    <a:pt x="12" y="71"/>
                  </a:cubicBezTo>
                  <a:cubicBezTo>
                    <a:pt x="12" y="62"/>
                    <a:pt x="12" y="52"/>
                    <a:pt x="12" y="42"/>
                  </a:cubicBezTo>
                  <a:cubicBezTo>
                    <a:pt x="12" y="41"/>
                    <a:pt x="12" y="40"/>
                    <a:pt x="11" y="39"/>
                  </a:cubicBezTo>
                  <a:cubicBezTo>
                    <a:pt x="3" y="35"/>
                    <a:pt x="0" y="27"/>
                    <a:pt x="1" y="19"/>
                  </a:cubicBezTo>
                  <a:cubicBezTo>
                    <a:pt x="2" y="10"/>
                    <a:pt x="8" y="4"/>
                    <a:pt x="16" y="2"/>
                  </a:cubicBezTo>
                  <a:cubicBezTo>
                    <a:pt x="24" y="0"/>
                    <a:pt x="32" y="2"/>
                    <a:pt x="37" y="9"/>
                  </a:cubicBezTo>
                  <a:cubicBezTo>
                    <a:pt x="45" y="18"/>
                    <a:pt x="43" y="33"/>
                    <a:pt x="32" y="39"/>
                  </a:cubicBezTo>
                  <a:cubicBezTo>
                    <a:pt x="31" y="40"/>
                    <a:pt x="30" y="41"/>
                    <a:pt x="30" y="42"/>
                  </a:cubicBezTo>
                  <a:cubicBezTo>
                    <a:pt x="30" y="57"/>
                    <a:pt x="30" y="72"/>
                    <a:pt x="30" y="86"/>
                  </a:cubicBezTo>
                  <a:cubicBezTo>
                    <a:pt x="30" y="87"/>
                    <a:pt x="30" y="88"/>
                    <a:pt x="30" y="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</p:grpSp>
      <p:grpSp>
        <p:nvGrpSpPr>
          <p:cNvPr id="99" name="グループ化 98"/>
          <p:cNvGrpSpPr/>
          <p:nvPr/>
        </p:nvGrpSpPr>
        <p:grpSpPr>
          <a:xfrm>
            <a:off x="145879" y="5804589"/>
            <a:ext cx="237067" cy="512233"/>
            <a:chOff x="1167606" y="1608139"/>
            <a:chExt cx="177800" cy="384175"/>
          </a:xfrm>
          <a:solidFill>
            <a:srgbClr val="FFC000"/>
          </a:solidFill>
        </p:grpSpPr>
        <p:sp>
          <p:nvSpPr>
            <p:cNvPr id="100" name="Freeform 6"/>
            <p:cNvSpPr>
              <a:spLocks/>
            </p:cNvSpPr>
            <p:nvPr/>
          </p:nvSpPr>
          <p:spPr bwMode="auto">
            <a:xfrm>
              <a:off x="1167606" y="1608139"/>
              <a:ext cx="177800" cy="384175"/>
            </a:xfrm>
            <a:custGeom>
              <a:avLst/>
              <a:gdLst>
                <a:gd name="T0" fmla="*/ 69 w 69"/>
                <a:gd name="T1" fmla="*/ 41 h 149"/>
                <a:gd name="T2" fmla="*/ 52 w 69"/>
                <a:gd name="T3" fmla="*/ 71 h 149"/>
                <a:gd name="T4" fmla="*/ 50 w 69"/>
                <a:gd name="T5" fmla="*/ 74 h 149"/>
                <a:gd name="T6" fmla="*/ 50 w 69"/>
                <a:gd name="T7" fmla="*/ 82 h 149"/>
                <a:gd name="T8" fmla="*/ 49 w 69"/>
                <a:gd name="T9" fmla="*/ 86 h 149"/>
                <a:gd name="T10" fmla="*/ 40 w 69"/>
                <a:gd name="T11" fmla="*/ 96 h 149"/>
                <a:gd name="T12" fmla="*/ 40 w 69"/>
                <a:gd name="T13" fmla="*/ 99 h 149"/>
                <a:gd name="T14" fmla="*/ 49 w 69"/>
                <a:gd name="T15" fmla="*/ 109 h 149"/>
                <a:gd name="T16" fmla="*/ 49 w 69"/>
                <a:gd name="T17" fmla="*/ 112 h 149"/>
                <a:gd name="T18" fmla="*/ 41 w 69"/>
                <a:gd name="T19" fmla="*/ 121 h 149"/>
                <a:gd name="T20" fmla="*/ 41 w 69"/>
                <a:gd name="T21" fmla="*/ 124 h 149"/>
                <a:gd name="T22" fmla="*/ 49 w 69"/>
                <a:gd name="T23" fmla="*/ 132 h 149"/>
                <a:gd name="T24" fmla="*/ 49 w 69"/>
                <a:gd name="T25" fmla="*/ 135 h 149"/>
                <a:gd name="T26" fmla="*/ 36 w 69"/>
                <a:gd name="T27" fmla="*/ 148 h 149"/>
                <a:gd name="T28" fmla="*/ 34 w 69"/>
                <a:gd name="T29" fmla="*/ 148 h 149"/>
                <a:gd name="T30" fmla="*/ 21 w 69"/>
                <a:gd name="T31" fmla="*/ 134 h 149"/>
                <a:gd name="T32" fmla="*/ 20 w 69"/>
                <a:gd name="T33" fmla="*/ 131 h 149"/>
                <a:gd name="T34" fmla="*/ 20 w 69"/>
                <a:gd name="T35" fmla="*/ 75 h 149"/>
                <a:gd name="T36" fmla="*/ 18 w 69"/>
                <a:gd name="T37" fmla="*/ 71 h 149"/>
                <a:gd name="T38" fmla="*/ 2 w 69"/>
                <a:gd name="T39" fmla="*/ 36 h 149"/>
                <a:gd name="T40" fmla="*/ 24 w 69"/>
                <a:gd name="T41" fmla="*/ 6 h 149"/>
                <a:gd name="T42" fmla="*/ 65 w 69"/>
                <a:gd name="T43" fmla="*/ 24 h 149"/>
                <a:gd name="T44" fmla="*/ 69 w 69"/>
                <a:gd name="T45" fmla="*/ 41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9" h="149">
                  <a:moveTo>
                    <a:pt x="69" y="41"/>
                  </a:moveTo>
                  <a:cubicBezTo>
                    <a:pt x="68" y="54"/>
                    <a:pt x="63" y="64"/>
                    <a:pt x="52" y="71"/>
                  </a:cubicBezTo>
                  <a:cubicBezTo>
                    <a:pt x="51" y="72"/>
                    <a:pt x="50" y="73"/>
                    <a:pt x="50" y="74"/>
                  </a:cubicBezTo>
                  <a:cubicBezTo>
                    <a:pt x="50" y="77"/>
                    <a:pt x="50" y="80"/>
                    <a:pt x="50" y="82"/>
                  </a:cubicBezTo>
                  <a:cubicBezTo>
                    <a:pt x="50" y="84"/>
                    <a:pt x="50" y="85"/>
                    <a:pt x="49" y="86"/>
                  </a:cubicBezTo>
                  <a:cubicBezTo>
                    <a:pt x="46" y="89"/>
                    <a:pt x="43" y="92"/>
                    <a:pt x="40" y="96"/>
                  </a:cubicBezTo>
                  <a:cubicBezTo>
                    <a:pt x="39" y="97"/>
                    <a:pt x="39" y="97"/>
                    <a:pt x="40" y="99"/>
                  </a:cubicBezTo>
                  <a:cubicBezTo>
                    <a:pt x="43" y="102"/>
                    <a:pt x="46" y="105"/>
                    <a:pt x="49" y="109"/>
                  </a:cubicBezTo>
                  <a:cubicBezTo>
                    <a:pt x="50" y="110"/>
                    <a:pt x="51" y="111"/>
                    <a:pt x="49" y="112"/>
                  </a:cubicBezTo>
                  <a:cubicBezTo>
                    <a:pt x="46" y="115"/>
                    <a:pt x="44" y="118"/>
                    <a:pt x="41" y="121"/>
                  </a:cubicBezTo>
                  <a:cubicBezTo>
                    <a:pt x="40" y="122"/>
                    <a:pt x="39" y="123"/>
                    <a:pt x="41" y="124"/>
                  </a:cubicBezTo>
                  <a:cubicBezTo>
                    <a:pt x="44" y="126"/>
                    <a:pt x="46" y="129"/>
                    <a:pt x="49" y="132"/>
                  </a:cubicBezTo>
                  <a:cubicBezTo>
                    <a:pt x="50" y="133"/>
                    <a:pt x="50" y="134"/>
                    <a:pt x="49" y="135"/>
                  </a:cubicBezTo>
                  <a:cubicBezTo>
                    <a:pt x="44" y="139"/>
                    <a:pt x="40" y="144"/>
                    <a:pt x="36" y="148"/>
                  </a:cubicBezTo>
                  <a:cubicBezTo>
                    <a:pt x="35" y="149"/>
                    <a:pt x="35" y="149"/>
                    <a:pt x="34" y="148"/>
                  </a:cubicBezTo>
                  <a:cubicBezTo>
                    <a:pt x="30" y="143"/>
                    <a:pt x="25" y="139"/>
                    <a:pt x="21" y="134"/>
                  </a:cubicBezTo>
                  <a:cubicBezTo>
                    <a:pt x="20" y="133"/>
                    <a:pt x="20" y="132"/>
                    <a:pt x="20" y="131"/>
                  </a:cubicBezTo>
                  <a:cubicBezTo>
                    <a:pt x="20" y="112"/>
                    <a:pt x="20" y="94"/>
                    <a:pt x="20" y="75"/>
                  </a:cubicBezTo>
                  <a:cubicBezTo>
                    <a:pt x="20" y="73"/>
                    <a:pt x="19" y="72"/>
                    <a:pt x="18" y="71"/>
                  </a:cubicBezTo>
                  <a:cubicBezTo>
                    <a:pt x="5" y="62"/>
                    <a:pt x="0" y="50"/>
                    <a:pt x="2" y="36"/>
                  </a:cubicBezTo>
                  <a:cubicBezTo>
                    <a:pt x="3" y="22"/>
                    <a:pt x="11" y="11"/>
                    <a:pt x="24" y="6"/>
                  </a:cubicBezTo>
                  <a:cubicBezTo>
                    <a:pt x="40" y="0"/>
                    <a:pt x="58" y="8"/>
                    <a:pt x="65" y="24"/>
                  </a:cubicBezTo>
                  <a:cubicBezTo>
                    <a:pt x="68" y="29"/>
                    <a:pt x="69" y="35"/>
                    <a:pt x="69" y="41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01" name="Freeform 7"/>
            <p:cNvSpPr>
              <a:spLocks/>
            </p:cNvSpPr>
            <p:nvPr/>
          </p:nvSpPr>
          <p:spPr bwMode="auto">
            <a:xfrm>
              <a:off x="1224756" y="1657352"/>
              <a:ext cx="66675" cy="61913"/>
            </a:xfrm>
            <a:custGeom>
              <a:avLst/>
              <a:gdLst>
                <a:gd name="T0" fmla="*/ 26 w 26"/>
                <a:gd name="T1" fmla="*/ 11 h 24"/>
                <a:gd name="T2" fmla="*/ 14 w 26"/>
                <a:gd name="T3" fmla="*/ 23 h 24"/>
                <a:gd name="T4" fmla="*/ 2 w 26"/>
                <a:gd name="T5" fmla="*/ 13 h 24"/>
                <a:gd name="T6" fmla="*/ 14 w 26"/>
                <a:gd name="T7" fmla="*/ 0 h 24"/>
                <a:gd name="T8" fmla="*/ 24 w 26"/>
                <a:gd name="T9" fmla="*/ 6 h 24"/>
                <a:gd name="T10" fmla="*/ 26 w 26"/>
                <a:gd name="T11" fmla="*/ 1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26" y="11"/>
                  </a:moveTo>
                  <a:cubicBezTo>
                    <a:pt x="26" y="17"/>
                    <a:pt x="20" y="23"/>
                    <a:pt x="14" y="23"/>
                  </a:cubicBezTo>
                  <a:cubicBezTo>
                    <a:pt x="9" y="24"/>
                    <a:pt x="3" y="19"/>
                    <a:pt x="2" y="13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18" y="1"/>
                    <a:pt x="22" y="3"/>
                    <a:pt x="24" y="6"/>
                  </a:cubicBezTo>
                  <a:cubicBezTo>
                    <a:pt x="25" y="8"/>
                    <a:pt x="26" y="9"/>
                    <a:pt x="26" y="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</p:grpSp>
      <p:sp>
        <p:nvSpPr>
          <p:cNvPr id="102" name="正方形/長方形 101"/>
          <p:cNvSpPr/>
          <p:nvPr/>
        </p:nvSpPr>
        <p:spPr>
          <a:xfrm>
            <a:off x="325508" y="5829201"/>
            <a:ext cx="1244251" cy="5438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467" dirty="0"/>
              <a:t>TGT</a:t>
            </a:r>
          </a:p>
          <a:p>
            <a:r>
              <a:rPr lang="en-US" altLang="ja-JP" sz="1467" dirty="0"/>
              <a:t>Session Key</a:t>
            </a:r>
            <a:endParaRPr lang="ja-JP" altLang="en-US" sz="1467" dirty="0"/>
          </a:p>
        </p:txBody>
      </p:sp>
      <p:sp>
        <p:nvSpPr>
          <p:cNvPr id="103" name="下カーブ矢印 102"/>
          <p:cNvSpPr/>
          <p:nvPr/>
        </p:nvSpPr>
        <p:spPr bwMode="auto">
          <a:xfrm rot="817376" flipH="1">
            <a:off x="1407465" y="5373477"/>
            <a:ext cx="694748" cy="321811"/>
          </a:xfrm>
          <a:prstGeom prst="curvedDownArrow">
            <a:avLst/>
          </a:prstGeom>
          <a:solidFill>
            <a:schemeClr val="accent6"/>
          </a:solidFill>
          <a:ln>
            <a:noFill/>
          </a:ln>
          <a:effectLst/>
          <a:ex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2400" b="1" dirty="0">
              <a:latin typeface="+mj-ea"/>
              <a:ea typeface="+mj-ea"/>
            </a:endParaRPr>
          </a:p>
        </p:txBody>
      </p:sp>
      <p:grpSp>
        <p:nvGrpSpPr>
          <p:cNvPr id="104" name="グループ化 103"/>
          <p:cNvGrpSpPr/>
          <p:nvPr/>
        </p:nvGrpSpPr>
        <p:grpSpPr>
          <a:xfrm>
            <a:off x="3815221" y="4563086"/>
            <a:ext cx="237067" cy="512233"/>
            <a:chOff x="1167606" y="1608139"/>
            <a:chExt cx="177800" cy="384175"/>
          </a:xfrm>
          <a:solidFill>
            <a:srgbClr val="FFC000"/>
          </a:solidFill>
        </p:grpSpPr>
        <p:sp>
          <p:nvSpPr>
            <p:cNvPr id="105" name="Freeform 6"/>
            <p:cNvSpPr>
              <a:spLocks/>
            </p:cNvSpPr>
            <p:nvPr/>
          </p:nvSpPr>
          <p:spPr bwMode="auto">
            <a:xfrm>
              <a:off x="1167606" y="1608139"/>
              <a:ext cx="177800" cy="384175"/>
            </a:xfrm>
            <a:custGeom>
              <a:avLst/>
              <a:gdLst>
                <a:gd name="T0" fmla="*/ 69 w 69"/>
                <a:gd name="T1" fmla="*/ 41 h 149"/>
                <a:gd name="T2" fmla="*/ 52 w 69"/>
                <a:gd name="T3" fmla="*/ 71 h 149"/>
                <a:gd name="T4" fmla="*/ 50 w 69"/>
                <a:gd name="T5" fmla="*/ 74 h 149"/>
                <a:gd name="T6" fmla="*/ 50 w 69"/>
                <a:gd name="T7" fmla="*/ 82 h 149"/>
                <a:gd name="T8" fmla="*/ 49 w 69"/>
                <a:gd name="T9" fmla="*/ 86 h 149"/>
                <a:gd name="T10" fmla="*/ 40 w 69"/>
                <a:gd name="T11" fmla="*/ 96 h 149"/>
                <a:gd name="T12" fmla="*/ 40 w 69"/>
                <a:gd name="T13" fmla="*/ 99 h 149"/>
                <a:gd name="T14" fmla="*/ 49 w 69"/>
                <a:gd name="T15" fmla="*/ 109 h 149"/>
                <a:gd name="T16" fmla="*/ 49 w 69"/>
                <a:gd name="T17" fmla="*/ 112 h 149"/>
                <a:gd name="T18" fmla="*/ 41 w 69"/>
                <a:gd name="T19" fmla="*/ 121 h 149"/>
                <a:gd name="T20" fmla="*/ 41 w 69"/>
                <a:gd name="T21" fmla="*/ 124 h 149"/>
                <a:gd name="T22" fmla="*/ 49 w 69"/>
                <a:gd name="T23" fmla="*/ 132 h 149"/>
                <a:gd name="T24" fmla="*/ 49 w 69"/>
                <a:gd name="T25" fmla="*/ 135 h 149"/>
                <a:gd name="T26" fmla="*/ 36 w 69"/>
                <a:gd name="T27" fmla="*/ 148 h 149"/>
                <a:gd name="T28" fmla="*/ 34 w 69"/>
                <a:gd name="T29" fmla="*/ 148 h 149"/>
                <a:gd name="T30" fmla="*/ 21 w 69"/>
                <a:gd name="T31" fmla="*/ 134 h 149"/>
                <a:gd name="T32" fmla="*/ 20 w 69"/>
                <a:gd name="T33" fmla="*/ 131 h 149"/>
                <a:gd name="T34" fmla="*/ 20 w 69"/>
                <a:gd name="T35" fmla="*/ 75 h 149"/>
                <a:gd name="T36" fmla="*/ 18 w 69"/>
                <a:gd name="T37" fmla="*/ 71 h 149"/>
                <a:gd name="T38" fmla="*/ 2 w 69"/>
                <a:gd name="T39" fmla="*/ 36 h 149"/>
                <a:gd name="T40" fmla="*/ 24 w 69"/>
                <a:gd name="T41" fmla="*/ 6 h 149"/>
                <a:gd name="T42" fmla="*/ 65 w 69"/>
                <a:gd name="T43" fmla="*/ 24 h 149"/>
                <a:gd name="T44" fmla="*/ 69 w 69"/>
                <a:gd name="T45" fmla="*/ 41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9" h="149">
                  <a:moveTo>
                    <a:pt x="69" y="41"/>
                  </a:moveTo>
                  <a:cubicBezTo>
                    <a:pt x="68" y="54"/>
                    <a:pt x="63" y="64"/>
                    <a:pt x="52" y="71"/>
                  </a:cubicBezTo>
                  <a:cubicBezTo>
                    <a:pt x="51" y="72"/>
                    <a:pt x="50" y="73"/>
                    <a:pt x="50" y="74"/>
                  </a:cubicBezTo>
                  <a:cubicBezTo>
                    <a:pt x="50" y="77"/>
                    <a:pt x="50" y="80"/>
                    <a:pt x="50" y="82"/>
                  </a:cubicBezTo>
                  <a:cubicBezTo>
                    <a:pt x="50" y="84"/>
                    <a:pt x="50" y="85"/>
                    <a:pt x="49" y="86"/>
                  </a:cubicBezTo>
                  <a:cubicBezTo>
                    <a:pt x="46" y="89"/>
                    <a:pt x="43" y="92"/>
                    <a:pt x="40" y="96"/>
                  </a:cubicBezTo>
                  <a:cubicBezTo>
                    <a:pt x="39" y="97"/>
                    <a:pt x="39" y="97"/>
                    <a:pt x="40" y="99"/>
                  </a:cubicBezTo>
                  <a:cubicBezTo>
                    <a:pt x="43" y="102"/>
                    <a:pt x="46" y="105"/>
                    <a:pt x="49" y="109"/>
                  </a:cubicBezTo>
                  <a:cubicBezTo>
                    <a:pt x="50" y="110"/>
                    <a:pt x="51" y="111"/>
                    <a:pt x="49" y="112"/>
                  </a:cubicBezTo>
                  <a:cubicBezTo>
                    <a:pt x="46" y="115"/>
                    <a:pt x="44" y="118"/>
                    <a:pt x="41" y="121"/>
                  </a:cubicBezTo>
                  <a:cubicBezTo>
                    <a:pt x="40" y="122"/>
                    <a:pt x="39" y="123"/>
                    <a:pt x="41" y="124"/>
                  </a:cubicBezTo>
                  <a:cubicBezTo>
                    <a:pt x="44" y="126"/>
                    <a:pt x="46" y="129"/>
                    <a:pt x="49" y="132"/>
                  </a:cubicBezTo>
                  <a:cubicBezTo>
                    <a:pt x="50" y="133"/>
                    <a:pt x="50" y="134"/>
                    <a:pt x="49" y="135"/>
                  </a:cubicBezTo>
                  <a:cubicBezTo>
                    <a:pt x="44" y="139"/>
                    <a:pt x="40" y="144"/>
                    <a:pt x="36" y="148"/>
                  </a:cubicBezTo>
                  <a:cubicBezTo>
                    <a:pt x="35" y="149"/>
                    <a:pt x="35" y="149"/>
                    <a:pt x="34" y="148"/>
                  </a:cubicBezTo>
                  <a:cubicBezTo>
                    <a:pt x="30" y="143"/>
                    <a:pt x="25" y="139"/>
                    <a:pt x="21" y="134"/>
                  </a:cubicBezTo>
                  <a:cubicBezTo>
                    <a:pt x="20" y="133"/>
                    <a:pt x="20" y="132"/>
                    <a:pt x="20" y="131"/>
                  </a:cubicBezTo>
                  <a:cubicBezTo>
                    <a:pt x="20" y="112"/>
                    <a:pt x="20" y="94"/>
                    <a:pt x="20" y="75"/>
                  </a:cubicBezTo>
                  <a:cubicBezTo>
                    <a:pt x="20" y="73"/>
                    <a:pt x="19" y="72"/>
                    <a:pt x="18" y="71"/>
                  </a:cubicBezTo>
                  <a:cubicBezTo>
                    <a:pt x="5" y="62"/>
                    <a:pt x="0" y="50"/>
                    <a:pt x="2" y="36"/>
                  </a:cubicBezTo>
                  <a:cubicBezTo>
                    <a:pt x="3" y="22"/>
                    <a:pt x="11" y="11"/>
                    <a:pt x="24" y="6"/>
                  </a:cubicBezTo>
                  <a:cubicBezTo>
                    <a:pt x="40" y="0"/>
                    <a:pt x="58" y="8"/>
                    <a:pt x="65" y="24"/>
                  </a:cubicBezTo>
                  <a:cubicBezTo>
                    <a:pt x="68" y="29"/>
                    <a:pt x="69" y="35"/>
                    <a:pt x="69" y="41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06" name="Freeform 7"/>
            <p:cNvSpPr>
              <a:spLocks/>
            </p:cNvSpPr>
            <p:nvPr/>
          </p:nvSpPr>
          <p:spPr bwMode="auto">
            <a:xfrm>
              <a:off x="1224756" y="1657352"/>
              <a:ext cx="66675" cy="61913"/>
            </a:xfrm>
            <a:custGeom>
              <a:avLst/>
              <a:gdLst>
                <a:gd name="T0" fmla="*/ 26 w 26"/>
                <a:gd name="T1" fmla="*/ 11 h 24"/>
                <a:gd name="T2" fmla="*/ 14 w 26"/>
                <a:gd name="T3" fmla="*/ 23 h 24"/>
                <a:gd name="T4" fmla="*/ 2 w 26"/>
                <a:gd name="T5" fmla="*/ 13 h 24"/>
                <a:gd name="T6" fmla="*/ 14 w 26"/>
                <a:gd name="T7" fmla="*/ 0 h 24"/>
                <a:gd name="T8" fmla="*/ 24 w 26"/>
                <a:gd name="T9" fmla="*/ 6 h 24"/>
                <a:gd name="T10" fmla="*/ 26 w 26"/>
                <a:gd name="T11" fmla="*/ 1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26" y="11"/>
                  </a:moveTo>
                  <a:cubicBezTo>
                    <a:pt x="26" y="17"/>
                    <a:pt x="20" y="23"/>
                    <a:pt x="14" y="23"/>
                  </a:cubicBezTo>
                  <a:cubicBezTo>
                    <a:pt x="9" y="24"/>
                    <a:pt x="3" y="19"/>
                    <a:pt x="2" y="13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18" y="1"/>
                    <a:pt x="22" y="3"/>
                    <a:pt x="24" y="6"/>
                  </a:cubicBezTo>
                  <a:cubicBezTo>
                    <a:pt x="25" y="8"/>
                    <a:pt x="26" y="9"/>
                    <a:pt x="26" y="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</p:grpSp>
      <p:grpSp>
        <p:nvGrpSpPr>
          <p:cNvPr id="107" name="グループ化 106"/>
          <p:cNvGrpSpPr/>
          <p:nvPr/>
        </p:nvGrpSpPr>
        <p:grpSpPr>
          <a:xfrm>
            <a:off x="5385943" y="3556616"/>
            <a:ext cx="237067" cy="512233"/>
            <a:chOff x="1167606" y="1608139"/>
            <a:chExt cx="177800" cy="384175"/>
          </a:xfrm>
          <a:solidFill>
            <a:srgbClr val="FFC000"/>
          </a:solidFill>
        </p:grpSpPr>
        <p:sp>
          <p:nvSpPr>
            <p:cNvPr id="108" name="Freeform 6"/>
            <p:cNvSpPr>
              <a:spLocks/>
            </p:cNvSpPr>
            <p:nvPr/>
          </p:nvSpPr>
          <p:spPr bwMode="auto">
            <a:xfrm>
              <a:off x="1167606" y="1608139"/>
              <a:ext cx="177800" cy="384175"/>
            </a:xfrm>
            <a:custGeom>
              <a:avLst/>
              <a:gdLst>
                <a:gd name="T0" fmla="*/ 69 w 69"/>
                <a:gd name="T1" fmla="*/ 41 h 149"/>
                <a:gd name="T2" fmla="*/ 52 w 69"/>
                <a:gd name="T3" fmla="*/ 71 h 149"/>
                <a:gd name="T4" fmla="*/ 50 w 69"/>
                <a:gd name="T5" fmla="*/ 74 h 149"/>
                <a:gd name="T6" fmla="*/ 50 w 69"/>
                <a:gd name="T7" fmla="*/ 82 h 149"/>
                <a:gd name="T8" fmla="*/ 49 w 69"/>
                <a:gd name="T9" fmla="*/ 86 h 149"/>
                <a:gd name="T10" fmla="*/ 40 w 69"/>
                <a:gd name="T11" fmla="*/ 96 h 149"/>
                <a:gd name="T12" fmla="*/ 40 w 69"/>
                <a:gd name="T13" fmla="*/ 99 h 149"/>
                <a:gd name="T14" fmla="*/ 49 w 69"/>
                <a:gd name="T15" fmla="*/ 109 h 149"/>
                <a:gd name="T16" fmla="*/ 49 w 69"/>
                <a:gd name="T17" fmla="*/ 112 h 149"/>
                <a:gd name="T18" fmla="*/ 41 w 69"/>
                <a:gd name="T19" fmla="*/ 121 h 149"/>
                <a:gd name="T20" fmla="*/ 41 w 69"/>
                <a:gd name="T21" fmla="*/ 124 h 149"/>
                <a:gd name="T22" fmla="*/ 49 w 69"/>
                <a:gd name="T23" fmla="*/ 132 h 149"/>
                <a:gd name="T24" fmla="*/ 49 w 69"/>
                <a:gd name="T25" fmla="*/ 135 h 149"/>
                <a:gd name="T26" fmla="*/ 36 w 69"/>
                <a:gd name="T27" fmla="*/ 148 h 149"/>
                <a:gd name="T28" fmla="*/ 34 w 69"/>
                <a:gd name="T29" fmla="*/ 148 h 149"/>
                <a:gd name="T30" fmla="*/ 21 w 69"/>
                <a:gd name="T31" fmla="*/ 134 h 149"/>
                <a:gd name="T32" fmla="*/ 20 w 69"/>
                <a:gd name="T33" fmla="*/ 131 h 149"/>
                <a:gd name="T34" fmla="*/ 20 w 69"/>
                <a:gd name="T35" fmla="*/ 75 h 149"/>
                <a:gd name="T36" fmla="*/ 18 w 69"/>
                <a:gd name="T37" fmla="*/ 71 h 149"/>
                <a:gd name="T38" fmla="*/ 2 w 69"/>
                <a:gd name="T39" fmla="*/ 36 h 149"/>
                <a:gd name="T40" fmla="*/ 24 w 69"/>
                <a:gd name="T41" fmla="*/ 6 h 149"/>
                <a:gd name="T42" fmla="*/ 65 w 69"/>
                <a:gd name="T43" fmla="*/ 24 h 149"/>
                <a:gd name="T44" fmla="*/ 69 w 69"/>
                <a:gd name="T45" fmla="*/ 41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9" h="149">
                  <a:moveTo>
                    <a:pt x="69" y="41"/>
                  </a:moveTo>
                  <a:cubicBezTo>
                    <a:pt x="68" y="54"/>
                    <a:pt x="63" y="64"/>
                    <a:pt x="52" y="71"/>
                  </a:cubicBezTo>
                  <a:cubicBezTo>
                    <a:pt x="51" y="72"/>
                    <a:pt x="50" y="73"/>
                    <a:pt x="50" y="74"/>
                  </a:cubicBezTo>
                  <a:cubicBezTo>
                    <a:pt x="50" y="77"/>
                    <a:pt x="50" y="80"/>
                    <a:pt x="50" y="82"/>
                  </a:cubicBezTo>
                  <a:cubicBezTo>
                    <a:pt x="50" y="84"/>
                    <a:pt x="50" y="85"/>
                    <a:pt x="49" y="86"/>
                  </a:cubicBezTo>
                  <a:cubicBezTo>
                    <a:pt x="46" y="89"/>
                    <a:pt x="43" y="92"/>
                    <a:pt x="40" y="96"/>
                  </a:cubicBezTo>
                  <a:cubicBezTo>
                    <a:pt x="39" y="97"/>
                    <a:pt x="39" y="97"/>
                    <a:pt x="40" y="99"/>
                  </a:cubicBezTo>
                  <a:cubicBezTo>
                    <a:pt x="43" y="102"/>
                    <a:pt x="46" y="105"/>
                    <a:pt x="49" y="109"/>
                  </a:cubicBezTo>
                  <a:cubicBezTo>
                    <a:pt x="50" y="110"/>
                    <a:pt x="51" y="111"/>
                    <a:pt x="49" y="112"/>
                  </a:cubicBezTo>
                  <a:cubicBezTo>
                    <a:pt x="46" y="115"/>
                    <a:pt x="44" y="118"/>
                    <a:pt x="41" y="121"/>
                  </a:cubicBezTo>
                  <a:cubicBezTo>
                    <a:pt x="40" y="122"/>
                    <a:pt x="39" y="123"/>
                    <a:pt x="41" y="124"/>
                  </a:cubicBezTo>
                  <a:cubicBezTo>
                    <a:pt x="44" y="126"/>
                    <a:pt x="46" y="129"/>
                    <a:pt x="49" y="132"/>
                  </a:cubicBezTo>
                  <a:cubicBezTo>
                    <a:pt x="50" y="133"/>
                    <a:pt x="50" y="134"/>
                    <a:pt x="49" y="135"/>
                  </a:cubicBezTo>
                  <a:cubicBezTo>
                    <a:pt x="44" y="139"/>
                    <a:pt x="40" y="144"/>
                    <a:pt x="36" y="148"/>
                  </a:cubicBezTo>
                  <a:cubicBezTo>
                    <a:pt x="35" y="149"/>
                    <a:pt x="35" y="149"/>
                    <a:pt x="34" y="148"/>
                  </a:cubicBezTo>
                  <a:cubicBezTo>
                    <a:pt x="30" y="143"/>
                    <a:pt x="25" y="139"/>
                    <a:pt x="21" y="134"/>
                  </a:cubicBezTo>
                  <a:cubicBezTo>
                    <a:pt x="20" y="133"/>
                    <a:pt x="20" y="132"/>
                    <a:pt x="20" y="131"/>
                  </a:cubicBezTo>
                  <a:cubicBezTo>
                    <a:pt x="20" y="112"/>
                    <a:pt x="20" y="94"/>
                    <a:pt x="20" y="75"/>
                  </a:cubicBezTo>
                  <a:cubicBezTo>
                    <a:pt x="20" y="73"/>
                    <a:pt x="19" y="72"/>
                    <a:pt x="18" y="71"/>
                  </a:cubicBezTo>
                  <a:cubicBezTo>
                    <a:pt x="5" y="62"/>
                    <a:pt x="0" y="50"/>
                    <a:pt x="2" y="36"/>
                  </a:cubicBezTo>
                  <a:cubicBezTo>
                    <a:pt x="3" y="22"/>
                    <a:pt x="11" y="11"/>
                    <a:pt x="24" y="6"/>
                  </a:cubicBezTo>
                  <a:cubicBezTo>
                    <a:pt x="40" y="0"/>
                    <a:pt x="58" y="8"/>
                    <a:pt x="65" y="24"/>
                  </a:cubicBezTo>
                  <a:cubicBezTo>
                    <a:pt x="68" y="29"/>
                    <a:pt x="69" y="35"/>
                    <a:pt x="69" y="41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09" name="Freeform 7"/>
            <p:cNvSpPr>
              <a:spLocks/>
            </p:cNvSpPr>
            <p:nvPr/>
          </p:nvSpPr>
          <p:spPr bwMode="auto">
            <a:xfrm>
              <a:off x="1224756" y="1657352"/>
              <a:ext cx="66675" cy="61913"/>
            </a:xfrm>
            <a:custGeom>
              <a:avLst/>
              <a:gdLst>
                <a:gd name="T0" fmla="*/ 26 w 26"/>
                <a:gd name="T1" fmla="*/ 11 h 24"/>
                <a:gd name="T2" fmla="*/ 14 w 26"/>
                <a:gd name="T3" fmla="*/ 23 h 24"/>
                <a:gd name="T4" fmla="*/ 2 w 26"/>
                <a:gd name="T5" fmla="*/ 13 h 24"/>
                <a:gd name="T6" fmla="*/ 14 w 26"/>
                <a:gd name="T7" fmla="*/ 0 h 24"/>
                <a:gd name="T8" fmla="*/ 24 w 26"/>
                <a:gd name="T9" fmla="*/ 6 h 24"/>
                <a:gd name="T10" fmla="*/ 26 w 26"/>
                <a:gd name="T11" fmla="*/ 1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26" y="11"/>
                  </a:moveTo>
                  <a:cubicBezTo>
                    <a:pt x="26" y="17"/>
                    <a:pt x="20" y="23"/>
                    <a:pt x="14" y="23"/>
                  </a:cubicBezTo>
                  <a:cubicBezTo>
                    <a:pt x="9" y="24"/>
                    <a:pt x="3" y="19"/>
                    <a:pt x="2" y="13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18" y="1"/>
                    <a:pt x="22" y="3"/>
                    <a:pt x="24" y="6"/>
                  </a:cubicBezTo>
                  <a:cubicBezTo>
                    <a:pt x="25" y="8"/>
                    <a:pt x="26" y="9"/>
                    <a:pt x="26" y="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</p:grpSp>
      <p:grpSp>
        <p:nvGrpSpPr>
          <p:cNvPr id="110" name="グループ化 109"/>
          <p:cNvGrpSpPr/>
          <p:nvPr/>
        </p:nvGrpSpPr>
        <p:grpSpPr>
          <a:xfrm>
            <a:off x="3504460" y="5611877"/>
            <a:ext cx="237067" cy="512233"/>
            <a:chOff x="1167606" y="1608139"/>
            <a:chExt cx="177800" cy="384175"/>
          </a:xfrm>
          <a:solidFill>
            <a:srgbClr val="FFC000"/>
          </a:solidFill>
        </p:grpSpPr>
        <p:sp>
          <p:nvSpPr>
            <p:cNvPr id="111" name="Freeform 6"/>
            <p:cNvSpPr>
              <a:spLocks/>
            </p:cNvSpPr>
            <p:nvPr/>
          </p:nvSpPr>
          <p:spPr bwMode="auto">
            <a:xfrm>
              <a:off x="1167606" y="1608139"/>
              <a:ext cx="177800" cy="384175"/>
            </a:xfrm>
            <a:custGeom>
              <a:avLst/>
              <a:gdLst>
                <a:gd name="T0" fmla="*/ 69 w 69"/>
                <a:gd name="T1" fmla="*/ 41 h 149"/>
                <a:gd name="T2" fmla="*/ 52 w 69"/>
                <a:gd name="T3" fmla="*/ 71 h 149"/>
                <a:gd name="T4" fmla="*/ 50 w 69"/>
                <a:gd name="T5" fmla="*/ 74 h 149"/>
                <a:gd name="T6" fmla="*/ 50 w 69"/>
                <a:gd name="T7" fmla="*/ 82 h 149"/>
                <a:gd name="T8" fmla="*/ 49 w 69"/>
                <a:gd name="T9" fmla="*/ 86 h 149"/>
                <a:gd name="T10" fmla="*/ 40 w 69"/>
                <a:gd name="T11" fmla="*/ 96 h 149"/>
                <a:gd name="T12" fmla="*/ 40 w 69"/>
                <a:gd name="T13" fmla="*/ 99 h 149"/>
                <a:gd name="T14" fmla="*/ 49 w 69"/>
                <a:gd name="T15" fmla="*/ 109 h 149"/>
                <a:gd name="T16" fmla="*/ 49 w 69"/>
                <a:gd name="T17" fmla="*/ 112 h 149"/>
                <a:gd name="T18" fmla="*/ 41 w 69"/>
                <a:gd name="T19" fmla="*/ 121 h 149"/>
                <a:gd name="T20" fmla="*/ 41 w 69"/>
                <a:gd name="T21" fmla="*/ 124 h 149"/>
                <a:gd name="T22" fmla="*/ 49 w 69"/>
                <a:gd name="T23" fmla="*/ 132 h 149"/>
                <a:gd name="T24" fmla="*/ 49 w 69"/>
                <a:gd name="T25" fmla="*/ 135 h 149"/>
                <a:gd name="T26" fmla="*/ 36 w 69"/>
                <a:gd name="T27" fmla="*/ 148 h 149"/>
                <a:gd name="T28" fmla="*/ 34 w 69"/>
                <a:gd name="T29" fmla="*/ 148 h 149"/>
                <a:gd name="T30" fmla="*/ 21 w 69"/>
                <a:gd name="T31" fmla="*/ 134 h 149"/>
                <a:gd name="T32" fmla="*/ 20 w 69"/>
                <a:gd name="T33" fmla="*/ 131 h 149"/>
                <a:gd name="T34" fmla="*/ 20 w 69"/>
                <a:gd name="T35" fmla="*/ 75 h 149"/>
                <a:gd name="T36" fmla="*/ 18 w 69"/>
                <a:gd name="T37" fmla="*/ 71 h 149"/>
                <a:gd name="T38" fmla="*/ 2 w 69"/>
                <a:gd name="T39" fmla="*/ 36 h 149"/>
                <a:gd name="T40" fmla="*/ 24 w 69"/>
                <a:gd name="T41" fmla="*/ 6 h 149"/>
                <a:gd name="T42" fmla="*/ 65 w 69"/>
                <a:gd name="T43" fmla="*/ 24 h 149"/>
                <a:gd name="T44" fmla="*/ 69 w 69"/>
                <a:gd name="T45" fmla="*/ 41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9" h="149">
                  <a:moveTo>
                    <a:pt x="69" y="41"/>
                  </a:moveTo>
                  <a:cubicBezTo>
                    <a:pt x="68" y="54"/>
                    <a:pt x="63" y="64"/>
                    <a:pt x="52" y="71"/>
                  </a:cubicBezTo>
                  <a:cubicBezTo>
                    <a:pt x="51" y="72"/>
                    <a:pt x="50" y="73"/>
                    <a:pt x="50" y="74"/>
                  </a:cubicBezTo>
                  <a:cubicBezTo>
                    <a:pt x="50" y="77"/>
                    <a:pt x="50" y="80"/>
                    <a:pt x="50" y="82"/>
                  </a:cubicBezTo>
                  <a:cubicBezTo>
                    <a:pt x="50" y="84"/>
                    <a:pt x="50" y="85"/>
                    <a:pt x="49" y="86"/>
                  </a:cubicBezTo>
                  <a:cubicBezTo>
                    <a:pt x="46" y="89"/>
                    <a:pt x="43" y="92"/>
                    <a:pt x="40" y="96"/>
                  </a:cubicBezTo>
                  <a:cubicBezTo>
                    <a:pt x="39" y="97"/>
                    <a:pt x="39" y="97"/>
                    <a:pt x="40" y="99"/>
                  </a:cubicBezTo>
                  <a:cubicBezTo>
                    <a:pt x="43" y="102"/>
                    <a:pt x="46" y="105"/>
                    <a:pt x="49" y="109"/>
                  </a:cubicBezTo>
                  <a:cubicBezTo>
                    <a:pt x="50" y="110"/>
                    <a:pt x="51" y="111"/>
                    <a:pt x="49" y="112"/>
                  </a:cubicBezTo>
                  <a:cubicBezTo>
                    <a:pt x="46" y="115"/>
                    <a:pt x="44" y="118"/>
                    <a:pt x="41" y="121"/>
                  </a:cubicBezTo>
                  <a:cubicBezTo>
                    <a:pt x="40" y="122"/>
                    <a:pt x="39" y="123"/>
                    <a:pt x="41" y="124"/>
                  </a:cubicBezTo>
                  <a:cubicBezTo>
                    <a:pt x="44" y="126"/>
                    <a:pt x="46" y="129"/>
                    <a:pt x="49" y="132"/>
                  </a:cubicBezTo>
                  <a:cubicBezTo>
                    <a:pt x="50" y="133"/>
                    <a:pt x="50" y="134"/>
                    <a:pt x="49" y="135"/>
                  </a:cubicBezTo>
                  <a:cubicBezTo>
                    <a:pt x="44" y="139"/>
                    <a:pt x="40" y="144"/>
                    <a:pt x="36" y="148"/>
                  </a:cubicBezTo>
                  <a:cubicBezTo>
                    <a:pt x="35" y="149"/>
                    <a:pt x="35" y="149"/>
                    <a:pt x="34" y="148"/>
                  </a:cubicBezTo>
                  <a:cubicBezTo>
                    <a:pt x="30" y="143"/>
                    <a:pt x="25" y="139"/>
                    <a:pt x="21" y="134"/>
                  </a:cubicBezTo>
                  <a:cubicBezTo>
                    <a:pt x="20" y="133"/>
                    <a:pt x="20" y="132"/>
                    <a:pt x="20" y="131"/>
                  </a:cubicBezTo>
                  <a:cubicBezTo>
                    <a:pt x="20" y="112"/>
                    <a:pt x="20" y="94"/>
                    <a:pt x="20" y="75"/>
                  </a:cubicBezTo>
                  <a:cubicBezTo>
                    <a:pt x="20" y="73"/>
                    <a:pt x="19" y="72"/>
                    <a:pt x="18" y="71"/>
                  </a:cubicBezTo>
                  <a:cubicBezTo>
                    <a:pt x="5" y="62"/>
                    <a:pt x="0" y="50"/>
                    <a:pt x="2" y="36"/>
                  </a:cubicBezTo>
                  <a:cubicBezTo>
                    <a:pt x="3" y="22"/>
                    <a:pt x="11" y="11"/>
                    <a:pt x="24" y="6"/>
                  </a:cubicBezTo>
                  <a:cubicBezTo>
                    <a:pt x="40" y="0"/>
                    <a:pt x="58" y="8"/>
                    <a:pt x="65" y="24"/>
                  </a:cubicBezTo>
                  <a:cubicBezTo>
                    <a:pt x="68" y="29"/>
                    <a:pt x="69" y="35"/>
                    <a:pt x="69" y="41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12" name="Freeform 7"/>
            <p:cNvSpPr>
              <a:spLocks/>
            </p:cNvSpPr>
            <p:nvPr/>
          </p:nvSpPr>
          <p:spPr bwMode="auto">
            <a:xfrm>
              <a:off x="1224756" y="1657352"/>
              <a:ext cx="66675" cy="61913"/>
            </a:xfrm>
            <a:custGeom>
              <a:avLst/>
              <a:gdLst>
                <a:gd name="T0" fmla="*/ 26 w 26"/>
                <a:gd name="T1" fmla="*/ 11 h 24"/>
                <a:gd name="T2" fmla="*/ 14 w 26"/>
                <a:gd name="T3" fmla="*/ 23 h 24"/>
                <a:gd name="T4" fmla="*/ 2 w 26"/>
                <a:gd name="T5" fmla="*/ 13 h 24"/>
                <a:gd name="T6" fmla="*/ 14 w 26"/>
                <a:gd name="T7" fmla="*/ 0 h 24"/>
                <a:gd name="T8" fmla="*/ 24 w 26"/>
                <a:gd name="T9" fmla="*/ 6 h 24"/>
                <a:gd name="T10" fmla="*/ 26 w 26"/>
                <a:gd name="T11" fmla="*/ 1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26" y="11"/>
                  </a:moveTo>
                  <a:cubicBezTo>
                    <a:pt x="26" y="17"/>
                    <a:pt x="20" y="23"/>
                    <a:pt x="14" y="23"/>
                  </a:cubicBezTo>
                  <a:cubicBezTo>
                    <a:pt x="9" y="24"/>
                    <a:pt x="3" y="19"/>
                    <a:pt x="2" y="13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18" y="1"/>
                    <a:pt x="22" y="3"/>
                    <a:pt x="24" y="6"/>
                  </a:cubicBezTo>
                  <a:cubicBezTo>
                    <a:pt x="25" y="8"/>
                    <a:pt x="26" y="9"/>
                    <a:pt x="26" y="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</p:grpSp>
      <p:grpSp>
        <p:nvGrpSpPr>
          <p:cNvPr id="113" name="グループ化 112"/>
          <p:cNvGrpSpPr/>
          <p:nvPr/>
        </p:nvGrpSpPr>
        <p:grpSpPr>
          <a:xfrm>
            <a:off x="3802879" y="5304311"/>
            <a:ext cx="445676" cy="533847"/>
            <a:chOff x="2206943" y="3301676"/>
            <a:chExt cx="404938" cy="496211"/>
          </a:xfrm>
        </p:grpSpPr>
        <p:sp>
          <p:nvSpPr>
            <p:cNvPr id="114" name="Freeform 260"/>
            <p:cNvSpPr>
              <a:spLocks/>
            </p:cNvSpPr>
            <p:nvPr/>
          </p:nvSpPr>
          <p:spPr bwMode="auto">
            <a:xfrm>
              <a:off x="2206943" y="3301676"/>
              <a:ext cx="404938" cy="496211"/>
            </a:xfrm>
            <a:custGeom>
              <a:avLst/>
              <a:gdLst>
                <a:gd name="T0" fmla="*/ 25 w 190"/>
                <a:gd name="T1" fmla="*/ 98 h 246"/>
                <a:gd name="T2" fmla="*/ 14 w 190"/>
                <a:gd name="T3" fmla="*/ 98 h 246"/>
                <a:gd name="T4" fmla="*/ 0 w 190"/>
                <a:gd name="T5" fmla="*/ 112 h 246"/>
                <a:gd name="T6" fmla="*/ 0 w 190"/>
                <a:gd name="T7" fmla="*/ 232 h 246"/>
                <a:gd name="T8" fmla="*/ 14 w 190"/>
                <a:gd name="T9" fmla="*/ 246 h 246"/>
                <a:gd name="T10" fmla="*/ 175 w 190"/>
                <a:gd name="T11" fmla="*/ 246 h 246"/>
                <a:gd name="T12" fmla="*/ 190 w 190"/>
                <a:gd name="T13" fmla="*/ 231 h 246"/>
                <a:gd name="T14" fmla="*/ 190 w 190"/>
                <a:gd name="T15" fmla="*/ 113 h 246"/>
                <a:gd name="T16" fmla="*/ 174 w 190"/>
                <a:gd name="T17" fmla="*/ 98 h 246"/>
                <a:gd name="T18" fmla="*/ 165 w 190"/>
                <a:gd name="T19" fmla="*/ 98 h 246"/>
                <a:gd name="T20" fmla="*/ 165 w 190"/>
                <a:gd name="T21" fmla="*/ 74 h 246"/>
                <a:gd name="T22" fmla="*/ 157 w 190"/>
                <a:gd name="T23" fmla="*/ 38 h 246"/>
                <a:gd name="T24" fmla="*/ 116 w 190"/>
                <a:gd name="T25" fmla="*/ 4 h 246"/>
                <a:gd name="T26" fmla="*/ 73 w 190"/>
                <a:gd name="T27" fmla="*/ 4 h 246"/>
                <a:gd name="T28" fmla="*/ 43 w 190"/>
                <a:gd name="T29" fmla="*/ 21 h 246"/>
                <a:gd name="T30" fmla="*/ 25 w 190"/>
                <a:gd name="T31" fmla="*/ 69 h 246"/>
                <a:gd name="T32" fmla="*/ 25 w 190"/>
                <a:gd name="T33" fmla="*/ 95 h 246"/>
                <a:gd name="T34" fmla="*/ 25 w 190"/>
                <a:gd name="T35" fmla="*/ 98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0" h="246">
                  <a:moveTo>
                    <a:pt x="25" y="98"/>
                  </a:moveTo>
                  <a:cubicBezTo>
                    <a:pt x="21" y="98"/>
                    <a:pt x="18" y="98"/>
                    <a:pt x="14" y="98"/>
                  </a:cubicBezTo>
                  <a:cubicBezTo>
                    <a:pt x="7" y="97"/>
                    <a:pt x="0" y="105"/>
                    <a:pt x="0" y="112"/>
                  </a:cubicBezTo>
                  <a:cubicBezTo>
                    <a:pt x="0" y="152"/>
                    <a:pt x="0" y="192"/>
                    <a:pt x="0" y="232"/>
                  </a:cubicBezTo>
                  <a:cubicBezTo>
                    <a:pt x="0" y="239"/>
                    <a:pt x="8" y="246"/>
                    <a:pt x="14" y="246"/>
                  </a:cubicBezTo>
                  <a:cubicBezTo>
                    <a:pt x="68" y="246"/>
                    <a:pt x="121" y="246"/>
                    <a:pt x="175" y="246"/>
                  </a:cubicBezTo>
                  <a:cubicBezTo>
                    <a:pt x="183" y="246"/>
                    <a:pt x="190" y="240"/>
                    <a:pt x="190" y="231"/>
                  </a:cubicBezTo>
                  <a:cubicBezTo>
                    <a:pt x="190" y="192"/>
                    <a:pt x="189" y="153"/>
                    <a:pt x="190" y="113"/>
                  </a:cubicBezTo>
                  <a:cubicBezTo>
                    <a:pt x="190" y="105"/>
                    <a:pt x="182" y="97"/>
                    <a:pt x="174" y="98"/>
                  </a:cubicBezTo>
                  <a:cubicBezTo>
                    <a:pt x="171" y="98"/>
                    <a:pt x="168" y="98"/>
                    <a:pt x="165" y="98"/>
                  </a:cubicBezTo>
                  <a:cubicBezTo>
                    <a:pt x="165" y="90"/>
                    <a:pt x="165" y="82"/>
                    <a:pt x="165" y="74"/>
                  </a:cubicBezTo>
                  <a:cubicBezTo>
                    <a:pt x="164" y="62"/>
                    <a:pt x="162" y="49"/>
                    <a:pt x="157" y="38"/>
                  </a:cubicBezTo>
                  <a:cubicBezTo>
                    <a:pt x="149" y="20"/>
                    <a:pt x="135" y="9"/>
                    <a:pt x="116" y="4"/>
                  </a:cubicBezTo>
                  <a:cubicBezTo>
                    <a:pt x="101" y="0"/>
                    <a:pt x="87" y="0"/>
                    <a:pt x="73" y="4"/>
                  </a:cubicBezTo>
                  <a:cubicBezTo>
                    <a:pt x="61" y="7"/>
                    <a:pt x="52" y="12"/>
                    <a:pt x="43" y="21"/>
                  </a:cubicBezTo>
                  <a:cubicBezTo>
                    <a:pt x="31" y="35"/>
                    <a:pt x="26" y="51"/>
                    <a:pt x="25" y="69"/>
                  </a:cubicBezTo>
                  <a:cubicBezTo>
                    <a:pt x="25" y="78"/>
                    <a:pt x="25" y="86"/>
                    <a:pt x="25" y="95"/>
                  </a:cubicBezTo>
                  <a:cubicBezTo>
                    <a:pt x="25" y="96"/>
                    <a:pt x="25" y="97"/>
                    <a:pt x="25" y="98"/>
                  </a:cubicBezTo>
                  <a:close/>
                </a:path>
              </a:pathLst>
            </a:custGeom>
            <a:solidFill>
              <a:schemeClr val="accent6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15" name="Freeform 261"/>
            <p:cNvSpPr>
              <a:spLocks/>
            </p:cNvSpPr>
            <p:nvPr/>
          </p:nvSpPr>
          <p:spPr bwMode="auto">
            <a:xfrm>
              <a:off x="2206943" y="3301676"/>
              <a:ext cx="404938" cy="496211"/>
            </a:xfrm>
            <a:custGeom>
              <a:avLst/>
              <a:gdLst>
                <a:gd name="T0" fmla="*/ 25 w 190"/>
                <a:gd name="T1" fmla="*/ 98 h 246"/>
                <a:gd name="T2" fmla="*/ 25 w 190"/>
                <a:gd name="T3" fmla="*/ 95 h 246"/>
                <a:gd name="T4" fmla="*/ 25 w 190"/>
                <a:gd name="T5" fmla="*/ 69 h 246"/>
                <a:gd name="T6" fmla="*/ 43 w 190"/>
                <a:gd name="T7" fmla="*/ 21 h 246"/>
                <a:gd name="T8" fmla="*/ 73 w 190"/>
                <a:gd name="T9" fmla="*/ 4 h 246"/>
                <a:gd name="T10" fmla="*/ 116 w 190"/>
                <a:gd name="T11" fmla="*/ 4 h 246"/>
                <a:gd name="T12" fmla="*/ 157 w 190"/>
                <a:gd name="T13" fmla="*/ 38 h 246"/>
                <a:gd name="T14" fmla="*/ 165 w 190"/>
                <a:gd name="T15" fmla="*/ 74 h 246"/>
                <a:gd name="T16" fmla="*/ 165 w 190"/>
                <a:gd name="T17" fmla="*/ 98 h 246"/>
                <a:gd name="T18" fmla="*/ 174 w 190"/>
                <a:gd name="T19" fmla="*/ 98 h 246"/>
                <a:gd name="T20" fmla="*/ 190 w 190"/>
                <a:gd name="T21" fmla="*/ 113 h 246"/>
                <a:gd name="T22" fmla="*/ 190 w 190"/>
                <a:gd name="T23" fmla="*/ 231 h 246"/>
                <a:gd name="T24" fmla="*/ 175 w 190"/>
                <a:gd name="T25" fmla="*/ 246 h 246"/>
                <a:gd name="T26" fmla="*/ 14 w 190"/>
                <a:gd name="T27" fmla="*/ 246 h 246"/>
                <a:gd name="T28" fmla="*/ 0 w 190"/>
                <a:gd name="T29" fmla="*/ 232 h 246"/>
                <a:gd name="T30" fmla="*/ 0 w 190"/>
                <a:gd name="T31" fmla="*/ 112 h 246"/>
                <a:gd name="T32" fmla="*/ 14 w 190"/>
                <a:gd name="T33" fmla="*/ 98 h 246"/>
                <a:gd name="T34" fmla="*/ 25 w 190"/>
                <a:gd name="T35" fmla="*/ 98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0" h="246">
                  <a:moveTo>
                    <a:pt x="25" y="98"/>
                  </a:moveTo>
                  <a:cubicBezTo>
                    <a:pt x="25" y="97"/>
                    <a:pt x="25" y="96"/>
                    <a:pt x="25" y="95"/>
                  </a:cubicBezTo>
                  <a:cubicBezTo>
                    <a:pt x="25" y="86"/>
                    <a:pt x="25" y="78"/>
                    <a:pt x="25" y="69"/>
                  </a:cubicBezTo>
                  <a:cubicBezTo>
                    <a:pt x="26" y="51"/>
                    <a:pt x="31" y="35"/>
                    <a:pt x="43" y="21"/>
                  </a:cubicBezTo>
                  <a:cubicBezTo>
                    <a:pt x="52" y="12"/>
                    <a:pt x="61" y="7"/>
                    <a:pt x="73" y="4"/>
                  </a:cubicBezTo>
                  <a:cubicBezTo>
                    <a:pt x="87" y="0"/>
                    <a:pt x="101" y="0"/>
                    <a:pt x="116" y="4"/>
                  </a:cubicBezTo>
                  <a:cubicBezTo>
                    <a:pt x="135" y="9"/>
                    <a:pt x="149" y="20"/>
                    <a:pt x="157" y="38"/>
                  </a:cubicBezTo>
                  <a:cubicBezTo>
                    <a:pt x="162" y="49"/>
                    <a:pt x="164" y="62"/>
                    <a:pt x="165" y="74"/>
                  </a:cubicBezTo>
                  <a:cubicBezTo>
                    <a:pt x="165" y="82"/>
                    <a:pt x="165" y="90"/>
                    <a:pt x="165" y="98"/>
                  </a:cubicBezTo>
                  <a:cubicBezTo>
                    <a:pt x="168" y="98"/>
                    <a:pt x="171" y="98"/>
                    <a:pt x="174" y="98"/>
                  </a:cubicBezTo>
                  <a:cubicBezTo>
                    <a:pt x="182" y="97"/>
                    <a:pt x="190" y="105"/>
                    <a:pt x="190" y="113"/>
                  </a:cubicBezTo>
                  <a:cubicBezTo>
                    <a:pt x="189" y="153"/>
                    <a:pt x="190" y="192"/>
                    <a:pt x="190" y="231"/>
                  </a:cubicBezTo>
                  <a:cubicBezTo>
                    <a:pt x="190" y="240"/>
                    <a:pt x="183" y="246"/>
                    <a:pt x="175" y="246"/>
                  </a:cubicBezTo>
                  <a:cubicBezTo>
                    <a:pt x="121" y="246"/>
                    <a:pt x="68" y="246"/>
                    <a:pt x="14" y="246"/>
                  </a:cubicBezTo>
                  <a:cubicBezTo>
                    <a:pt x="8" y="246"/>
                    <a:pt x="0" y="239"/>
                    <a:pt x="0" y="232"/>
                  </a:cubicBezTo>
                  <a:cubicBezTo>
                    <a:pt x="0" y="192"/>
                    <a:pt x="0" y="152"/>
                    <a:pt x="0" y="112"/>
                  </a:cubicBezTo>
                  <a:cubicBezTo>
                    <a:pt x="0" y="105"/>
                    <a:pt x="7" y="97"/>
                    <a:pt x="14" y="98"/>
                  </a:cubicBezTo>
                  <a:cubicBezTo>
                    <a:pt x="18" y="98"/>
                    <a:pt x="21" y="98"/>
                    <a:pt x="25" y="98"/>
                  </a:cubicBezTo>
                  <a:close/>
                </a:path>
              </a:pathLst>
            </a:custGeom>
            <a:solidFill>
              <a:schemeClr val="accent6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16" name="Freeform 262"/>
            <p:cNvSpPr>
              <a:spLocks/>
            </p:cNvSpPr>
            <p:nvPr/>
          </p:nvSpPr>
          <p:spPr bwMode="auto">
            <a:xfrm>
              <a:off x="2306539" y="3348698"/>
              <a:ext cx="203124" cy="150967"/>
            </a:xfrm>
            <a:custGeom>
              <a:avLst/>
              <a:gdLst>
                <a:gd name="T0" fmla="*/ 95 w 95"/>
                <a:gd name="T1" fmla="*/ 75 h 75"/>
                <a:gd name="T2" fmla="*/ 95 w 95"/>
                <a:gd name="T3" fmla="*/ 49 h 75"/>
                <a:gd name="T4" fmla="*/ 91 w 95"/>
                <a:gd name="T5" fmla="*/ 27 h 75"/>
                <a:gd name="T6" fmla="*/ 66 w 95"/>
                <a:gd name="T7" fmla="*/ 3 h 75"/>
                <a:gd name="T8" fmla="*/ 41 w 95"/>
                <a:gd name="T9" fmla="*/ 0 h 75"/>
                <a:gd name="T10" fmla="*/ 21 w 95"/>
                <a:gd name="T11" fmla="*/ 7 h 75"/>
                <a:gd name="T12" fmla="*/ 3 w 95"/>
                <a:gd name="T13" fmla="*/ 36 h 75"/>
                <a:gd name="T14" fmla="*/ 1 w 95"/>
                <a:gd name="T15" fmla="*/ 74 h 75"/>
                <a:gd name="T16" fmla="*/ 1 w 95"/>
                <a:gd name="T17" fmla="*/ 75 h 75"/>
                <a:gd name="T18" fmla="*/ 95 w 95"/>
                <a:gd name="T19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5" h="75">
                  <a:moveTo>
                    <a:pt x="95" y="75"/>
                  </a:moveTo>
                  <a:cubicBezTo>
                    <a:pt x="95" y="66"/>
                    <a:pt x="95" y="58"/>
                    <a:pt x="95" y="49"/>
                  </a:cubicBezTo>
                  <a:cubicBezTo>
                    <a:pt x="95" y="42"/>
                    <a:pt x="93" y="34"/>
                    <a:pt x="91" y="27"/>
                  </a:cubicBezTo>
                  <a:cubicBezTo>
                    <a:pt x="86" y="15"/>
                    <a:pt x="78" y="7"/>
                    <a:pt x="66" y="3"/>
                  </a:cubicBezTo>
                  <a:cubicBezTo>
                    <a:pt x="58" y="0"/>
                    <a:pt x="50" y="0"/>
                    <a:pt x="41" y="0"/>
                  </a:cubicBezTo>
                  <a:cubicBezTo>
                    <a:pt x="34" y="1"/>
                    <a:pt x="27" y="3"/>
                    <a:pt x="21" y="7"/>
                  </a:cubicBezTo>
                  <a:cubicBezTo>
                    <a:pt x="11" y="14"/>
                    <a:pt x="5" y="24"/>
                    <a:pt x="3" y="36"/>
                  </a:cubicBezTo>
                  <a:cubicBezTo>
                    <a:pt x="0" y="48"/>
                    <a:pt x="1" y="61"/>
                    <a:pt x="1" y="74"/>
                  </a:cubicBezTo>
                  <a:cubicBezTo>
                    <a:pt x="1" y="74"/>
                    <a:pt x="1" y="75"/>
                    <a:pt x="1" y="75"/>
                  </a:cubicBezTo>
                  <a:cubicBezTo>
                    <a:pt x="32" y="75"/>
                    <a:pt x="63" y="75"/>
                    <a:pt x="95" y="75"/>
                  </a:cubicBezTo>
                  <a:close/>
                </a:path>
              </a:pathLst>
            </a:custGeom>
            <a:solidFill>
              <a:schemeClr val="accent6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17" name="Freeform 263"/>
            <p:cNvSpPr>
              <a:spLocks/>
            </p:cNvSpPr>
            <p:nvPr/>
          </p:nvSpPr>
          <p:spPr bwMode="auto">
            <a:xfrm>
              <a:off x="2360268" y="3560300"/>
              <a:ext cx="95665" cy="189328"/>
            </a:xfrm>
            <a:custGeom>
              <a:avLst/>
              <a:gdLst>
                <a:gd name="T0" fmla="*/ 32 w 45"/>
                <a:gd name="T1" fmla="*/ 94 h 94"/>
                <a:gd name="T2" fmla="*/ 32 w 45"/>
                <a:gd name="T3" fmla="*/ 91 h 94"/>
                <a:gd name="T4" fmla="*/ 32 w 45"/>
                <a:gd name="T5" fmla="*/ 45 h 94"/>
                <a:gd name="T6" fmla="*/ 34 w 45"/>
                <a:gd name="T7" fmla="*/ 42 h 94"/>
                <a:gd name="T8" fmla="*/ 45 w 45"/>
                <a:gd name="T9" fmla="*/ 22 h 94"/>
                <a:gd name="T10" fmla="*/ 19 w 45"/>
                <a:gd name="T11" fmla="*/ 2 h 94"/>
                <a:gd name="T12" fmla="*/ 2 w 45"/>
                <a:gd name="T13" fmla="*/ 20 h 94"/>
                <a:gd name="T14" fmla="*/ 12 w 45"/>
                <a:gd name="T15" fmla="*/ 41 h 94"/>
                <a:gd name="T16" fmla="*/ 14 w 45"/>
                <a:gd name="T17" fmla="*/ 46 h 94"/>
                <a:gd name="T18" fmla="*/ 14 w 45"/>
                <a:gd name="T19" fmla="*/ 91 h 94"/>
                <a:gd name="T20" fmla="*/ 14 w 45"/>
                <a:gd name="T21" fmla="*/ 94 h 94"/>
                <a:gd name="T22" fmla="*/ 32 w 45"/>
                <a:gd name="T23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5" h="94">
                  <a:moveTo>
                    <a:pt x="32" y="94"/>
                  </a:moveTo>
                  <a:cubicBezTo>
                    <a:pt x="32" y="93"/>
                    <a:pt x="32" y="92"/>
                    <a:pt x="32" y="91"/>
                  </a:cubicBezTo>
                  <a:cubicBezTo>
                    <a:pt x="32" y="76"/>
                    <a:pt x="32" y="60"/>
                    <a:pt x="32" y="45"/>
                  </a:cubicBezTo>
                  <a:cubicBezTo>
                    <a:pt x="32" y="44"/>
                    <a:pt x="33" y="43"/>
                    <a:pt x="34" y="42"/>
                  </a:cubicBezTo>
                  <a:cubicBezTo>
                    <a:pt x="41" y="37"/>
                    <a:pt x="45" y="30"/>
                    <a:pt x="45" y="22"/>
                  </a:cubicBezTo>
                  <a:cubicBezTo>
                    <a:pt x="44" y="9"/>
                    <a:pt x="32" y="0"/>
                    <a:pt x="19" y="2"/>
                  </a:cubicBezTo>
                  <a:cubicBezTo>
                    <a:pt x="10" y="4"/>
                    <a:pt x="3" y="11"/>
                    <a:pt x="2" y="20"/>
                  </a:cubicBezTo>
                  <a:cubicBezTo>
                    <a:pt x="0" y="28"/>
                    <a:pt x="4" y="37"/>
                    <a:pt x="12" y="41"/>
                  </a:cubicBezTo>
                  <a:cubicBezTo>
                    <a:pt x="13" y="43"/>
                    <a:pt x="14" y="44"/>
                    <a:pt x="14" y="46"/>
                  </a:cubicBezTo>
                  <a:cubicBezTo>
                    <a:pt x="14" y="61"/>
                    <a:pt x="14" y="76"/>
                    <a:pt x="14" y="91"/>
                  </a:cubicBezTo>
                  <a:cubicBezTo>
                    <a:pt x="14" y="92"/>
                    <a:pt x="14" y="93"/>
                    <a:pt x="14" y="94"/>
                  </a:cubicBezTo>
                  <a:cubicBezTo>
                    <a:pt x="20" y="94"/>
                    <a:pt x="26" y="94"/>
                    <a:pt x="32" y="9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18" name="Freeform 264"/>
            <p:cNvSpPr>
              <a:spLocks/>
            </p:cNvSpPr>
            <p:nvPr/>
          </p:nvSpPr>
          <p:spPr bwMode="auto">
            <a:xfrm>
              <a:off x="2306539" y="3348698"/>
              <a:ext cx="203124" cy="150967"/>
            </a:xfrm>
            <a:custGeom>
              <a:avLst/>
              <a:gdLst>
                <a:gd name="T0" fmla="*/ 95 w 95"/>
                <a:gd name="T1" fmla="*/ 75 h 75"/>
                <a:gd name="T2" fmla="*/ 1 w 95"/>
                <a:gd name="T3" fmla="*/ 75 h 75"/>
                <a:gd name="T4" fmla="*/ 1 w 95"/>
                <a:gd name="T5" fmla="*/ 74 h 75"/>
                <a:gd name="T6" fmla="*/ 3 w 95"/>
                <a:gd name="T7" fmla="*/ 36 h 75"/>
                <a:gd name="T8" fmla="*/ 21 w 95"/>
                <a:gd name="T9" fmla="*/ 7 h 75"/>
                <a:gd name="T10" fmla="*/ 41 w 95"/>
                <a:gd name="T11" fmla="*/ 0 h 75"/>
                <a:gd name="T12" fmla="*/ 66 w 95"/>
                <a:gd name="T13" fmla="*/ 3 h 75"/>
                <a:gd name="T14" fmla="*/ 91 w 95"/>
                <a:gd name="T15" fmla="*/ 27 h 75"/>
                <a:gd name="T16" fmla="*/ 95 w 95"/>
                <a:gd name="T17" fmla="*/ 49 h 75"/>
                <a:gd name="T18" fmla="*/ 95 w 95"/>
                <a:gd name="T19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5" h="75">
                  <a:moveTo>
                    <a:pt x="95" y="75"/>
                  </a:moveTo>
                  <a:cubicBezTo>
                    <a:pt x="63" y="75"/>
                    <a:pt x="32" y="75"/>
                    <a:pt x="1" y="75"/>
                  </a:cubicBezTo>
                  <a:cubicBezTo>
                    <a:pt x="1" y="75"/>
                    <a:pt x="1" y="74"/>
                    <a:pt x="1" y="74"/>
                  </a:cubicBezTo>
                  <a:cubicBezTo>
                    <a:pt x="1" y="61"/>
                    <a:pt x="0" y="48"/>
                    <a:pt x="3" y="36"/>
                  </a:cubicBezTo>
                  <a:cubicBezTo>
                    <a:pt x="5" y="24"/>
                    <a:pt x="11" y="14"/>
                    <a:pt x="21" y="7"/>
                  </a:cubicBezTo>
                  <a:cubicBezTo>
                    <a:pt x="27" y="3"/>
                    <a:pt x="34" y="1"/>
                    <a:pt x="41" y="0"/>
                  </a:cubicBezTo>
                  <a:cubicBezTo>
                    <a:pt x="50" y="0"/>
                    <a:pt x="58" y="0"/>
                    <a:pt x="66" y="3"/>
                  </a:cubicBezTo>
                  <a:cubicBezTo>
                    <a:pt x="78" y="7"/>
                    <a:pt x="86" y="15"/>
                    <a:pt x="91" y="27"/>
                  </a:cubicBezTo>
                  <a:cubicBezTo>
                    <a:pt x="93" y="34"/>
                    <a:pt x="95" y="42"/>
                    <a:pt x="95" y="49"/>
                  </a:cubicBezTo>
                  <a:cubicBezTo>
                    <a:pt x="95" y="58"/>
                    <a:pt x="95" y="66"/>
                    <a:pt x="95" y="7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19" name="Freeform 265"/>
            <p:cNvSpPr>
              <a:spLocks/>
            </p:cNvSpPr>
            <p:nvPr/>
          </p:nvSpPr>
          <p:spPr bwMode="auto">
            <a:xfrm>
              <a:off x="2360268" y="3560300"/>
              <a:ext cx="95665" cy="189328"/>
            </a:xfrm>
            <a:custGeom>
              <a:avLst/>
              <a:gdLst>
                <a:gd name="T0" fmla="*/ 32 w 45"/>
                <a:gd name="T1" fmla="*/ 94 h 94"/>
                <a:gd name="T2" fmla="*/ 14 w 45"/>
                <a:gd name="T3" fmla="*/ 94 h 94"/>
                <a:gd name="T4" fmla="*/ 14 w 45"/>
                <a:gd name="T5" fmla="*/ 91 h 94"/>
                <a:gd name="T6" fmla="*/ 14 w 45"/>
                <a:gd name="T7" fmla="*/ 46 h 94"/>
                <a:gd name="T8" fmla="*/ 12 w 45"/>
                <a:gd name="T9" fmla="*/ 41 h 94"/>
                <a:gd name="T10" fmla="*/ 2 w 45"/>
                <a:gd name="T11" fmla="*/ 20 h 94"/>
                <a:gd name="T12" fmla="*/ 19 w 45"/>
                <a:gd name="T13" fmla="*/ 2 h 94"/>
                <a:gd name="T14" fmla="*/ 45 w 45"/>
                <a:gd name="T15" fmla="*/ 22 h 94"/>
                <a:gd name="T16" fmla="*/ 34 w 45"/>
                <a:gd name="T17" fmla="*/ 42 h 94"/>
                <a:gd name="T18" fmla="*/ 32 w 45"/>
                <a:gd name="T19" fmla="*/ 45 h 94"/>
                <a:gd name="T20" fmla="*/ 32 w 45"/>
                <a:gd name="T21" fmla="*/ 91 h 94"/>
                <a:gd name="T22" fmla="*/ 32 w 45"/>
                <a:gd name="T23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5" h="94">
                  <a:moveTo>
                    <a:pt x="32" y="94"/>
                  </a:moveTo>
                  <a:cubicBezTo>
                    <a:pt x="26" y="94"/>
                    <a:pt x="20" y="94"/>
                    <a:pt x="14" y="94"/>
                  </a:cubicBezTo>
                  <a:cubicBezTo>
                    <a:pt x="14" y="93"/>
                    <a:pt x="14" y="92"/>
                    <a:pt x="14" y="91"/>
                  </a:cubicBezTo>
                  <a:cubicBezTo>
                    <a:pt x="14" y="76"/>
                    <a:pt x="14" y="61"/>
                    <a:pt x="14" y="46"/>
                  </a:cubicBezTo>
                  <a:cubicBezTo>
                    <a:pt x="14" y="44"/>
                    <a:pt x="13" y="43"/>
                    <a:pt x="12" y="41"/>
                  </a:cubicBezTo>
                  <a:cubicBezTo>
                    <a:pt x="4" y="37"/>
                    <a:pt x="0" y="28"/>
                    <a:pt x="2" y="20"/>
                  </a:cubicBezTo>
                  <a:cubicBezTo>
                    <a:pt x="3" y="11"/>
                    <a:pt x="10" y="4"/>
                    <a:pt x="19" y="2"/>
                  </a:cubicBezTo>
                  <a:cubicBezTo>
                    <a:pt x="32" y="0"/>
                    <a:pt x="44" y="9"/>
                    <a:pt x="45" y="22"/>
                  </a:cubicBezTo>
                  <a:cubicBezTo>
                    <a:pt x="45" y="30"/>
                    <a:pt x="41" y="37"/>
                    <a:pt x="34" y="42"/>
                  </a:cubicBezTo>
                  <a:cubicBezTo>
                    <a:pt x="33" y="43"/>
                    <a:pt x="32" y="44"/>
                    <a:pt x="32" y="45"/>
                  </a:cubicBezTo>
                  <a:cubicBezTo>
                    <a:pt x="32" y="60"/>
                    <a:pt x="32" y="76"/>
                    <a:pt x="32" y="91"/>
                  </a:cubicBezTo>
                  <a:cubicBezTo>
                    <a:pt x="32" y="92"/>
                    <a:pt x="32" y="93"/>
                    <a:pt x="32" y="9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486799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09" y="1428087"/>
            <a:ext cx="3741896" cy="4795287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0855" y="1428086"/>
            <a:ext cx="3773763" cy="4869113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/>
        </p:nvPicPr>
        <p:blipFill rotWithShape="1">
          <a:blip r:embed="rId4"/>
          <a:srcRect l="790" b="17080"/>
          <a:stretch/>
        </p:blipFill>
        <p:spPr>
          <a:xfrm>
            <a:off x="723709" y="837009"/>
            <a:ext cx="7494231" cy="38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6845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24" y="1161808"/>
            <a:ext cx="5742104" cy="3205715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400" y="54207"/>
            <a:ext cx="4884840" cy="645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744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45" y="1517478"/>
            <a:ext cx="11908211" cy="338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8700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" y="2691435"/>
            <a:ext cx="6096000" cy="3780287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5749"/>
            <a:ext cx="12192000" cy="1576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2560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55" y="1157995"/>
            <a:ext cx="11985992" cy="4054085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 bwMode="auto">
          <a:xfrm>
            <a:off x="102355" y="4208669"/>
            <a:ext cx="1055885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  <a:ex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2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881619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/>
          <p:cNvPicPr>
            <a:picLocks noChangeAspect="1"/>
          </p:cNvPicPr>
          <p:nvPr/>
        </p:nvPicPr>
        <p:blipFill rotWithShape="1">
          <a:blip r:embed="rId2"/>
          <a:srcRect b="65388"/>
          <a:stretch/>
        </p:blipFill>
        <p:spPr>
          <a:xfrm>
            <a:off x="328653" y="989385"/>
            <a:ext cx="11419342" cy="1252161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>
          <a:xfrm>
            <a:off x="2048801" y="2731061"/>
            <a:ext cx="1840230" cy="6629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4624</a:t>
            </a:r>
          </a:p>
          <a:p>
            <a:pPr algn="ctr"/>
            <a:r>
              <a:rPr lang="ja-JP" altLang="en-US" dirty="0">
                <a:solidFill>
                  <a:schemeClr val="tx1"/>
                </a:solidFill>
              </a:rPr>
              <a:t>ログイン</a:t>
            </a:r>
            <a:r>
              <a:rPr lang="ja-JP" altLang="en-US" dirty="0" smtClean="0">
                <a:solidFill>
                  <a:schemeClr val="tx1"/>
                </a:solidFill>
              </a:rPr>
              <a:t>の成功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4845504" y="2731061"/>
            <a:ext cx="1840230" cy="6629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>
                <a:solidFill>
                  <a:schemeClr val="tx1"/>
                </a:solidFill>
              </a:rPr>
              <a:t>4768</a:t>
            </a:r>
            <a:endParaRPr kumimoji="1" lang="en-US" altLang="ja-JP" dirty="0" smtClean="0">
              <a:solidFill>
                <a:schemeClr val="tx1"/>
              </a:solidFill>
            </a:endParaRPr>
          </a:p>
          <a:p>
            <a:pPr algn="ctr"/>
            <a:r>
              <a:rPr lang="en-US" altLang="ja-JP" dirty="0">
                <a:solidFill>
                  <a:schemeClr val="tx1"/>
                </a:solidFill>
              </a:rPr>
              <a:t>TGT</a:t>
            </a:r>
            <a:r>
              <a:rPr lang="ja-JP" altLang="en-US" dirty="0">
                <a:solidFill>
                  <a:schemeClr val="tx1"/>
                </a:solidFill>
              </a:rPr>
              <a:t>要求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7937174" y="2731061"/>
            <a:ext cx="1840230" cy="6629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>
                <a:solidFill>
                  <a:schemeClr val="tx1"/>
                </a:solidFill>
              </a:rPr>
              <a:t>4634</a:t>
            </a:r>
            <a:endParaRPr kumimoji="1" lang="en-US" altLang="ja-JP" dirty="0" smtClean="0">
              <a:solidFill>
                <a:schemeClr val="tx1"/>
              </a:solidFill>
            </a:endParaRPr>
          </a:p>
          <a:p>
            <a:pPr algn="ctr"/>
            <a:r>
              <a:rPr lang="ja-JP" altLang="en-US" dirty="0">
                <a:solidFill>
                  <a:schemeClr val="tx1"/>
                </a:solidFill>
              </a:rPr>
              <a:t>ログオフ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 rotWithShape="1">
          <a:blip r:embed="rId3"/>
          <a:srcRect r="3501"/>
          <a:stretch/>
        </p:blipFill>
        <p:spPr>
          <a:xfrm>
            <a:off x="1510382" y="4041561"/>
            <a:ext cx="7051940" cy="236574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9" name="直線矢印コネクタ 8"/>
          <p:cNvCxnSpPr>
            <a:stCxn id="4" idx="3"/>
            <a:endCxn id="6" idx="1"/>
          </p:cNvCxnSpPr>
          <p:nvPr/>
        </p:nvCxnSpPr>
        <p:spPr>
          <a:xfrm>
            <a:off x="3889031" y="3062531"/>
            <a:ext cx="95647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>
            <a:stCxn id="6" idx="3"/>
            <a:endCxn id="8" idx="1"/>
          </p:cNvCxnSpPr>
          <p:nvPr/>
        </p:nvCxnSpPr>
        <p:spPr>
          <a:xfrm>
            <a:off x="6685734" y="3062531"/>
            <a:ext cx="12514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カギ線コネクタ 14"/>
          <p:cNvCxnSpPr>
            <a:stCxn id="6" idx="2"/>
            <a:endCxn id="2" idx="0"/>
          </p:cNvCxnSpPr>
          <p:nvPr/>
        </p:nvCxnSpPr>
        <p:spPr>
          <a:xfrm rot="5400000">
            <a:off x="5077206" y="3353148"/>
            <a:ext cx="647560" cy="72926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正方形/長方形 20"/>
          <p:cNvSpPr/>
          <p:nvPr/>
        </p:nvSpPr>
        <p:spPr>
          <a:xfrm>
            <a:off x="248814" y="204536"/>
            <a:ext cx="101397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/>
              <a:t>Steal or Forge Kerberos Tickets: AS-REP </a:t>
            </a:r>
            <a:r>
              <a:rPr lang="en-US" altLang="ja-JP" sz="2400" dirty="0" smtClean="0"/>
              <a:t>Roasting</a:t>
            </a:r>
            <a:r>
              <a:rPr lang="ja-JP" altLang="en-US" sz="2400" dirty="0" smtClean="0"/>
              <a:t>：検知ルール検討</a:t>
            </a:r>
            <a:endParaRPr lang="en-US" altLang="ja-JP" sz="2400" dirty="0"/>
          </a:p>
        </p:txBody>
      </p:sp>
      <p:sp>
        <p:nvSpPr>
          <p:cNvPr id="22" name="正方形/長方形 21"/>
          <p:cNvSpPr/>
          <p:nvPr/>
        </p:nvSpPr>
        <p:spPr>
          <a:xfrm>
            <a:off x="1790700" y="5930900"/>
            <a:ext cx="2197100" cy="254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/>
          <p:cNvSpPr/>
          <p:nvPr/>
        </p:nvSpPr>
        <p:spPr>
          <a:xfrm>
            <a:off x="3987800" y="5866505"/>
            <a:ext cx="13389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  <a:latin typeface="Segoe UI" panose="020B0502040204020203" pitchFamily="34" charset="0"/>
              </a:rPr>
              <a:t>RC4-HMAC</a:t>
            </a:r>
            <a:endParaRPr lang="ja-JP" altLang="en-US" dirty="0">
              <a:solidFill>
                <a:srgbClr val="FF0000"/>
              </a:solidFill>
            </a:endParaRPr>
          </a:p>
        </p:txBody>
      </p:sp>
      <p:sp>
        <p:nvSpPr>
          <p:cNvPr id="24" name="正方形/長方形 23"/>
          <p:cNvSpPr/>
          <p:nvPr/>
        </p:nvSpPr>
        <p:spPr>
          <a:xfrm>
            <a:off x="1790700" y="6175603"/>
            <a:ext cx="2197100" cy="254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22562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31" y="1014561"/>
            <a:ext cx="11117226" cy="5249008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4296032" y="6399493"/>
            <a:ext cx="71710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dirty="0"/>
              <a:t>https://system32.eventsentry.com/codes/field/PreAuthType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525030" y="1118936"/>
            <a:ext cx="5164569" cy="10146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92017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29" y="1048727"/>
            <a:ext cx="10333052" cy="5205624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1762896" y="6390275"/>
            <a:ext cx="99265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dirty="0"/>
              <a:t>https://docs.microsoft.com/ja-jp/windows/security/threat-protection/auditing/event-4768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813428" y="4090736"/>
            <a:ext cx="10159371" cy="6336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9888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823</Words>
  <Application>Microsoft Office PowerPoint</Application>
  <PresentationFormat>ワイド画面</PresentationFormat>
  <Paragraphs>164</Paragraphs>
  <Slides>30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30</vt:i4>
      </vt:variant>
    </vt:vector>
  </HeadingPairs>
  <TitlesOfParts>
    <vt:vector size="37" baseType="lpstr">
      <vt:lpstr>游ゴシック</vt:lpstr>
      <vt:lpstr>游ゴシック Light</vt:lpstr>
      <vt:lpstr>Arial</vt:lpstr>
      <vt:lpstr>Arial Rounded MT Bold</vt:lpstr>
      <vt:lpstr>Segoe UI</vt:lpstr>
      <vt:lpstr>Wingdings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2021-04-29T12:38:26Z</dcterms:created>
  <dcterms:modified xsi:type="dcterms:W3CDTF">2021-04-29T12:38:41Z</dcterms:modified>
</cp:coreProperties>
</file>